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Calibri (MS) Bold" charset="1" panose="020F0702030404030204"/>
      <p:regular r:id="rId29"/>
    </p:embeddedFont>
    <p:embeddedFont>
      <p:font typeface="Calibri (MS)" charset="1" panose="020F0502020204030204"/>
      <p:regular r:id="rId30"/>
    </p:embeddedFont>
    <p:embeddedFont>
      <p:font typeface="Telegraf Bold" charset="1" panose="000008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png" Type="http://schemas.openxmlformats.org/officeDocument/2006/relationships/image"/><Relationship Id="rId16" Target="../media/image21.png" Type="http://schemas.openxmlformats.org/officeDocument/2006/relationships/image"/><Relationship Id="rId17" Target="../media/image22.png" Type="http://schemas.openxmlformats.org/officeDocument/2006/relationships/image"/><Relationship Id="rId18" Target="../media/image23.png" Type="http://schemas.openxmlformats.org/officeDocument/2006/relationships/image"/><Relationship Id="rId19" Target="../media/image24.png" Type="http://schemas.openxmlformats.org/officeDocument/2006/relationships/image"/><Relationship Id="rId2" Target="../media/image3.png" Type="http://schemas.openxmlformats.org/officeDocument/2006/relationships/image"/><Relationship Id="rId20" Target="../media/image25.png" Type="http://schemas.openxmlformats.org/officeDocument/2006/relationships/image"/><Relationship Id="rId21" Target="../media/image26.svg" Type="http://schemas.openxmlformats.org/officeDocument/2006/relationships/image"/><Relationship Id="rId22" Target="../media/image27.png" Type="http://schemas.openxmlformats.org/officeDocument/2006/relationships/image"/><Relationship Id="rId23" Target="../media/image28.png" Type="http://schemas.openxmlformats.org/officeDocument/2006/relationships/image"/><Relationship Id="rId24" Target="../media/image29.svg" Type="http://schemas.openxmlformats.org/officeDocument/2006/relationships/image"/><Relationship Id="rId25" Target="../media/image30.png" Type="http://schemas.openxmlformats.org/officeDocument/2006/relationships/image"/><Relationship Id="rId26" Target="../media/image31.sv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png" Type="http://schemas.openxmlformats.org/officeDocument/2006/relationships/image"/><Relationship Id="rId16" Target="../media/image21.png" Type="http://schemas.openxmlformats.org/officeDocument/2006/relationships/image"/><Relationship Id="rId17" Target="../media/image22.png" Type="http://schemas.openxmlformats.org/officeDocument/2006/relationships/image"/><Relationship Id="rId18" Target="../media/image23.png" Type="http://schemas.openxmlformats.org/officeDocument/2006/relationships/image"/><Relationship Id="rId19" Target="../media/image24.png" Type="http://schemas.openxmlformats.org/officeDocument/2006/relationships/image"/><Relationship Id="rId2" Target="../media/image3.png" Type="http://schemas.openxmlformats.org/officeDocument/2006/relationships/image"/><Relationship Id="rId20" Target="../media/image25.png" Type="http://schemas.openxmlformats.org/officeDocument/2006/relationships/image"/><Relationship Id="rId21" Target="../media/image26.svg" Type="http://schemas.openxmlformats.org/officeDocument/2006/relationships/image"/><Relationship Id="rId22" Target="../media/image27.png" Type="http://schemas.openxmlformats.org/officeDocument/2006/relationships/image"/><Relationship Id="rId23" Target="../media/image28.png" Type="http://schemas.openxmlformats.org/officeDocument/2006/relationships/image"/><Relationship Id="rId24" Target="../media/image29.svg" Type="http://schemas.openxmlformats.org/officeDocument/2006/relationships/image"/><Relationship Id="rId25" Target="../media/image30.png" Type="http://schemas.openxmlformats.org/officeDocument/2006/relationships/image"/><Relationship Id="rId26" Target="../media/image31.sv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3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3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 Id="rId7" Target="../media/image4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4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4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4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4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png" Type="http://schemas.openxmlformats.org/officeDocument/2006/relationships/image"/><Relationship Id="rId16" Target="../media/image21.png" Type="http://schemas.openxmlformats.org/officeDocument/2006/relationships/image"/><Relationship Id="rId17" Target="../media/image22.png" Type="http://schemas.openxmlformats.org/officeDocument/2006/relationships/image"/><Relationship Id="rId18" Target="../media/image23.png" Type="http://schemas.openxmlformats.org/officeDocument/2006/relationships/image"/><Relationship Id="rId19" Target="../media/image24.png" Type="http://schemas.openxmlformats.org/officeDocument/2006/relationships/image"/><Relationship Id="rId2" Target="../media/image3.png" Type="http://schemas.openxmlformats.org/officeDocument/2006/relationships/image"/><Relationship Id="rId20" Target="../media/image25.png" Type="http://schemas.openxmlformats.org/officeDocument/2006/relationships/image"/><Relationship Id="rId21" Target="../media/image26.svg" Type="http://schemas.openxmlformats.org/officeDocument/2006/relationships/image"/><Relationship Id="rId22" Target="../media/image27.png" Type="http://schemas.openxmlformats.org/officeDocument/2006/relationships/image"/><Relationship Id="rId23" Target="../media/image28.png" Type="http://schemas.openxmlformats.org/officeDocument/2006/relationships/image"/><Relationship Id="rId24" Target="../media/image29.svg" Type="http://schemas.openxmlformats.org/officeDocument/2006/relationships/image"/><Relationship Id="rId25" Target="../media/image30.png" Type="http://schemas.openxmlformats.org/officeDocument/2006/relationships/image"/><Relationship Id="rId26" Target="../media/image31.sv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47.png" Type="http://schemas.openxmlformats.org/officeDocument/2006/relationships/image"/><Relationship Id="rId5" Target="../media/image4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4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5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5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png" Type="http://schemas.openxmlformats.org/officeDocument/2006/relationships/image"/><Relationship Id="rId16" Target="../media/image21.png" Type="http://schemas.openxmlformats.org/officeDocument/2006/relationships/image"/><Relationship Id="rId17" Target="../media/image22.png" Type="http://schemas.openxmlformats.org/officeDocument/2006/relationships/image"/><Relationship Id="rId18" Target="../media/image23.png" Type="http://schemas.openxmlformats.org/officeDocument/2006/relationships/image"/><Relationship Id="rId19" Target="../media/image24.png" Type="http://schemas.openxmlformats.org/officeDocument/2006/relationships/image"/><Relationship Id="rId2" Target="../media/image3.png" Type="http://schemas.openxmlformats.org/officeDocument/2006/relationships/image"/><Relationship Id="rId20" Target="../media/image25.png" Type="http://schemas.openxmlformats.org/officeDocument/2006/relationships/image"/><Relationship Id="rId21" Target="../media/image26.svg" Type="http://schemas.openxmlformats.org/officeDocument/2006/relationships/image"/><Relationship Id="rId22" Target="../media/image27.png" Type="http://schemas.openxmlformats.org/officeDocument/2006/relationships/image"/><Relationship Id="rId23" Target="../media/image28.png" Type="http://schemas.openxmlformats.org/officeDocument/2006/relationships/image"/><Relationship Id="rId24" Target="../media/image29.svg" Type="http://schemas.openxmlformats.org/officeDocument/2006/relationships/image"/><Relationship Id="rId25" Target="../media/image30.png" Type="http://schemas.openxmlformats.org/officeDocument/2006/relationships/image"/><Relationship Id="rId26" Target="../media/image31.sv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2.png" Type="http://schemas.openxmlformats.org/officeDocument/2006/relationships/image"/><Relationship Id="rId4" Target="../media/image3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2.pn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57.png" Type="http://schemas.openxmlformats.org/officeDocument/2006/relationships/image"/><Relationship Id="rId9" Target="../media/image5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70204" y="9859974"/>
            <a:ext cx="17654588" cy="333375"/>
          </a:xfrm>
          <a:prstGeom prst="rect">
            <a:avLst/>
          </a:prstGeom>
        </p:spPr>
        <p:txBody>
          <a:bodyPr anchor="t" rtlCol="false" tIns="0" lIns="0" bIns="0" rIns="0">
            <a:spAutoFit/>
          </a:bodyPr>
          <a:lstStyle/>
          <a:p>
            <a:pPr algn="l">
              <a:lnSpc>
                <a:spcPts val="2736"/>
              </a:lnSpc>
            </a:pPr>
            <a:r>
              <a:rPr lang="en-US" b="true" sz="2400">
                <a:solidFill>
                  <a:srgbClr val="FFFFFF"/>
                </a:solidFill>
                <a:latin typeface="Calibri (MS) Bold"/>
                <a:ea typeface="Calibri (MS) Bold"/>
                <a:cs typeface="Calibri (MS) Bold"/>
                <a:sym typeface="Calibri (MS) Bold"/>
              </a:rPr>
              <a:t>VNU UET - Institute for Artificial Intelligence	1</a:t>
            </a:r>
          </a:p>
        </p:txBody>
      </p:sp>
      <p:grpSp>
        <p:nvGrpSpPr>
          <p:cNvPr name="Group 3" id="3"/>
          <p:cNvGrpSpPr/>
          <p:nvPr/>
        </p:nvGrpSpPr>
        <p:grpSpPr>
          <a:xfrm rot="0">
            <a:off x="633393" y="603675"/>
            <a:ext cx="1302675" cy="1302675"/>
            <a:chOff x="0" y="0"/>
            <a:chExt cx="1736900" cy="1736900"/>
          </a:xfrm>
        </p:grpSpPr>
        <p:sp>
          <p:nvSpPr>
            <p:cNvPr name="Freeform 4" id="4"/>
            <p:cNvSpPr/>
            <p:nvPr/>
          </p:nvSpPr>
          <p:spPr>
            <a:xfrm flipH="false" flipV="false" rot="0">
              <a:off x="0" y="0"/>
              <a:ext cx="1736852" cy="1736852"/>
            </a:xfrm>
            <a:custGeom>
              <a:avLst/>
              <a:gdLst/>
              <a:ahLst/>
              <a:cxnLst/>
              <a:rect r="r" b="b" t="t" l="l"/>
              <a:pathLst>
                <a:path h="1736852" w="1736852">
                  <a:moveTo>
                    <a:pt x="0" y="0"/>
                  </a:moveTo>
                  <a:lnTo>
                    <a:pt x="1736852" y="0"/>
                  </a:lnTo>
                  <a:lnTo>
                    <a:pt x="1736852" y="1736852"/>
                  </a:lnTo>
                  <a:lnTo>
                    <a:pt x="0" y="1736852"/>
                  </a:lnTo>
                  <a:lnTo>
                    <a:pt x="0" y="0"/>
                  </a:lnTo>
                  <a:close/>
                </a:path>
              </a:pathLst>
            </a:custGeom>
            <a:blipFill>
              <a:blip r:embed="rId2"/>
              <a:stretch>
                <a:fillRect l="0" t="0" r="-2" b="-2"/>
              </a:stretch>
            </a:blipFill>
          </p:spPr>
        </p:sp>
      </p:grpSp>
      <p:grpSp>
        <p:nvGrpSpPr>
          <p:cNvPr name="Group 5" id="5"/>
          <p:cNvGrpSpPr/>
          <p:nvPr/>
        </p:nvGrpSpPr>
        <p:grpSpPr>
          <a:xfrm rot="0">
            <a:off x="0" y="9740646"/>
            <a:ext cx="18288000" cy="548640"/>
            <a:chOff x="0" y="0"/>
            <a:chExt cx="24384000" cy="731520"/>
          </a:xfrm>
        </p:grpSpPr>
        <p:sp>
          <p:nvSpPr>
            <p:cNvPr name="Freeform 6" id="6"/>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sp>
        <p:nvSpPr>
          <p:cNvPr name="TextBox 7" id="7"/>
          <p:cNvSpPr txBox="true"/>
          <p:nvPr/>
        </p:nvSpPr>
        <p:spPr>
          <a:xfrm rot="0">
            <a:off x="251154" y="9766562"/>
            <a:ext cx="1216422" cy="400050"/>
          </a:xfrm>
          <a:prstGeom prst="rect">
            <a:avLst/>
          </a:prstGeom>
        </p:spPr>
        <p:txBody>
          <a:bodyPr anchor="t" rtlCol="false" tIns="0" lIns="0" bIns="0" rIns="0">
            <a:spAutoFit/>
          </a:bodyPr>
          <a:lstStyle/>
          <a:p>
            <a:pPr algn="l">
              <a:lnSpc>
                <a:spcPts val="2879"/>
              </a:lnSpc>
            </a:pPr>
            <a:r>
              <a:rPr lang="en-US" b="true" sz="2400">
                <a:solidFill>
                  <a:srgbClr val="FFFFFF"/>
                </a:solidFill>
                <a:latin typeface="Calibri (MS) Bold"/>
                <a:ea typeface="Calibri (MS) Bold"/>
                <a:cs typeface="Calibri (MS) Bold"/>
                <a:sym typeface="Calibri (MS) Bold"/>
              </a:rPr>
              <a:t>VNU UET </a:t>
            </a:r>
          </a:p>
        </p:txBody>
      </p:sp>
      <p:sp>
        <p:nvSpPr>
          <p:cNvPr name="TextBox 8" id="8"/>
          <p:cNvSpPr txBox="true"/>
          <p:nvPr/>
        </p:nvSpPr>
        <p:spPr>
          <a:xfrm rot="0">
            <a:off x="1567619" y="3554103"/>
            <a:ext cx="15152762" cy="2571750"/>
          </a:xfrm>
          <a:prstGeom prst="rect">
            <a:avLst/>
          </a:prstGeom>
        </p:spPr>
        <p:txBody>
          <a:bodyPr anchor="t" rtlCol="false" tIns="0" lIns="0" bIns="0" rIns="0">
            <a:spAutoFit/>
          </a:bodyPr>
          <a:lstStyle/>
          <a:p>
            <a:pPr algn="ctr">
              <a:lnSpc>
                <a:spcPts val="6480"/>
              </a:lnSpc>
            </a:pPr>
            <a:r>
              <a:rPr lang="en-US" sz="5400">
                <a:solidFill>
                  <a:srgbClr val="585858"/>
                </a:solidFill>
                <a:latin typeface="Calibri (MS)"/>
                <a:ea typeface="Calibri (MS)"/>
                <a:cs typeface="Calibri (MS)"/>
                <a:sym typeface="Calibri (MS)"/>
              </a:rPr>
              <a:t>Xây dựng hệ </a:t>
            </a:r>
            <a:r>
              <a:rPr lang="en-US" sz="5400">
                <a:solidFill>
                  <a:srgbClr val="585858"/>
                </a:solidFill>
                <a:latin typeface="Calibri (MS)"/>
                <a:ea typeface="Calibri (MS)"/>
                <a:cs typeface="Calibri (MS)"/>
                <a:sym typeface="Calibri (MS)"/>
              </a:rPr>
              <a:t>thống NMT: Kiến trúc Transformer "From-Scratch" &amp; xử lý VLSP Shared Task</a:t>
            </a:r>
          </a:p>
          <a:p>
            <a:pPr algn="ctr">
              <a:lnSpc>
                <a:spcPts val="6480"/>
              </a:lnSpc>
            </a:pPr>
          </a:p>
        </p:txBody>
      </p:sp>
      <p:grpSp>
        <p:nvGrpSpPr>
          <p:cNvPr name="Group 9" id="9"/>
          <p:cNvGrpSpPr/>
          <p:nvPr/>
        </p:nvGrpSpPr>
        <p:grpSpPr>
          <a:xfrm rot="0">
            <a:off x="5871156" y="5378857"/>
            <a:ext cx="5867400" cy="47625"/>
            <a:chOff x="0" y="0"/>
            <a:chExt cx="7823200" cy="63500"/>
          </a:xfrm>
        </p:grpSpPr>
        <p:sp>
          <p:nvSpPr>
            <p:cNvPr name="Freeform 10" id="10"/>
            <p:cNvSpPr/>
            <p:nvPr/>
          </p:nvSpPr>
          <p:spPr>
            <a:xfrm flipH="false" flipV="false" rot="0">
              <a:off x="0" y="0"/>
              <a:ext cx="7823200" cy="63502"/>
            </a:xfrm>
            <a:custGeom>
              <a:avLst/>
              <a:gdLst/>
              <a:ahLst/>
              <a:cxnLst/>
              <a:rect r="r" b="b" t="t" l="l"/>
              <a:pathLst>
                <a:path h="63502" w="7823200">
                  <a:moveTo>
                    <a:pt x="0" y="0"/>
                  </a:moveTo>
                  <a:lnTo>
                    <a:pt x="7823200" y="0"/>
                  </a:lnTo>
                  <a:lnTo>
                    <a:pt x="7823200" y="63502"/>
                  </a:lnTo>
                  <a:lnTo>
                    <a:pt x="0" y="63502"/>
                  </a:lnTo>
                  <a:lnTo>
                    <a:pt x="0" y="0"/>
                  </a:lnTo>
                  <a:close/>
                </a:path>
              </a:pathLst>
            </a:custGeom>
            <a:blipFill>
              <a:blip r:embed="rId3"/>
              <a:stretch>
                <a:fillRect l="0" t="-11398" r="0" b="-23652"/>
              </a:stretch>
            </a:blipFill>
          </p:spPr>
        </p:sp>
      </p:grpSp>
      <p:sp>
        <p:nvSpPr>
          <p:cNvPr name="TextBox 11" id="11"/>
          <p:cNvSpPr txBox="true"/>
          <p:nvPr/>
        </p:nvSpPr>
        <p:spPr>
          <a:xfrm rot="0">
            <a:off x="8267234" y="6613732"/>
            <a:ext cx="5912118" cy="2590800"/>
          </a:xfrm>
          <a:prstGeom prst="rect">
            <a:avLst/>
          </a:prstGeom>
        </p:spPr>
        <p:txBody>
          <a:bodyPr anchor="t" rtlCol="false" tIns="0" lIns="0" bIns="0" rIns="0">
            <a:spAutoFit/>
          </a:bodyPr>
          <a:lstStyle/>
          <a:p>
            <a:pPr algn="just">
              <a:lnSpc>
                <a:spcPts val="3991"/>
              </a:lnSpc>
            </a:pPr>
            <a:r>
              <a:rPr lang="en-US" sz="3326">
                <a:solidFill>
                  <a:srgbClr val="000000"/>
                </a:solidFill>
                <a:latin typeface="Calibri (MS)"/>
                <a:ea typeface="Calibri (MS)"/>
                <a:cs typeface="Calibri (MS)"/>
                <a:sym typeface="Calibri (MS)"/>
              </a:rPr>
              <a:t>Nguyễn Văn Hòa - 23021556</a:t>
            </a:r>
          </a:p>
          <a:p>
            <a:pPr algn="just">
              <a:lnSpc>
                <a:spcPts val="3991"/>
              </a:lnSpc>
            </a:pPr>
            <a:r>
              <a:rPr lang="en-US" sz="3326">
                <a:solidFill>
                  <a:srgbClr val="000000"/>
                </a:solidFill>
                <a:latin typeface="Calibri (MS)"/>
                <a:ea typeface="Calibri (MS)"/>
                <a:cs typeface="Calibri (MS)"/>
                <a:sym typeface="Calibri (MS)"/>
              </a:rPr>
              <a:t>Lê Văn Tuấn - 23021705</a:t>
            </a:r>
          </a:p>
          <a:p>
            <a:pPr algn="just">
              <a:lnSpc>
                <a:spcPts val="3991"/>
              </a:lnSpc>
            </a:pPr>
            <a:r>
              <a:rPr lang="en-US" sz="3326">
                <a:solidFill>
                  <a:srgbClr val="000000"/>
                </a:solidFill>
                <a:latin typeface="Calibri (MS)"/>
                <a:ea typeface="Calibri (MS)"/>
                <a:cs typeface="Calibri (MS)"/>
                <a:sym typeface="Calibri (MS)"/>
              </a:rPr>
              <a:t>Nguyễn Thế Hùng -  23021568</a:t>
            </a:r>
          </a:p>
          <a:p>
            <a:pPr algn="just">
              <a:lnSpc>
                <a:spcPts val="3991"/>
              </a:lnSpc>
            </a:pPr>
            <a:r>
              <a:rPr lang="en-US" sz="3326">
                <a:solidFill>
                  <a:srgbClr val="000000"/>
                </a:solidFill>
                <a:latin typeface="Calibri (MS)"/>
                <a:ea typeface="Calibri (MS)"/>
                <a:cs typeface="Calibri (MS)"/>
                <a:sym typeface="Calibri (MS)"/>
              </a:rPr>
              <a:t>Nguyễn Bích Đạt - 23021520</a:t>
            </a:r>
          </a:p>
          <a:p>
            <a:pPr algn="just">
              <a:lnSpc>
                <a:spcPts val="3991"/>
              </a:lnSpc>
            </a:pPr>
          </a:p>
        </p:txBody>
      </p:sp>
      <p:sp>
        <p:nvSpPr>
          <p:cNvPr name="TextBox 12" id="12"/>
          <p:cNvSpPr txBox="true"/>
          <p:nvPr/>
        </p:nvSpPr>
        <p:spPr>
          <a:xfrm rot="0">
            <a:off x="3576746" y="2201553"/>
            <a:ext cx="11041503" cy="1038225"/>
          </a:xfrm>
          <a:prstGeom prst="rect">
            <a:avLst/>
          </a:prstGeom>
        </p:spPr>
        <p:txBody>
          <a:bodyPr anchor="t" rtlCol="false" tIns="0" lIns="0" bIns="0" rIns="0">
            <a:spAutoFit/>
          </a:bodyPr>
          <a:lstStyle/>
          <a:p>
            <a:pPr algn="ctr">
              <a:lnSpc>
                <a:spcPts val="7199"/>
              </a:lnSpc>
            </a:pPr>
            <a:r>
              <a:rPr lang="en-US" sz="5999">
                <a:solidFill>
                  <a:srgbClr val="000000"/>
                </a:solidFill>
                <a:latin typeface="Calibri (MS)"/>
                <a:ea typeface="Calibri (MS)"/>
                <a:cs typeface="Calibri (MS)"/>
                <a:sym typeface="Calibri (MS)"/>
              </a:rPr>
              <a:t>Báo cáo BTL NLP</a:t>
            </a:r>
          </a:p>
        </p:txBody>
      </p:sp>
      <p:sp>
        <p:nvSpPr>
          <p:cNvPr name="TextBox 13" id="13"/>
          <p:cNvSpPr txBox="true"/>
          <p:nvPr/>
        </p:nvSpPr>
        <p:spPr>
          <a:xfrm rot="0">
            <a:off x="17559146" y="9821874"/>
            <a:ext cx="422910" cy="390525"/>
          </a:xfrm>
          <a:prstGeom prst="rect">
            <a:avLst/>
          </a:prstGeom>
        </p:spPr>
        <p:txBody>
          <a:bodyPr anchor="t" rtlCol="false" tIns="0" lIns="0" bIns="0" rIns="0">
            <a:spAutoFit/>
          </a:bodyPr>
          <a:lstStyle/>
          <a:p>
            <a:pPr algn="l">
              <a:lnSpc>
                <a:spcPts val="2916"/>
              </a:lnSpc>
            </a:pPr>
            <a:r>
              <a:rPr lang="en-US" b="true" sz="2400">
                <a:solidFill>
                  <a:srgbClr val="FFFFFF"/>
                </a:solidFill>
                <a:latin typeface="Calibri (MS) Bold"/>
                <a:ea typeface="Calibri (MS) Bold"/>
                <a:cs typeface="Calibri (MS) Bold"/>
                <a:sym typeface="Calibri (MS) Bold"/>
              </a:rPr>
              <a:t>1</a:t>
            </a:r>
          </a:p>
        </p:txBody>
      </p:sp>
      <p:sp>
        <p:nvSpPr>
          <p:cNvPr name="TextBox 14" id="14"/>
          <p:cNvSpPr txBox="true"/>
          <p:nvPr/>
        </p:nvSpPr>
        <p:spPr>
          <a:xfrm rot="0">
            <a:off x="2289261" y="771525"/>
            <a:ext cx="2678277" cy="1563378"/>
          </a:xfrm>
          <a:prstGeom prst="rect">
            <a:avLst/>
          </a:prstGeom>
        </p:spPr>
        <p:txBody>
          <a:bodyPr anchor="t" rtlCol="false" tIns="0" lIns="0" bIns="0" rIns="0">
            <a:spAutoFit/>
          </a:bodyPr>
          <a:lstStyle/>
          <a:p>
            <a:pPr algn="ctr">
              <a:lnSpc>
                <a:spcPts val="4011"/>
              </a:lnSpc>
            </a:pPr>
            <a:r>
              <a:rPr lang="en-US" sz="3343">
                <a:solidFill>
                  <a:srgbClr val="000000"/>
                </a:solidFill>
                <a:latin typeface="Calibri (MS)"/>
                <a:ea typeface="Calibri (MS)"/>
                <a:cs typeface="Calibri (MS)"/>
                <a:sym typeface="Calibri (MS)"/>
              </a:rPr>
              <a:t>Trường Đại Học</a:t>
            </a:r>
          </a:p>
          <a:p>
            <a:pPr algn="ctr">
              <a:lnSpc>
                <a:spcPts val="4011"/>
              </a:lnSpc>
            </a:pPr>
            <a:r>
              <a:rPr lang="en-US" sz="3343">
                <a:solidFill>
                  <a:srgbClr val="000000"/>
                </a:solidFill>
                <a:latin typeface="Calibri (MS)"/>
                <a:ea typeface="Calibri (MS)"/>
                <a:cs typeface="Calibri (MS)"/>
                <a:sym typeface="Calibri (MS)"/>
              </a:rPr>
              <a:t> Công nghệ</a:t>
            </a:r>
          </a:p>
          <a:p>
            <a:pPr algn="ctr">
              <a:lnSpc>
                <a:spcPts val="4011"/>
              </a:lnSpc>
              <a:spcBef>
                <a:spcPct val="0"/>
              </a:spcBef>
            </a:pPr>
          </a:p>
        </p:txBody>
      </p:sp>
      <p:sp>
        <p:nvSpPr>
          <p:cNvPr name="TextBox 15" id="15"/>
          <p:cNvSpPr txBox="true"/>
          <p:nvPr/>
        </p:nvSpPr>
        <p:spPr>
          <a:xfrm rot="0">
            <a:off x="5871156" y="6613732"/>
            <a:ext cx="2396078" cy="571500"/>
          </a:xfrm>
          <a:prstGeom prst="rect">
            <a:avLst/>
          </a:prstGeom>
        </p:spPr>
        <p:txBody>
          <a:bodyPr anchor="t" rtlCol="false" tIns="0" lIns="0" bIns="0" rIns="0">
            <a:spAutoFit/>
          </a:bodyPr>
          <a:lstStyle/>
          <a:p>
            <a:pPr algn="just">
              <a:lnSpc>
                <a:spcPts val="3991"/>
              </a:lnSpc>
            </a:pPr>
            <a:r>
              <a:rPr lang="en-US" sz="3326">
                <a:solidFill>
                  <a:srgbClr val="000000"/>
                </a:solidFill>
                <a:latin typeface="Calibri (MS)"/>
                <a:ea typeface="Calibri (MS)"/>
                <a:cs typeface="Calibri (MS)"/>
                <a:sym typeface="Calibri (MS)"/>
              </a:rPr>
              <a:t>Thành viên: </a:t>
            </a:r>
          </a:p>
        </p:txBody>
      </p:sp>
      <p:sp>
        <p:nvSpPr>
          <p:cNvPr name="TextBox 16" id="16"/>
          <p:cNvSpPr txBox="true"/>
          <p:nvPr/>
        </p:nvSpPr>
        <p:spPr>
          <a:xfrm rot="0">
            <a:off x="5871156" y="5895920"/>
            <a:ext cx="2010767" cy="571500"/>
          </a:xfrm>
          <a:prstGeom prst="rect">
            <a:avLst/>
          </a:prstGeom>
        </p:spPr>
        <p:txBody>
          <a:bodyPr anchor="t" rtlCol="false" tIns="0" lIns="0" bIns="0" rIns="0">
            <a:spAutoFit/>
          </a:bodyPr>
          <a:lstStyle/>
          <a:p>
            <a:pPr algn="ctr">
              <a:lnSpc>
                <a:spcPts val="3991"/>
              </a:lnSpc>
              <a:spcBef>
                <a:spcPct val="0"/>
              </a:spcBef>
            </a:pPr>
            <a:r>
              <a:rPr lang="en-US" sz="3326">
                <a:solidFill>
                  <a:srgbClr val="000000"/>
                </a:solidFill>
                <a:latin typeface="Calibri (MS)"/>
                <a:ea typeface="Calibri (MS)"/>
                <a:cs typeface="Calibri (MS)"/>
                <a:sym typeface="Calibri (MS)"/>
              </a:rPr>
              <a:t>Giảng viên: </a:t>
            </a:r>
          </a:p>
        </p:txBody>
      </p:sp>
      <p:sp>
        <p:nvSpPr>
          <p:cNvPr name="TextBox 17" id="17"/>
          <p:cNvSpPr txBox="true"/>
          <p:nvPr/>
        </p:nvSpPr>
        <p:spPr>
          <a:xfrm rot="0">
            <a:off x="8267234" y="5895920"/>
            <a:ext cx="3826227" cy="571500"/>
          </a:xfrm>
          <a:prstGeom prst="rect">
            <a:avLst/>
          </a:prstGeom>
        </p:spPr>
        <p:txBody>
          <a:bodyPr anchor="t" rtlCol="false" tIns="0" lIns="0" bIns="0" rIns="0">
            <a:spAutoFit/>
          </a:bodyPr>
          <a:lstStyle/>
          <a:p>
            <a:pPr algn="l">
              <a:lnSpc>
                <a:spcPts val="3991"/>
              </a:lnSpc>
              <a:spcBef>
                <a:spcPct val="0"/>
              </a:spcBef>
            </a:pPr>
            <a:r>
              <a:rPr lang="en-US" sz="3326">
                <a:solidFill>
                  <a:srgbClr val="000000"/>
                </a:solidFill>
                <a:latin typeface="Calibri (MS)"/>
                <a:ea typeface="Calibri (MS)"/>
                <a:cs typeface="Calibri (MS)"/>
                <a:sym typeface="Calibri (MS)"/>
              </a:rPr>
              <a:t>TS. Nguyễn Văn Vinh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080809" y="3335274"/>
            <a:ext cx="3236595" cy="3964295"/>
            <a:chOff x="0" y="0"/>
            <a:chExt cx="4315460" cy="5285727"/>
          </a:xfrm>
        </p:grpSpPr>
        <p:sp>
          <p:nvSpPr>
            <p:cNvPr name="Freeform 7" id="7"/>
            <p:cNvSpPr/>
            <p:nvPr/>
          </p:nvSpPr>
          <p:spPr>
            <a:xfrm flipH="false" flipV="false" rot="0">
              <a:off x="0" y="0"/>
              <a:ext cx="4315460" cy="5285727"/>
            </a:xfrm>
            <a:custGeom>
              <a:avLst/>
              <a:gdLst/>
              <a:ahLst/>
              <a:cxnLst/>
              <a:rect r="r" b="b" t="t" l="l"/>
              <a:pathLst>
                <a:path h="5285727" w="4315460">
                  <a:moveTo>
                    <a:pt x="0" y="0"/>
                  </a:moveTo>
                  <a:lnTo>
                    <a:pt x="4315460" y="0"/>
                  </a:lnTo>
                  <a:lnTo>
                    <a:pt x="4315460" y="5285727"/>
                  </a:lnTo>
                  <a:lnTo>
                    <a:pt x="0" y="5285727"/>
                  </a:lnTo>
                  <a:lnTo>
                    <a:pt x="0" y="0"/>
                  </a:lnTo>
                  <a:close/>
                </a:path>
              </a:pathLst>
            </a:custGeom>
            <a:blipFill>
              <a:blip r:embed="rId3">
                <a:extLst>
                  <a:ext uri="{96DAC541-7B7A-43D3-8B79-37D633B846F1}">
                    <asvg:svgBlip xmlns:asvg="http://schemas.microsoft.com/office/drawing/2016/SVG/main" r:embed="rId4"/>
                  </a:ext>
                </a:extLst>
              </a:blip>
              <a:stretch>
                <a:fillRect l="0" t="-4785" r="0" b="-4785"/>
              </a:stretch>
            </a:blipFill>
          </p:spPr>
        </p:sp>
        <p:sp>
          <p:nvSpPr>
            <p:cNvPr name="TextBox 8" id="8"/>
            <p:cNvSpPr txBox="true"/>
            <p:nvPr/>
          </p:nvSpPr>
          <p:spPr>
            <a:xfrm rot="0">
              <a:off x="409474" y="90182"/>
              <a:ext cx="949180" cy="1050925"/>
            </a:xfrm>
            <a:prstGeom prst="rect">
              <a:avLst/>
            </a:prstGeom>
          </p:spPr>
          <p:txBody>
            <a:bodyPr anchor="t" rtlCol="false" tIns="0" lIns="0" bIns="0" rIns="0">
              <a:spAutoFit/>
            </a:bodyPr>
            <a:lstStyle/>
            <a:p>
              <a:pPr algn="l">
                <a:lnSpc>
                  <a:spcPts val="5759"/>
                </a:lnSpc>
              </a:pPr>
              <a:r>
                <a:rPr lang="en-US" b="true" sz="4800">
                  <a:solidFill>
                    <a:srgbClr val="FFFFFF"/>
                  </a:solidFill>
                  <a:latin typeface="Calibri (MS) Bold"/>
                  <a:ea typeface="Calibri (MS) Bold"/>
                  <a:cs typeface="Calibri (MS) Bold"/>
                  <a:sym typeface="Calibri (MS) Bold"/>
                </a:rPr>
                <a:t>01</a:t>
              </a:r>
            </a:p>
          </p:txBody>
        </p:sp>
        <p:sp>
          <p:nvSpPr>
            <p:cNvPr name="TextBox 9" id="9"/>
            <p:cNvSpPr txBox="true"/>
            <p:nvPr/>
          </p:nvSpPr>
          <p:spPr>
            <a:xfrm rot="0">
              <a:off x="796870" y="2100676"/>
              <a:ext cx="2923076" cy="676275"/>
            </a:xfrm>
            <a:prstGeom prst="rect">
              <a:avLst/>
            </a:prstGeom>
          </p:spPr>
          <p:txBody>
            <a:bodyPr anchor="t" rtlCol="false" tIns="0" lIns="0" bIns="0" rIns="0">
              <a:spAutoFit/>
            </a:bodyPr>
            <a:lstStyle/>
            <a:p>
              <a:pPr algn="l">
                <a:lnSpc>
                  <a:spcPts val="3600"/>
                </a:lnSpc>
              </a:pPr>
              <a:r>
                <a:rPr lang="en-US" b="true" sz="3000">
                  <a:solidFill>
                    <a:srgbClr val="FFFFFF"/>
                  </a:solidFill>
                  <a:latin typeface="Calibri (MS) Bold"/>
                  <a:ea typeface="Calibri (MS) Bold"/>
                  <a:cs typeface="Calibri (MS) Bold"/>
                  <a:sym typeface="Calibri (MS) Bold"/>
                </a:rPr>
                <a:t>TỔNG QUAN</a:t>
              </a:r>
            </a:p>
          </p:txBody>
        </p:sp>
      </p:grpSp>
      <p:grpSp>
        <p:nvGrpSpPr>
          <p:cNvPr name="Group 10" id="10"/>
          <p:cNvGrpSpPr/>
          <p:nvPr/>
        </p:nvGrpSpPr>
        <p:grpSpPr>
          <a:xfrm rot="0">
            <a:off x="5317529" y="3335274"/>
            <a:ext cx="3234659" cy="3964295"/>
            <a:chOff x="0" y="0"/>
            <a:chExt cx="4312879" cy="5285727"/>
          </a:xfrm>
        </p:grpSpPr>
        <p:sp>
          <p:nvSpPr>
            <p:cNvPr name="Freeform 11" id="11"/>
            <p:cNvSpPr/>
            <p:nvPr/>
          </p:nvSpPr>
          <p:spPr>
            <a:xfrm flipH="false" flipV="false" rot="0">
              <a:off x="0" y="0"/>
              <a:ext cx="4312879" cy="5285727"/>
            </a:xfrm>
            <a:custGeom>
              <a:avLst/>
              <a:gdLst/>
              <a:ahLst/>
              <a:cxnLst/>
              <a:rect r="r" b="b" t="t" l="l"/>
              <a:pathLst>
                <a:path h="5285727" w="4312879">
                  <a:moveTo>
                    <a:pt x="0" y="0"/>
                  </a:moveTo>
                  <a:lnTo>
                    <a:pt x="4312879" y="0"/>
                  </a:lnTo>
                  <a:lnTo>
                    <a:pt x="4312879" y="5285727"/>
                  </a:lnTo>
                  <a:lnTo>
                    <a:pt x="0" y="5285727"/>
                  </a:lnTo>
                  <a:lnTo>
                    <a:pt x="0" y="0"/>
                  </a:lnTo>
                  <a:close/>
                </a:path>
              </a:pathLst>
            </a:custGeom>
            <a:blipFill>
              <a:blip r:embed="rId5">
                <a:extLst>
                  <a:ext uri="{96DAC541-7B7A-43D3-8B79-37D633B846F1}">
                    <asvg:svgBlip xmlns:asvg="http://schemas.microsoft.com/office/drawing/2016/SVG/main" r:embed="rId6"/>
                  </a:ext>
                </a:extLst>
              </a:blip>
              <a:stretch>
                <a:fillRect l="0" t="-4805" r="0" b="-4805"/>
              </a:stretch>
            </a:blipFill>
          </p:spPr>
        </p:sp>
        <p:sp>
          <p:nvSpPr>
            <p:cNvPr name="TextBox 12" id="12"/>
            <p:cNvSpPr txBox="true"/>
            <p:nvPr/>
          </p:nvSpPr>
          <p:spPr>
            <a:xfrm rot="0">
              <a:off x="410172" y="90182"/>
              <a:ext cx="949523" cy="1050925"/>
            </a:xfrm>
            <a:prstGeom prst="rect">
              <a:avLst/>
            </a:prstGeom>
          </p:spPr>
          <p:txBody>
            <a:bodyPr anchor="t" rtlCol="false" tIns="0" lIns="0" bIns="0" rIns="0">
              <a:spAutoFit/>
            </a:bodyPr>
            <a:lstStyle/>
            <a:p>
              <a:pPr algn="l">
                <a:lnSpc>
                  <a:spcPts val="5759"/>
                </a:lnSpc>
              </a:pPr>
              <a:r>
                <a:rPr lang="en-US" b="true" sz="4800">
                  <a:solidFill>
                    <a:srgbClr val="FFFFFF"/>
                  </a:solidFill>
                  <a:latin typeface="Calibri (MS) Bold"/>
                  <a:ea typeface="Calibri (MS) Bold"/>
                  <a:cs typeface="Calibri (MS) Bold"/>
                  <a:sym typeface="Calibri (MS) Bold"/>
                </a:rPr>
                <a:t>02</a:t>
              </a:r>
            </a:p>
          </p:txBody>
        </p:sp>
        <p:sp>
          <p:nvSpPr>
            <p:cNvPr name="TextBox 13" id="13"/>
            <p:cNvSpPr txBox="true"/>
            <p:nvPr/>
          </p:nvSpPr>
          <p:spPr>
            <a:xfrm rot="0">
              <a:off x="382570" y="2100676"/>
              <a:ext cx="3785814" cy="1285875"/>
            </a:xfrm>
            <a:prstGeom prst="rect">
              <a:avLst/>
            </a:prstGeom>
          </p:spPr>
          <p:txBody>
            <a:bodyPr anchor="t" rtlCol="false" tIns="0" lIns="0" bIns="0" rIns="0">
              <a:spAutoFit/>
            </a:bodyPr>
            <a:lstStyle/>
            <a:p>
              <a:pPr algn="l">
                <a:lnSpc>
                  <a:spcPts val="3600"/>
                </a:lnSpc>
              </a:pPr>
              <a:r>
                <a:rPr lang="en-US" b="true" sz="3000">
                  <a:solidFill>
                    <a:srgbClr val="FFFFFF"/>
                  </a:solidFill>
                  <a:latin typeface="Calibri (MS) Bold"/>
                  <a:ea typeface="Calibri (MS) Bold"/>
                  <a:cs typeface="Calibri (MS) Bold"/>
                  <a:sym typeface="Calibri (MS) Bold"/>
                </a:rPr>
                <a:t>TRANSFORMER</a:t>
              </a:r>
              <a:r>
                <a:rPr lang="en-US" b="true" sz="3000">
                  <a:solidFill>
                    <a:srgbClr val="FFFFFF"/>
                  </a:solidFill>
                  <a:latin typeface="Calibri (MS) Bold"/>
                  <a:ea typeface="Calibri (MS) Bold"/>
                  <a:cs typeface="Calibri (MS) Bold"/>
                  <a:sym typeface="Calibri (MS) Bold"/>
                </a:rPr>
                <a:t> FROM SCRATCH</a:t>
              </a:r>
            </a:p>
          </p:txBody>
        </p:sp>
      </p:grpSp>
      <p:grpSp>
        <p:nvGrpSpPr>
          <p:cNvPr name="Group 14" id="14"/>
          <p:cNvGrpSpPr/>
          <p:nvPr/>
        </p:nvGrpSpPr>
        <p:grpSpPr>
          <a:xfrm rot="0">
            <a:off x="9553930" y="3335274"/>
            <a:ext cx="3234659" cy="3964295"/>
            <a:chOff x="0" y="0"/>
            <a:chExt cx="4312879" cy="5285727"/>
          </a:xfrm>
        </p:grpSpPr>
        <p:sp>
          <p:nvSpPr>
            <p:cNvPr name="Freeform 15" id="15"/>
            <p:cNvSpPr/>
            <p:nvPr/>
          </p:nvSpPr>
          <p:spPr>
            <a:xfrm flipH="false" flipV="false" rot="0">
              <a:off x="0" y="0"/>
              <a:ext cx="4312879" cy="5285727"/>
            </a:xfrm>
            <a:custGeom>
              <a:avLst/>
              <a:gdLst/>
              <a:ahLst/>
              <a:cxnLst/>
              <a:rect r="r" b="b" t="t" l="l"/>
              <a:pathLst>
                <a:path h="5285727" w="4312879">
                  <a:moveTo>
                    <a:pt x="0" y="0"/>
                  </a:moveTo>
                  <a:lnTo>
                    <a:pt x="4312879" y="0"/>
                  </a:lnTo>
                  <a:lnTo>
                    <a:pt x="4312879" y="5285727"/>
                  </a:lnTo>
                  <a:lnTo>
                    <a:pt x="0" y="5285727"/>
                  </a:lnTo>
                  <a:lnTo>
                    <a:pt x="0" y="0"/>
                  </a:lnTo>
                  <a:close/>
                </a:path>
              </a:pathLst>
            </a:custGeom>
            <a:blipFill>
              <a:blip r:embed="rId5">
                <a:extLst>
                  <a:ext uri="{96DAC541-7B7A-43D3-8B79-37D633B846F1}">
                    <asvg:svgBlip xmlns:asvg="http://schemas.microsoft.com/office/drawing/2016/SVG/main" r:embed="rId6"/>
                  </a:ext>
                </a:extLst>
              </a:blip>
              <a:stretch>
                <a:fillRect l="0" t="-4805" r="0" b="-4805"/>
              </a:stretch>
            </a:blipFill>
          </p:spPr>
        </p:sp>
        <p:sp>
          <p:nvSpPr>
            <p:cNvPr name="TextBox 16" id="16"/>
            <p:cNvSpPr txBox="true"/>
            <p:nvPr/>
          </p:nvSpPr>
          <p:spPr>
            <a:xfrm rot="0">
              <a:off x="410174" y="90182"/>
              <a:ext cx="949523" cy="1050925"/>
            </a:xfrm>
            <a:prstGeom prst="rect">
              <a:avLst/>
            </a:prstGeom>
          </p:spPr>
          <p:txBody>
            <a:bodyPr anchor="t" rtlCol="false" tIns="0" lIns="0" bIns="0" rIns="0">
              <a:spAutoFit/>
            </a:bodyPr>
            <a:lstStyle/>
            <a:p>
              <a:pPr algn="l">
                <a:lnSpc>
                  <a:spcPts val="5759"/>
                </a:lnSpc>
              </a:pPr>
              <a:r>
                <a:rPr lang="en-US" b="true" sz="4800">
                  <a:solidFill>
                    <a:srgbClr val="FFFFFF"/>
                  </a:solidFill>
                  <a:latin typeface="Calibri (MS) Bold"/>
                  <a:ea typeface="Calibri (MS) Bold"/>
                  <a:cs typeface="Calibri (MS) Bold"/>
                  <a:sym typeface="Calibri (MS) Bold"/>
                </a:rPr>
                <a:t>03</a:t>
              </a:r>
            </a:p>
          </p:txBody>
        </p:sp>
        <p:sp>
          <p:nvSpPr>
            <p:cNvPr name="TextBox 17" id="17"/>
            <p:cNvSpPr txBox="true"/>
            <p:nvPr/>
          </p:nvSpPr>
          <p:spPr>
            <a:xfrm rot="0">
              <a:off x="253116" y="2100676"/>
              <a:ext cx="3541391" cy="1895475"/>
            </a:xfrm>
            <a:prstGeom prst="rect">
              <a:avLst/>
            </a:prstGeom>
          </p:spPr>
          <p:txBody>
            <a:bodyPr anchor="t" rtlCol="false" tIns="0" lIns="0" bIns="0" rIns="0">
              <a:spAutoFit/>
            </a:bodyPr>
            <a:lstStyle/>
            <a:p>
              <a:pPr algn="ctr">
                <a:lnSpc>
                  <a:spcPts val="3600"/>
                </a:lnSpc>
              </a:pPr>
              <a:r>
                <a:rPr lang="en-US" b="true" sz="3000">
                  <a:solidFill>
                    <a:srgbClr val="FFFFFF"/>
                  </a:solidFill>
                  <a:latin typeface="Calibri (MS) Bold"/>
                  <a:ea typeface="Calibri (MS) Bold"/>
                  <a:cs typeface="Calibri (MS) Bold"/>
                  <a:sym typeface="Calibri (MS) Bold"/>
                </a:rPr>
                <a:t>ỨNG</a:t>
              </a:r>
              <a:r>
                <a:rPr lang="en-US" b="true" sz="3000">
                  <a:solidFill>
                    <a:srgbClr val="FFFFFF"/>
                  </a:solidFill>
                  <a:latin typeface="Calibri (MS) Bold"/>
                  <a:ea typeface="Calibri (MS) Bold"/>
                  <a:cs typeface="Calibri (MS) Bold"/>
                  <a:sym typeface="Calibri (MS) Bold"/>
                </a:rPr>
                <a:t> DỤNG Y TẾ - VLSP</a:t>
              </a:r>
            </a:p>
            <a:p>
              <a:pPr algn="ctr">
                <a:lnSpc>
                  <a:spcPts val="3600"/>
                </a:lnSpc>
              </a:pPr>
            </a:p>
          </p:txBody>
        </p:sp>
      </p:grpSp>
      <p:grpSp>
        <p:nvGrpSpPr>
          <p:cNvPr name="Group 18" id="18"/>
          <p:cNvGrpSpPr/>
          <p:nvPr/>
        </p:nvGrpSpPr>
        <p:grpSpPr>
          <a:xfrm rot="0">
            <a:off x="13797920" y="3335274"/>
            <a:ext cx="3232780" cy="3964295"/>
            <a:chOff x="0" y="0"/>
            <a:chExt cx="4310374" cy="5285727"/>
          </a:xfrm>
        </p:grpSpPr>
        <p:sp>
          <p:nvSpPr>
            <p:cNvPr name="Freeform 19" id="19"/>
            <p:cNvSpPr/>
            <p:nvPr/>
          </p:nvSpPr>
          <p:spPr>
            <a:xfrm flipH="false" flipV="false" rot="0">
              <a:off x="0" y="0"/>
              <a:ext cx="4310374" cy="5285727"/>
            </a:xfrm>
            <a:custGeom>
              <a:avLst/>
              <a:gdLst/>
              <a:ahLst/>
              <a:cxnLst/>
              <a:rect r="r" b="b" t="t" l="l"/>
              <a:pathLst>
                <a:path h="5285727" w="4310374">
                  <a:moveTo>
                    <a:pt x="0" y="0"/>
                  </a:moveTo>
                  <a:lnTo>
                    <a:pt x="4310374" y="0"/>
                  </a:lnTo>
                  <a:lnTo>
                    <a:pt x="4310374" y="5285727"/>
                  </a:lnTo>
                  <a:lnTo>
                    <a:pt x="0" y="5285727"/>
                  </a:lnTo>
                  <a:lnTo>
                    <a:pt x="0" y="0"/>
                  </a:lnTo>
                  <a:close/>
                </a:path>
              </a:pathLst>
            </a:custGeom>
            <a:blipFill>
              <a:blip r:embed="rId5">
                <a:extLst>
                  <a:ext uri="{96DAC541-7B7A-43D3-8B79-37D633B846F1}">
                    <asvg:svgBlip xmlns:asvg="http://schemas.microsoft.com/office/drawing/2016/SVG/main" r:embed="rId6"/>
                  </a:ext>
                </a:extLst>
              </a:blip>
              <a:stretch>
                <a:fillRect l="0" t="-4773" r="0" b="-4773"/>
              </a:stretch>
            </a:blipFill>
          </p:spPr>
        </p:sp>
        <p:sp>
          <p:nvSpPr>
            <p:cNvPr name="TextBox 20" id="20"/>
            <p:cNvSpPr txBox="true"/>
            <p:nvPr/>
          </p:nvSpPr>
          <p:spPr>
            <a:xfrm rot="0">
              <a:off x="409936" y="90182"/>
              <a:ext cx="948972" cy="1050925"/>
            </a:xfrm>
            <a:prstGeom prst="rect">
              <a:avLst/>
            </a:prstGeom>
          </p:spPr>
          <p:txBody>
            <a:bodyPr anchor="t" rtlCol="false" tIns="0" lIns="0" bIns="0" rIns="0">
              <a:spAutoFit/>
            </a:bodyPr>
            <a:lstStyle/>
            <a:p>
              <a:pPr algn="l">
                <a:lnSpc>
                  <a:spcPts val="5759"/>
                </a:lnSpc>
              </a:pPr>
              <a:r>
                <a:rPr lang="en-US" b="true" sz="4800">
                  <a:solidFill>
                    <a:srgbClr val="FFFFFF"/>
                  </a:solidFill>
                  <a:latin typeface="Calibri (MS) Bold"/>
                  <a:ea typeface="Calibri (MS) Bold"/>
                  <a:cs typeface="Calibri (MS) Bold"/>
                  <a:sym typeface="Calibri (MS) Bold"/>
                </a:rPr>
                <a:t>04</a:t>
              </a:r>
            </a:p>
          </p:txBody>
        </p:sp>
        <p:sp>
          <p:nvSpPr>
            <p:cNvPr name="TextBox 21" id="21"/>
            <p:cNvSpPr txBox="true"/>
            <p:nvPr/>
          </p:nvSpPr>
          <p:spPr>
            <a:xfrm rot="0">
              <a:off x="353940" y="2108804"/>
              <a:ext cx="3598643" cy="676275"/>
            </a:xfrm>
            <a:prstGeom prst="rect">
              <a:avLst/>
            </a:prstGeom>
          </p:spPr>
          <p:txBody>
            <a:bodyPr anchor="t" rtlCol="false" tIns="0" lIns="0" bIns="0" rIns="0">
              <a:spAutoFit/>
            </a:bodyPr>
            <a:lstStyle/>
            <a:p>
              <a:pPr algn="ctr">
                <a:lnSpc>
                  <a:spcPts val="3600"/>
                </a:lnSpc>
              </a:pPr>
              <a:r>
                <a:rPr lang="en-US" b="true" sz="3000">
                  <a:solidFill>
                    <a:srgbClr val="FFFFFF"/>
                  </a:solidFill>
                  <a:latin typeface="Calibri (MS) Bold"/>
                  <a:ea typeface="Calibri (MS) Bold"/>
                  <a:cs typeface="Calibri (MS) Bold"/>
                  <a:sym typeface="Calibri (MS) Bold"/>
                </a:rPr>
                <a:t>KẾT</a:t>
              </a:r>
              <a:r>
                <a:rPr lang="en-US" b="true" sz="3000">
                  <a:solidFill>
                    <a:srgbClr val="FFFFFF"/>
                  </a:solidFill>
                  <a:latin typeface="Calibri (MS) Bold"/>
                  <a:ea typeface="Calibri (MS) Bold"/>
                  <a:cs typeface="Calibri (MS) Bold"/>
                  <a:sym typeface="Calibri (MS) Bold"/>
                </a:rPr>
                <a:t> LUẬN</a:t>
              </a:r>
            </a:p>
          </p:txBody>
        </p:sp>
      </p:grpSp>
      <p:sp>
        <p:nvSpPr>
          <p:cNvPr name="TextBox 22" id="22"/>
          <p:cNvSpPr txBox="true"/>
          <p:nvPr/>
        </p:nvSpPr>
        <p:spPr>
          <a:xfrm rot="0">
            <a:off x="17559146" y="9821874"/>
            <a:ext cx="422910" cy="390525"/>
          </a:xfrm>
          <a:prstGeom prst="rect">
            <a:avLst/>
          </a:prstGeom>
        </p:spPr>
        <p:txBody>
          <a:bodyPr anchor="t" rtlCol="false" tIns="0" lIns="0" bIns="0" rIns="0">
            <a:spAutoFit/>
          </a:bodyPr>
          <a:lstStyle/>
          <a:p>
            <a:pPr algn="l">
              <a:lnSpc>
                <a:spcPts val="2916"/>
              </a:lnSpc>
            </a:pPr>
            <a:r>
              <a:rPr lang="en-US" b="true" sz="2400">
                <a:solidFill>
                  <a:srgbClr val="FFFFFF"/>
                </a:solidFill>
                <a:latin typeface="Calibri (MS) Bold"/>
                <a:ea typeface="Calibri (MS) Bold"/>
                <a:cs typeface="Calibri (MS) Bold"/>
                <a:sym typeface="Calibri (MS) Bold"/>
              </a:rPr>
              <a:t>2</a:t>
            </a:r>
          </a:p>
        </p:txBody>
      </p:sp>
      <p:sp>
        <p:nvSpPr>
          <p:cNvPr name="TextBox 23" id="23"/>
          <p:cNvSpPr txBox="true"/>
          <p:nvPr/>
        </p:nvSpPr>
        <p:spPr>
          <a:xfrm rot="0">
            <a:off x="6528435" y="1209647"/>
            <a:ext cx="5273040" cy="1064275"/>
          </a:xfrm>
          <a:prstGeom prst="rect">
            <a:avLst/>
          </a:prstGeom>
        </p:spPr>
        <p:txBody>
          <a:bodyPr anchor="t" rtlCol="false" tIns="0" lIns="0" bIns="0" rIns="0">
            <a:spAutoFit/>
          </a:bodyPr>
          <a:lstStyle/>
          <a:p>
            <a:pPr algn="l">
              <a:lnSpc>
                <a:spcPts val="7200"/>
              </a:lnSpc>
            </a:pPr>
            <a:r>
              <a:rPr lang="en-US" sz="6000">
                <a:solidFill>
                  <a:srgbClr val="00346F"/>
                </a:solidFill>
                <a:latin typeface="Calibri (MS)"/>
                <a:ea typeface="Calibri (MS)"/>
                <a:cs typeface="Calibri (MS)"/>
                <a:sym typeface="Calibri (MS)"/>
              </a:rPr>
              <a:t>Table of Contents</a:t>
            </a:r>
          </a:p>
        </p:txBody>
      </p:sp>
      <p:sp>
        <p:nvSpPr>
          <p:cNvPr name="TextBox 24" id="24"/>
          <p:cNvSpPr txBox="true"/>
          <p:nvPr/>
        </p:nvSpPr>
        <p:spPr>
          <a:xfrm rot="0">
            <a:off x="251154" y="9831399"/>
            <a:ext cx="1147465" cy="400050"/>
          </a:xfrm>
          <a:prstGeom prst="rect">
            <a:avLst/>
          </a:prstGeom>
        </p:spPr>
        <p:txBody>
          <a:bodyPr anchor="t" rtlCol="false" tIns="0" lIns="0" bIns="0" rIns="0">
            <a:spAutoFit/>
          </a:bodyPr>
          <a:lstStyle/>
          <a:p>
            <a:pPr algn="l">
              <a:lnSpc>
                <a:spcPts val="2879"/>
              </a:lnSpc>
            </a:pPr>
            <a:r>
              <a:rPr lang="en-US" sz="2400" b="true">
                <a:solidFill>
                  <a:srgbClr val="FFFFFF"/>
                </a:solidFill>
                <a:latin typeface="Calibri (MS) Bold"/>
                <a:ea typeface="Calibri (MS) Bold"/>
                <a:cs typeface="Calibri (MS) Bold"/>
                <a:sym typeface="Calibri (MS) Bold"/>
              </a:rPr>
              <a:t>VNU UET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sp>
        <p:nvSpPr>
          <p:cNvPr name="Freeform 6" id="6"/>
          <p:cNvSpPr/>
          <p:nvPr/>
        </p:nvSpPr>
        <p:spPr>
          <a:xfrm flipH="false" flipV="false" rot="0">
            <a:off x="9509760" y="4181092"/>
            <a:ext cx="5454967" cy="2974658"/>
          </a:xfrm>
          <a:custGeom>
            <a:avLst/>
            <a:gdLst/>
            <a:ahLst/>
            <a:cxnLst/>
            <a:rect r="r" b="b" t="t" l="l"/>
            <a:pathLst>
              <a:path h="2974658" w="5454967">
                <a:moveTo>
                  <a:pt x="0" y="0"/>
                </a:moveTo>
                <a:lnTo>
                  <a:pt x="5454967" y="0"/>
                </a:lnTo>
                <a:lnTo>
                  <a:pt x="5454967" y="2974658"/>
                </a:lnTo>
                <a:lnTo>
                  <a:pt x="0" y="29746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737701" y="5144546"/>
            <a:ext cx="2999085" cy="933450"/>
          </a:xfrm>
          <a:prstGeom prst="rect">
            <a:avLst/>
          </a:prstGeom>
        </p:spPr>
        <p:txBody>
          <a:bodyPr anchor="t" rtlCol="false" tIns="0" lIns="0" bIns="0" rIns="0">
            <a:spAutoFit/>
          </a:bodyPr>
          <a:lstStyle/>
          <a:p>
            <a:pPr algn="l">
              <a:lnSpc>
                <a:spcPts val="6480"/>
              </a:lnSpc>
            </a:pPr>
            <a:r>
              <a:rPr lang="en-US" b="true" sz="5400">
                <a:solidFill>
                  <a:srgbClr val="FFFFFF"/>
                </a:solidFill>
                <a:latin typeface="Calibri (MS) Bold"/>
                <a:ea typeface="Calibri (MS) Bold"/>
                <a:cs typeface="Calibri (MS) Bold"/>
                <a:sym typeface="Calibri (MS) Bold"/>
              </a:rPr>
              <a:t>Tổng quan</a:t>
            </a:r>
          </a:p>
        </p:txBody>
      </p:sp>
      <p:sp>
        <p:nvSpPr>
          <p:cNvPr name="TextBox 8" id="8"/>
          <p:cNvSpPr txBox="true"/>
          <p:nvPr/>
        </p:nvSpPr>
        <p:spPr>
          <a:xfrm rot="0">
            <a:off x="5452680" y="2268790"/>
            <a:ext cx="7382637" cy="1587500"/>
          </a:xfrm>
          <a:prstGeom prst="rect">
            <a:avLst/>
          </a:prstGeom>
        </p:spPr>
        <p:txBody>
          <a:bodyPr anchor="t" rtlCol="false" tIns="0" lIns="0" bIns="0" rIns="0">
            <a:spAutoFit/>
          </a:bodyPr>
          <a:lstStyle/>
          <a:p>
            <a:pPr algn="l">
              <a:lnSpc>
                <a:spcPts val="10800"/>
              </a:lnSpc>
            </a:pPr>
            <a:r>
              <a:rPr lang="en-US" sz="9000">
                <a:solidFill>
                  <a:srgbClr val="002C6B"/>
                </a:solidFill>
                <a:latin typeface="Calibri (MS)"/>
                <a:ea typeface="Calibri (MS)"/>
                <a:cs typeface="Calibri (MS)"/>
                <a:sym typeface="Calibri (MS)"/>
              </a:rPr>
              <a:t>01</a:t>
            </a:r>
          </a:p>
        </p:txBody>
      </p:sp>
      <p:sp>
        <p:nvSpPr>
          <p:cNvPr name="Freeform 9" id="9"/>
          <p:cNvSpPr/>
          <p:nvPr/>
        </p:nvSpPr>
        <p:spPr>
          <a:xfrm flipH="false" flipV="false" rot="0">
            <a:off x="4073842" y="4313871"/>
            <a:ext cx="3143250" cy="2267902"/>
          </a:xfrm>
          <a:custGeom>
            <a:avLst/>
            <a:gdLst/>
            <a:ahLst/>
            <a:cxnLst/>
            <a:rect r="r" b="b" t="t" l="l"/>
            <a:pathLst>
              <a:path h="2267902" w="3143250">
                <a:moveTo>
                  <a:pt x="0" y="0"/>
                </a:moveTo>
                <a:lnTo>
                  <a:pt x="3143251" y="0"/>
                </a:lnTo>
                <a:lnTo>
                  <a:pt x="3143251" y="2267902"/>
                </a:lnTo>
                <a:lnTo>
                  <a:pt x="0" y="22679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4066984" y="1975294"/>
            <a:ext cx="864489" cy="1177290"/>
          </a:xfrm>
          <a:custGeom>
            <a:avLst/>
            <a:gdLst/>
            <a:ahLst/>
            <a:cxnLst/>
            <a:rect r="r" b="b" t="t" l="l"/>
            <a:pathLst>
              <a:path h="1177290" w="864489">
                <a:moveTo>
                  <a:pt x="0" y="0"/>
                </a:moveTo>
                <a:lnTo>
                  <a:pt x="864490" y="0"/>
                </a:lnTo>
                <a:lnTo>
                  <a:pt x="864490" y="1177290"/>
                </a:lnTo>
                <a:lnTo>
                  <a:pt x="0" y="11772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5157216" y="3664590"/>
            <a:ext cx="197168" cy="224790"/>
            <a:chOff x="0" y="0"/>
            <a:chExt cx="262890" cy="299720"/>
          </a:xfrm>
        </p:grpSpPr>
        <p:sp>
          <p:nvSpPr>
            <p:cNvPr name="Freeform 12" id="12"/>
            <p:cNvSpPr/>
            <p:nvPr/>
          </p:nvSpPr>
          <p:spPr>
            <a:xfrm flipH="false" flipV="false" rot="0">
              <a:off x="0" y="0"/>
              <a:ext cx="262128" cy="298577"/>
            </a:xfrm>
            <a:custGeom>
              <a:avLst/>
              <a:gdLst/>
              <a:ahLst/>
              <a:cxnLst/>
              <a:rect r="r" b="b" t="t" l="l"/>
              <a:pathLst>
                <a:path h="298577" w="262128">
                  <a:moveTo>
                    <a:pt x="262128" y="0"/>
                  </a:moveTo>
                  <a:lnTo>
                    <a:pt x="0" y="0"/>
                  </a:lnTo>
                  <a:lnTo>
                    <a:pt x="0" y="298577"/>
                  </a:lnTo>
                  <a:lnTo>
                    <a:pt x="262128" y="298577"/>
                  </a:lnTo>
                  <a:lnTo>
                    <a:pt x="262128" y="0"/>
                  </a:lnTo>
                  <a:close/>
                </a:path>
              </a:pathLst>
            </a:custGeom>
            <a:solidFill>
              <a:srgbClr val="EC7C30"/>
            </a:solidFill>
            <a:ln w="12700">
              <a:solidFill>
                <a:srgbClr val="000000"/>
              </a:solidFill>
            </a:ln>
          </p:spPr>
        </p:sp>
      </p:grpSp>
      <p:grpSp>
        <p:nvGrpSpPr>
          <p:cNvPr name="Group 13" id="13"/>
          <p:cNvGrpSpPr/>
          <p:nvPr/>
        </p:nvGrpSpPr>
        <p:grpSpPr>
          <a:xfrm rot="0">
            <a:off x="5282945" y="3691828"/>
            <a:ext cx="41910" cy="169545"/>
            <a:chOff x="0" y="0"/>
            <a:chExt cx="55880" cy="226060"/>
          </a:xfrm>
        </p:grpSpPr>
        <p:sp>
          <p:nvSpPr>
            <p:cNvPr name="Freeform 14" id="14"/>
            <p:cNvSpPr/>
            <p:nvPr/>
          </p:nvSpPr>
          <p:spPr>
            <a:xfrm flipH="false" flipV="false" rot="0">
              <a:off x="0" y="0"/>
              <a:ext cx="54737" cy="225425"/>
            </a:xfrm>
            <a:custGeom>
              <a:avLst/>
              <a:gdLst/>
              <a:ahLst/>
              <a:cxnLst/>
              <a:rect r="r" b="b" t="t" l="l"/>
              <a:pathLst>
                <a:path h="225425" w="54737">
                  <a:moveTo>
                    <a:pt x="54737" y="0"/>
                  </a:moveTo>
                  <a:lnTo>
                    <a:pt x="0" y="0"/>
                  </a:lnTo>
                  <a:lnTo>
                    <a:pt x="0" y="225425"/>
                  </a:lnTo>
                  <a:lnTo>
                    <a:pt x="54737" y="225425"/>
                  </a:lnTo>
                  <a:lnTo>
                    <a:pt x="54737" y="0"/>
                  </a:lnTo>
                  <a:close/>
                </a:path>
              </a:pathLst>
            </a:custGeom>
            <a:solidFill>
              <a:srgbClr val="FFFFFF"/>
            </a:solidFill>
            <a:ln w="12700">
              <a:solidFill>
                <a:srgbClr val="000000"/>
              </a:solidFill>
            </a:ln>
          </p:spPr>
        </p:sp>
      </p:grpSp>
      <p:grpSp>
        <p:nvGrpSpPr>
          <p:cNvPr name="Group 15" id="15"/>
          <p:cNvGrpSpPr/>
          <p:nvPr/>
        </p:nvGrpSpPr>
        <p:grpSpPr>
          <a:xfrm rot="0">
            <a:off x="4398453" y="3621213"/>
            <a:ext cx="782001" cy="311467"/>
            <a:chOff x="0" y="0"/>
            <a:chExt cx="1042668" cy="415290"/>
          </a:xfrm>
        </p:grpSpPr>
        <p:sp>
          <p:nvSpPr>
            <p:cNvPr name="Freeform 16" id="16"/>
            <p:cNvSpPr/>
            <p:nvPr/>
          </p:nvSpPr>
          <p:spPr>
            <a:xfrm flipH="false" flipV="false" rot="0">
              <a:off x="0" y="0"/>
              <a:ext cx="1042162" cy="414274"/>
            </a:xfrm>
            <a:custGeom>
              <a:avLst/>
              <a:gdLst/>
              <a:ahLst/>
              <a:cxnLst/>
              <a:rect r="r" b="b" t="t" l="l"/>
              <a:pathLst>
                <a:path h="414274" w="1042162">
                  <a:moveTo>
                    <a:pt x="1042162" y="0"/>
                  </a:moveTo>
                  <a:lnTo>
                    <a:pt x="206502" y="0"/>
                  </a:lnTo>
                  <a:lnTo>
                    <a:pt x="125984" y="16129"/>
                  </a:lnTo>
                  <a:lnTo>
                    <a:pt x="60325" y="60198"/>
                  </a:lnTo>
                  <a:lnTo>
                    <a:pt x="16129" y="125857"/>
                  </a:lnTo>
                  <a:lnTo>
                    <a:pt x="0" y="206248"/>
                  </a:lnTo>
                  <a:lnTo>
                    <a:pt x="16129" y="287020"/>
                  </a:lnTo>
                  <a:lnTo>
                    <a:pt x="60325" y="353187"/>
                  </a:lnTo>
                  <a:lnTo>
                    <a:pt x="125984" y="397891"/>
                  </a:lnTo>
                  <a:lnTo>
                    <a:pt x="206502" y="414274"/>
                  </a:lnTo>
                  <a:lnTo>
                    <a:pt x="1042162" y="414274"/>
                  </a:lnTo>
                  <a:lnTo>
                    <a:pt x="1042162" y="0"/>
                  </a:lnTo>
                  <a:close/>
                </a:path>
              </a:pathLst>
            </a:custGeom>
            <a:solidFill>
              <a:srgbClr val="095B6E"/>
            </a:solidFill>
            <a:ln w="12700">
              <a:solidFill>
                <a:srgbClr val="000000"/>
              </a:solidFill>
            </a:ln>
          </p:spPr>
        </p:sp>
      </p:grpSp>
      <p:grpSp>
        <p:nvGrpSpPr>
          <p:cNvPr name="Group 17" id="17"/>
          <p:cNvGrpSpPr/>
          <p:nvPr/>
        </p:nvGrpSpPr>
        <p:grpSpPr>
          <a:xfrm rot="0">
            <a:off x="4441696" y="3664647"/>
            <a:ext cx="223838" cy="223838"/>
            <a:chOff x="0" y="0"/>
            <a:chExt cx="298450" cy="298450"/>
          </a:xfrm>
        </p:grpSpPr>
        <p:sp>
          <p:nvSpPr>
            <p:cNvPr name="Freeform 18" id="18"/>
            <p:cNvSpPr/>
            <p:nvPr/>
          </p:nvSpPr>
          <p:spPr>
            <a:xfrm flipH="false" flipV="false" rot="0">
              <a:off x="0" y="0"/>
              <a:ext cx="298450" cy="298450"/>
            </a:xfrm>
            <a:custGeom>
              <a:avLst/>
              <a:gdLst/>
              <a:ahLst/>
              <a:cxnLst/>
              <a:rect r="r" b="b" t="t" l="l"/>
              <a:pathLst>
                <a:path h="298450" w="298450">
                  <a:moveTo>
                    <a:pt x="0" y="0"/>
                  </a:moveTo>
                  <a:lnTo>
                    <a:pt x="298450" y="0"/>
                  </a:lnTo>
                  <a:lnTo>
                    <a:pt x="298450" y="298450"/>
                  </a:lnTo>
                  <a:lnTo>
                    <a:pt x="0" y="298450"/>
                  </a:lnTo>
                  <a:lnTo>
                    <a:pt x="0" y="0"/>
                  </a:lnTo>
                  <a:close/>
                </a:path>
              </a:pathLst>
            </a:custGeom>
            <a:blipFill>
              <a:blip r:embed="rId9"/>
              <a:stretch>
                <a:fillRect l="0" t="0" r="0" b="0"/>
              </a:stretch>
            </a:blipFill>
          </p:spPr>
        </p:sp>
      </p:grpSp>
      <p:grpSp>
        <p:nvGrpSpPr>
          <p:cNvPr name="Group 19" id="19"/>
          <p:cNvGrpSpPr/>
          <p:nvPr/>
        </p:nvGrpSpPr>
        <p:grpSpPr>
          <a:xfrm rot="0">
            <a:off x="5801798" y="3906847"/>
            <a:ext cx="759143" cy="102870"/>
            <a:chOff x="0" y="0"/>
            <a:chExt cx="1012190" cy="137160"/>
          </a:xfrm>
        </p:grpSpPr>
        <p:sp>
          <p:nvSpPr>
            <p:cNvPr name="Freeform 20" id="20"/>
            <p:cNvSpPr/>
            <p:nvPr/>
          </p:nvSpPr>
          <p:spPr>
            <a:xfrm flipH="false" flipV="false" rot="0">
              <a:off x="0" y="0"/>
              <a:ext cx="1012063" cy="136779"/>
            </a:xfrm>
            <a:custGeom>
              <a:avLst/>
              <a:gdLst/>
              <a:ahLst/>
              <a:cxnLst/>
              <a:rect r="r" b="b" t="t" l="l"/>
              <a:pathLst>
                <a:path h="136779" w="1012063">
                  <a:moveTo>
                    <a:pt x="0" y="136779"/>
                  </a:moveTo>
                  <a:lnTo>
                    <a:pt x="1012063" y="136779"/>
                  </a:lnTo>
                  <a:lnTo>
                    <a:pt x="1012063" y="0"/>
                  </a:lnTo>
                  <a:lnTo>
                    <a:pt x="0" y="0"/>
                  </a:lnTo>
                  <a:lnTo>
                    <a:pt x="0" y="136779"/>
                  </a:lnTo>
                  <a:close/>
                </a:path>
              </a:pathLst>
            </a:custGeom>
            <a:solidFill>
              <a:srgbClr val="EC7C30"/>
            </a:solidFill>
            <a:ln w="12700">
              <a:solidFill>
                <a:srgbClr val="000000"/>
              </a:solidFill>
            </a:ln>
          </p:spPr>
        </p:sp>
      </p:grpSp>
      <p:grpSp>
        <p:nvGrpSpPr>
          <p:cNvPr name="Group 21" id="21"/>
          <p:cNvGrpSpPr/>
          <p:nvPr/>
        </p:nvGrpSpPr>
        <p:grpSpPr>
          <a:xfrm rot="0">
            <a:off x="5717476" y="3906847"/>
            <a:ext cx="84772" cy="102870"/>
            <a:chOff x="0" y="0"/>
            <a:chExt cx="113030" cy="137160"/>
          </a:xfrm>
        </p:grpSpPr>
        <p:sp>
          <p:nvSpPr>
            <p:cNvPr name="Freeform 22" id="22"/>
            <p:cNvSpPr/>
            <p:nvPr/>
          </p:nvSpPr>
          <p:spPr>
            <a:xfrm flipH="false" flipV="false" rot="0">
              <a:off x="0" y="0"/>
              <a:ext cx="112395" cy="136779"/>
            </a:xfrm>
            <a:custGeom>
              <a:avLst/>
              <a:gdLst/>
              <a:ahLst/>
              <a:cxnLst/>
              <a:rect r="r" b="b" t="t" l="l"/>
              <a:pathLst>
                <a:path h="136779" w="112395">
                  <a:moveTo>
                    <a:pt x="112395" y="0"/>
                  </a:moveTo>
                  <a:lnTo>
                    <a:pt x="0" y="0"/>
                  </a:lnTo>
                  <a:lnTo>
                    <a:pt x="0" y="136779"/>
                  </a:lnTo>
                  <a:lnTo>
                    <a:pt x="112395" y="136779"/>
                  </a:lnTo>
                  <a:lnTo>
                    <a:pt x="112395" y="0"/>
                  </a:lnTo>
                  <a:close/>
                </a:path>
              </a:pathLst>
            </a:custGeom>
            <a:solidFill>
              <a:srgbClr val="FF544F"/>
            </a:solidFill>
            <a:ln w="12700">
              <a:solidFill>
                <a:srgbClr val="000000"/>
              </a:solidFill>
            </a:ln>
          </p:spPr>
        </p:sp>
      </p:grpSp>
      <p:sp>
        <p:nvSpPr>
          <p:cNvPr name="Freeform 23" id="23"/>
          <p:cNvSpPr/>
          <p:nvPr/>
        </p:nvSpPr>
        <p:spPr>
          <a:xfrm flipH="false" flipV="false" rot="0">
            <a:off x="6223304" y="3344416"/>
            <a:ext cx="669607" cy="665798"/>
          </a:xfrm>
          <a:custGeom>
            <a:avLst/>
            <a:gdLst/>
            <a:ahLst/>
            <a:cxnLst/>
            <a:rect r="r" b="b" t="t" l="l"/>
            <a:pathLst>
              <a:path h="665798" w="669607">
                <a:moveTo>
                  <a:pt x="0" y="0"/>
                </a:moveTo>
                <a:lnTo>
                  <a:pt x="669607" y="0"/>
                </a:lnTo>
                <a:lnTo>
                  <a:pt x="669607" y="665798"/>
                </a:lnTo>
                <a:lnTo>
                  <a:pt x="0" y="6657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6231826" y="3346893"/>
            <a:ext cx="658176" cy="661035"/>
          </a:xfrm>
          <a:custGeom>
            <a:avLst/>
            <a:gdLst/>
            <a:ahLst/>
            <a:cxnLst/>
            <a:rect r="r" b="b" t="t" l="l"/>
            <a:pathLst>
              <a:path h="661035" w="658176">
                <a:moveTo>
                  <a:pt x="0" y="0"/>
                </a:moveTo>
                <a:lnTo>
                  <a:pt x="658176" y="0"/>
                </a:lnTo>
                <a:lnTo>
                  <a:pt x="658176" y="661035"/>
                </a:lnTo>
                <a:lnTo>
                  <a:pt x="0" y="66103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25" id="25"/>
          <p:cNvGrpSpPr/>
          <p:nvPr/>
        </p:nvGrpSpPr>
        <p:grpSpPr>
          <a:xfrm rot="0">
            <a:off x="6330125" y="3445191"/>
            <a:ext cx="461962" cy="461962"/>
            <a:chOff x="0" y="0"/>
            <a:chExt cx="615950" cy="615950"/>
          </a:xfrm>
        </p:grpSpPr>
        <p:sp>
          <p:nvSpPr>
            <p:cNvPr name="Freeform 26" id="26"/>
            <p:cNvSpPr/>
            <p:nvPr/>
          </p:nvSpPr>
          <p:spPr>
            <a:xfrm flipH="false" flipV="false" rot="0">
              <a:off x="0" y="0"/>
              <a:ext cx="615442" cy="615442"/>
            </a:xfrm>
            <a:custGeom>
              <a:avLst/>
              <a:gdLst/>
              <a:ahLst/>
              <a:cxnLst/>
              <a:rect r="r" b="b" t="t" l="l"/>
              <a:pathLst>
                <a:path h="615442" w="615442">
                  <a:moveTo>
                    <a:pt x="306832" y="0"/>
                  </a:moveTo>
                  <a:lnTo>
                    <a:pt x="210185" y="15748"/>
                  </a:lnTo>
                  <a:lnTo>
                    <a:pt x="125984" y="59436"/>
                  </a:lnTo>
                  <a:lnTo>
                    <a:pt x="59436" y="125984"/>
                  </a:lnTo>
                  <a:lnTo>
                    <a:pt x="15748" y="210185"/>
                  </a:lnTo>
                  <a:lnTo>
                    <a:pt x="0" y="306832"/>
                  </a:lnTo>
                  <a:lnTo>
                    <a:pt x="15748" y="404368"/>
                  </a:lnTo>
                  <a:lnTo>
                    <a:pt x="59436" y="489077"/>
                  </a:lnTo>
                  <a:lnTo>
                    <a:pt x="125984" y="555879"/>
                  </a:lnTo>
                  <a:lnTo>
                    <a:pt x="210185" y="599694"/>
                  </a:lnTo>
                  <a:lnTo>
                    <a:pt x="306832" y="615442"/>
                  </a:lnTo>
                  <a:lnTo>
                    <a:pt x="404368" y="599694"/>
                  </a:lnTo>
                  <a:lnTo>
                    <a:pt x="489077" y="555879"/>
                  </a:lnTo>
                  <a:lnTo>
                    <a:pt x="555879" y="489077"/>
                  </a:lnTo>
                  <a:lnTo>
                    <a:pt x="599694" y="404368"/>
                  </a:lnTo>
                  <a:lnTo>
                    <a:pt x="615442" y="306832"/>
                  </a:lnTo>
                  <a:lnTo>
                    <a:pt x="599694" y="210185"/>
                  </a:lnTo>
                  <a:lnTo>
                    <a:pt x="555879" y="125984"/>
                  </a:lnTo>
                  <a:lnTo>
                    <a:pt x="489077" y="59436"/>
                  </a:lnTo>
                  <a:lnTo>
                    <a:pt x="404368" y="15748"/>
                  </a:lnTo>
                  <a:lnTo>
                    <a:pt x="306832" y="0"/>
                  </a:lnTo>
                  <a:close/>
                </a:path>
              </a:pathLst>
            </a:custGeom>
            <a:solidFill>
              <a:srgbClr val="ECECEC"/>
            </a:solidFill>
            <a:ln w="12700">
              <a:solidFill>
                <a:srgbClr val="000000"/>
              </a:solidFill>
            </a:ln>
          </p:spPr>
        </p:sp>
      </p:grpSp>
      <p:grpSp>
        <p:nvGrpSpPr>
          <p:cNvPr name="Group 27" id="27"/>
          <p:cNvGrpSpPr/>
          <p:nvPr/>
        </p:nvGrpSpPr>
        <p:grpSpPr>
          <a:xfrm rot="0">
            <a:off x="6426136" y="3541203"/>
            <a:ext cx="269557" cy="269558"/>
            <a:chOff x="0" y="0"/>
            <a:chExt cx="359410" cy="359410"/>
          </a:xfrm>
        </p:grpSpPr>
        <p:sp>
          <p:nvSpPr>
            <p:cNvPr name="Freeform 28" id="28"/>
            <p:cNvSpPr/>
            <p:nvPr/>
          </p:nvSpPr>
          <p:spPr>
            <a:xfrm flipH="false" flipV="false" rot="0">
              <a:off x="0" y="0"/>
              <a:ext cx="359410" cy="359410"/>
            </a:xfrm>
            <a:custGeom>
              <a:avLst/>
              <a:gdLst/>
              <a:ahLst/>
              <a:cxnLst/>
              <a:rect r="r" b="b" t="t" l="l"/>
              <a:pathLst>
                <a:path h="359410" w="359410">
                  <a:moveTo>
                    <a:pt x="0" y="0"/>
                  </a:moveTo>
                  <a:lnTo>
                    <a:pt x="359410" y="0"/>
                  </a:lnTo>
                  <a:lnTo>
                    <a:pt x="359410" y="359410"/>
                  </a:lnTo>
                  <a:lnTo>
                    <a:pt x="0" y="359410"/>
                  </a:lnTo>
                  <a:lnTo>
                    <a:pt x="0" y="0"/>
                  </a:lnTo>
                  <a:close/>
                </a:path>
              </a:pathLst>
            </a:custGeom>
            <a:blipFill>
              <a:blip r:embed="rId14"/>
              <a:stretch>
                <a:fillRect l="0" t="0" r="0" b="0"/>
              </a:stretch>
            </a:blipFill>
          </p:spPr>
        </p:sp>
      </p:grpSp>
      <p:grpSp>
        <p:nvGrpSpPr>
          <p:cNvPr name="Group 29" id="29"/>
          <p:cNvGrpSpPr/>
          <p:nvPr/>
        </p:nvGrpSpPr>
        <p:grpSpPr>
          <a:xfrm rot="0">
            <a:off x="4837174" y="6890002"/>
            <a:ext cx="164592" cy="166877"/>
            <a:chOff x="0" y="0"/>
            <a:chExt cx="219456" cy="222502"/>
          </a:xfrm>
        </p:grpSpPr>
        <p:sp>
          <p:nvSpPr>
            <p:cNvPr name="Freeform 30" id="30"/>
            <p:cNvSpPr/>
            <p:nvPr/>
          </p:nvSpPr>
          <p:spPr>
            <a:xfrm flipH="false" flipV="false" rot="0">
              <a:off x="0" y="0"/>
              <a:ext cx="219456" cy="222504"/>
            </a:xfrm>
            <a:custGeom>
              <a:avLst/>
              <a:gdLst/>
              <a:ahLst/>
              <a:cxnLst/>
              <a:rect r="r" b="b" t="t" l="l"/>
              <a:pathLst>
                <a:path h="222504" w="219456">
                  <a:moveTo>
                    <a:pt x="0" y="0"/>
                  </a:moveTo>
                  <a:lnTo>
                    <a:pt x="219456" y="0"/>
                  </a:lnTo>
                  <a:lnTo>
                    <a:pt x="219456" y="222504"/>
                  </a:lnTo>
                  <a:lnTo>
                    <a:pt x="0" y="222504"/>
                  </a:lnTo>
                  <a:lnTo>
                    <a:pt x="0" y="0"/>
                  </a:lnTo>
                  <a:close/>
                </a:path>
              </a:pathLst>
            </a:custGeom>
            <a:blipFill>
              <a:blip r:embed="rId15"/>
              <a:stretch>
                <a:fillRect l="0" t="0" r="0" b="-2918"/>
              </a:stretch>
            </a:blipFill>
          </p:spPr>
        </p:sp>
      </p:grpSp>
      <p:grpSp>
        <p:nvGrpSpPr>
          <p:cNvPr name="Group 31" id="31"/>
          <p:cNvGrpSpPr/>
          <p:nvPr/>
        </p:nvGrpSpPr>
        <p:grpSpPr>
          <a:xfrm rot="0">
            <a:off x="5010910" y="6890135"/>
            <a:ext cx="1209675" cy="167640"/>
            <a:chOff x="0" y="0"/>
            <a:chExt cx="1612900" cy="223520"/>
          </a:xfrm>
        </p:grpSpPr>
        <p:sp>
          <p:nvSpPr>
            <p:cNvPr name="Freeform 32" id="32"/>
            <p:cNvSpPr/>
            <p:nvPr/>
          </p:nvSpPr>
          <p:spPr>
            <a:xfrm flipH="false" flipV="false" rot="0">
              <a:off x="0" y="0"/>
              <a:ext cx="1612392" cy="222377"/>
            </a:xfrm>
            <a:custGeom>
              <a:avLst/>
              <a:gdLst/>
              <a:ahLst/>
              <a:cxnLst/>
              <a:rect r="r" b="b" t="t" l="l"/>
              <a:pathLst>
                <a:path h="222377" w="1612392">
                  <a:moveTo>
                    <a:pt x="1612392" y="0"/>
                  </a:moveTo>
                  <a:lnTo>
                    <a:pt x="0" y="0"/>
                  </a:lnTo>
                  <a:lnTo>
                    <a:pt x="0" y="222377"/>
                  </a:lnTo>
                  <a:lnTo>
                    <a:pt x="1612392" y="222377"/>
                  </a:lnTo>
                  <a:lnTo>
                    <a:pt x="1612392" y="0"/>
                  </a:lnTo>
                  <a:close/>
                </a:path>
              </a:pathLst>
            </a:custGeom>
            <a:solidFill>
              <a:srgbClr val="095B6E"/>
            </a:solidFill>
            <a:ln w="12700">
              <a:solidFill>
                <a:srgbClr val="000000"/>
              </a:solidFill>
            </a:ln>
          </p:spPr>
        </p:sp>
      </p:grpSp>
      <p:grpSp>
        <p:nvGrpSpPr>
          <p:cNvPr name="Group 33" id="33"/>
          <p:cNvGrpSpPr/>
          <p:nvPr/>
        </p:nvGrpSpPr>
        <p:grpSpPr>
          <a:xfrm rot="0">
            <a:off x="4919470" y="6890135"/>
            <a:ext cx="91440" cy="167640"/>
            <a:chOff x="0" y="0"/>
            <a:chExt cx="121920" cy="223520"/>
          </a:xfrm>
        </p:grpSpPr>
        <p:sp>
          <p:nvSpPr>
            <p:cNvPr name="Freeform 34" id="34"/>
            <p:cNvSpPr/>
            <p:nvPr/>
          </p:nvSpPr>
          <p:spPr>
            <a:xfrm flipH="false" flipV="false" rot="0">
              <a:off x="0" y="0"/>
              <a:ext cx="121793" cy="222377"/>
            </a:xfrm>
            <a:custGeom>
              <a:avLst/>
              <a:gdLst/>
              <a:ahLst/>
              <a:cxnLst/>
              <a:rect r="r" b="b" t="t" l="l"/>
              <a:pathLst>
                <a:path h="222377" w="121793">
                  <a:moveTo>
                    <a:pt x="121793" y="0"/>
                  </a:moveTo>
                  <a:lnTo>
                    <a:pt x="0" y="0"/>
                  </a:lnTo>
                  <a:lnTo>
                    <a:pt x="0" y="222377"/>
                  </a:lnTo>
                  <a:lnTo>
                    <a:pt x="121793" y="222377"/>
                  </a:lnTo>
                  <a:lnTo>
                    <a:pt x="121793" y="0"/>
                  </a:lnTo>
                  <a:close/>
                </a:path>
              </a:pathLst>
            </a:custGeom>
            <a:solidFill>
              <a:srgbClr val="00BCC3"/>
            </a:solidFill>
            <a:ln w="12700">
              <a:solidFill>
                <a:srgbClr val="000000"/>
              </a:solidFill>
            </a:ln>
          </p:spPr>
        </p:sp>
      </p:grpSp>
      <p:grpSp>
        <p:nvGrpSpPr>
          <p:cNvPr name="Group 35" id="35"/>
          <p:cNvGrpSpPr/>
          <p:nvPr/>
        </p:nvGrpSpPr>
        <p:grpSpPr>
          <a:xfrm rot="0">
            <a:off x="6220395" y="6890193"/>
            <a:ext cx="232982" cy="166688"/>
            <a:chOff x="0" y="0"/>
            <a:chExt cx="310642" cy="222250"/>
          </a:xfrm>
        </p:grpSpPr>
        <p:sp>
          <p:nvSpPr>
            <p:cNvPr name="Freeform 36" id="36"/>
            <p:cNvSpPr/>
            <p:nvPr/>
          </p:nvSpPr>
          <p:spPr>
            <a:xfrm flipH="false" flipV="false" rot="0">
              <a:off x="0" y="0"/>
              <a:ext cx="310642" cy="222250"/>
            </a:xfrm>
            <a:custGeom>
              <a:avLst/>
              <a:gdLst/>
              <a:ahLst/>
              <a:cxnLst/>
              <a:rect r="r" b="b" t="t" l="l"/>
              <a:pathLst>
                <a:path h="222250" w="310642">
                  <a:moveTo>
                    <a:pt x="0" y="0"/>
                  </a:moveTo>
                  <a:lnTo>
                    <a:pt x="310642" y="0"/>
                  </a:lnTo>
                  <a:lnTo>
                    <a:pt x="310642" y="222250"/>
                  </a:lnTo>
                  <a:lnTo>
                    <a:pt x="0" y="222250"/>
                  </a:lnTo>
                  <a:lnTo>
                    <a:pt x="0" y="0"/>
                  </a:lnTo>
                  <a:close/>
                </a:path>
              </a:pathLst>
            </a:custGeom>
            <a:blipFill>
              <a:blip r:embed="rId16"/>
              <a:stretch>
                <a:fillRect l="0" t="0" r="0" b="-460"/>
              </a:stretch>
            </a:blipFill>
          </p:spPr>
        </p:sp>
      </p:grpSp>
      <p:grpSp>
        <p:nvGrpSpPr>
          <p:cNvPr name="Group 37" id="37"/>
          <p:cNvGrpSpPr/>
          <p:nvPr/>
        </p:nvGrpSpPr>
        <p:grpSpPr>
          <a:xfrm rot="0">
            <a:off x="5251132" y="7591995"/>
            <a:ext cx="258128" cy="354139"/>
            <a:chOff x="0" y="0"/>
            <a:chExt cx="344170" cy="472186"/>
          </a:xfrm>
        </p:grpSpPr>
        <p:sp>
          <p:nvSpPr>
            <p:cNvPr name="Freeform 38" id="38"/>
            <p:cNvSpPr/>
            <p:nvPr/>
          </p:nvSpPr>
          <p:spPr>
            <a:xfrm flipH="false" flipV="false" rot="0">
              <a:off x="0" y="0"/>
              <a:ext cx="344170" cy="472186"/>
            </a:xfrm>
            <a:custGeom>
              <a:avLst/>
              <a:gdLst/>
              <a:ahLst/>
              <a:cxnLst/>
              <a:rect r="r" b="b" t="t" l="l"/>
              <a:pathLst>
                <a:path h="472186" w="344170">
                  <a:moveTo>
                    <a:pt x="0" y="0"/>
                  </a:moveTo>
                  <a:lnTo>
                    <a:pt x="344170" y="0"/>
                  </a:lnTo>
                  <a:lnTo>
                    <a:pt x="344170" y="472186"/>
                  </a:lnTo>
                  <a:lnTo>
                    <a:pt x="0" y="472186"/>
                  </a:lnTo>
                  <a:lnTo>
                    <a:pt x="0" y="0"/>
                  </a:lnTo>
                  <a:close/>
                </a:path>
              </a:pathLst>
            </a:custGeom>
            <a:blipFill>
              <a:blip r:embed="rId17"/>
              <a:stretch>
                <a:fillRect l="0" t="0" r="-796" b="0"/>
              </a:stretch>
            </a:blipFill>
          </p:spPr>
        </p:sp>
      </p:grpSp>
      <p:grpSp>
        <p:nvGrpSpPr>
          <p:cNvPr name="Group 39" id="39"/>
          <p:cNvGrpSpPr/>
          <p:nvPr/>
        </p:nvGrpSpPr>
        <p:grpSpPr>
          <a:xfrm rot="0">
            <a:off x="4256532" y="7623999"/>
            <a:ext cx="1230628" cy="290512"/>
            <a:chOff x="0" y="0"/>
            <a:chExt cx="1640838" cy="387350"/>
          </a:xfrm>
        </p:grpSpPr>
        <p:sp>
          <p:nvSpPr>
            <p:cNvPr name="Freeform 40" id="40"/>
            <p:cNvSpPr/>
            <p:nvPr/>
          </p:nvSpPr>
          <p:spPr>
            <a:xfrm flipH="false" flipV="false" rot="0">
              <a:off x="0" y="0"/>
              <a:ext cx="1640078" cy="386715"/>
            </a:xfrm>
            <a:custGeom>
              <a:avLst/>
              <a:gdLst/>
              <a:ahLst/>
              <a:cxnLst/>
              <a:rect r="r" b="b" t="t" l="l"/>
              <a:pathLst>
                <a:path h="386715" w="1640078">
                  <a:moveTo>
                    <a:pt x="1449832" y="0"/>
                  </a:moveTo>
                  <a:lnTo>
                    <a:pt x="189992" y="0"/>
                  </a:lnTo>
                  <a:lnTo>
                    <a:pt x="116205" y="14859"/>
                  </a:lnTo>
                  <a:lnTo>
                    <a:pt x="55880" y="55499"/>
                  </a:lnTo>
                  <a:lnTo>
                    <a:pt x="14986" y="115570"/>
                  </a:lnTo>
                  <a:lnTo>
                    <a:pt x="0" y="188976"/>
                  </a:lnTo>
                  <a:lnTo>
                    <a:pt x="0" y="197612"/>
                  </a:lnTo>
                  <a:lnTo>
                    <a:pt x="14986" y="271145"/>
                  </a:lnTo>
                  <a:lnTo>
                    <a:pt x="55880" y="331216"/>
                  </a:lnTo>
                  <a:lnTo>
                    <a:pt x="116332" y="371856"/>
                  </a:lnTo>
                  <a:lnTo>
                    <a:pt x="190119" y="386715"/>
                  </a:lnTo>
                  <a:lnTo>
                    <a:pt x="1449959" y="386715"/>
                  </a:lnTo>
                  <a:lnTo>
                    <a:pt x="1523746" y="371856"/>
                  </a:lnTo>
                  <a:lnTo>
                    <a:pt x="1584198" y="331216"/>
                  </a:lnTo>
                  <a:lnTo>
                    <a:pt x="1625092" y="271018"/>
                  </a:lnTo>
                  <a:lnTo>
                    <a:pt x="1640078" y="197485"/>
                  </a:lnTo>
                  <a:lnTo>
                    <a:pt x="1640078" y="188849"/>
                  </a:lnTo>
                  <a:lnTo>
                    <a:pt x="1624838" y="115570"/>
                  </a:lnTo>
                  <a:lnTo>
                    <a:pt x="1583944" y="55499"/>
                  </a:lnTo>
                  <a:lnTo>
                    <a:pt x="1523492" y="14859"/>
                  </a:lnTo>
                  <a:lnTo>
                    <a:pt x="1449832" y="0"/>
                  </a:lnTo>
                  <a:close/>
                </a:path>
              </a:pathLst>
            </a:custGeom>
            <a:solidFill>
              <a:srgbClr val="FF544F"/>
            </a:solidFill>
            <a:ln w="12700">
              <a:solidFill>
                <a:srgbClr val="000000"/>
              </a:solidFill>
            </a:ln>
          </p:spPr>
        </p:sp>
      </p:grpSp>
      <p:grpSp>
        <p:nvGrpSpPr>
          <p:cNvPr name="Group 41" id="41"/>
          <p:cNvGrpSpPr/>
          <p:nvPr/>
        </p:nvGrpSpPr>
        <p:grpSpPr>
          <a:xfrm rot="0">
            <a:off x="5607558" y="7591995"/>
            <a:ext cx="260412" cy="354139"/>
            <a:chOff x="0" y="0"/>
            <a:chExt cx="347216" cy="472186"/>
          </a:xfrm>
        </p:grpSpPr>
        <p:sp>
          <p:nvSpPr>
            <p:cNvPr name="Freeform 42" id="42"/>
            <p:cNvSpPr/>
            <p:nvPr/>
          </p:nvSpPr>
          <p:spPr>
            <a:xfrm flipH="false" flipV="false" rot="0">
              <a:off x="0" y="0"/>
              <a:ext cx="347218" cy="472186"/>
            </a:xfrm>
            <a:custGeom>
              <a:avLst/>
              <a:gdLst/>
              <a:ahLst/>
              <a:cxnLst/>
              <a:rect r="r" b="b" t="t" l="l"/>
              <a:pathLst>
                <a:path h="472186" w="347218">
                  <a:moveTo>
                    <a:pt x="0" y="0"/>
                  </a:moveTo>
                  <a:lnTo>
                    <a:pt x="347218" y="0"/>
                  </a:lnTo>
                  <a:lnTo>
                    <a:pt x="347218" y="472186"/>
                  </a:lnTo>
                  <a:lnTo>
                    <a:pt x="0" y="472186"/>
                  </a:lnTo>
                  <a:lnTo>
                    <a:pt x="0" y="0"/>
                  </a:lnTo>
                  <a:close/>
                </a:path>
              </a:pathLst>
            </a:custGeom>
            <a:blipFill>
              <a:blip r:embed="rId18"/>
              <a:stretch>
                <a:fillRect l="0" t="0" r="0" b="-87"/>
              </a:stretch>
            </a:blipFill>
          </p:spPr>
        </p:sp>
      </p:grpSp>
      <p:grpSp>
        <p:nvGrpSpPr>
          <p:cNvPr name="Group 43" id="43"/>
          <p:cNvGrpSpPr/>
          <p:nvPr/>
        </p:nvGrpSpPr>
        <p:grpSpPr>
          <a:xfrm rot="0">
            <a:off x="6732460" y="7591995"/>
            <a:ext cx="301560" cy="354139"/>
            <a:chOff x="0" y="0"/>
            <a:chExt cx="402080" cy="472186"/>
          </a:xfrm>
        </p:grpSpPr>
        <p:sp>
          <p:nvSpPr>
            <p:cNvPr name="Freeform 44" id="44"/>
            <p:cNvSpPr/>
            <p:nvPr/>
          </p:nvSpPr>
          <p:spPr>
            <a:xfrm flipH="false" flipV="false" rot="0">
              <a:off x="0" y="0"/>
              <a:ext cx="402082" cy="472186"/>
            </a:xfrm>
            <a:custGeom>
              <a:avLst/>
              <a:gdLst/>
              <a:ahLst/>
              <a:cxnLst/>
              <a:rect r="r" b="b" t="t" l="l"/>
              <a:pathLst>
                <a:path h="472186" w="402082">
                  <a:moveTo>
                    <a:pt x="0" y="0"/>
                  </a:moveTo>
                  <a:lnTo>
                    <a:pt x="402082" y="0"/>
                  </a:lnTo>
                  <a:lnTo>
                    <a:pt x="402082" y="472186"/>
                  </a:lnTo>
                  <a:lnTo>
                    <a:pt x="0" y="472186"/>
                  </a:lnTo>
                  <a:lnTo>
                    <a:pt x="0" y="0"/>
                  </a:lnTo>
                  <a:close/>
                </a:path>
              </a:pathLst>
            </a:custGeom>
            <a:blipFill>
              <a:blip r:embed="rId19"/>
              <a:stretch>
                <a:fillRect l="0" t="0" r="-3055" b="0"/>
              </a:stretch>
            </a:blipFill>
          </p:spPr>
        </p:sp>
      </p:grpSp>
      <p:grpSp>
        <p:nvGrpSpPr>
          <p:cNvPr name="Group 45" id="45"/>
          <p:cNvGrpSpPr/>
          <p:nvPr/>
        </p:nvGrpSpPr>
        <p:grpSpPr>
          <a:xfrm rot="0">
            <a:off x="5632894" y="7623999"/>
            <a:ext cx="1229678" cy="290512"/>
            <a:chOff x="0" y="0"/>
            <a:chExt cx="1639570" cy="387350"/>
          </a:xfrm>
        </p:grpSpPr>
        <p:sp>
          <p:nvSpPr>
            <p:cNvPr name="Freeform 46" id="46"/>
            <p:cNvSpPr/>
            <p:nvPr/>
          </p:nvSpPr>
          <p:spPr>
            <a:xfrm flipH="false" flipV="false" rot="0">
              <a:off x="0" y="0"/>
              <a:ext cx="1639316" cy="386842"/>
            </a:xfrm>
            <a:custGeom>
              <a:avLst/>
              <a:gdLst/>
              <a:ahLst/>
              <a:cxnLst/>
              <a:rect r="r" b="b" t="t" l="l"/>
              <a:pathLst>
                <a:path h="386842" w="1639316">
                  <a:moveTo>
                    <a:pt x="1449578" y="0"/>
                  </a:moveTo>
                  <a:lnTo>
                    <a:pt x="189738" y="0"/>
                  </a:lnTo>
                  <a:lnTo>
                    <a:pt x="116078" y="14859"/>
                  </a:lnTo>
                  <a:lnTo>
                    <a:pt x="55753" y="55499"/>
                  </a:lnTo>
                  <a:lnTo>
                    <a:pt x="14986" y="115570"/>
                  </a:lnTo>
                  <a:lnTo>
                    <a:pt x="0" y="188976"/>
                  </a:lnTo>
                  <a:lnTo>
                    <a:pt x="0" y="197612"/>
                  </a:lnTo>
                  <a:lnTo>
                    <a:pt x="14986" y="271145"/>
                  </a:lnTo>
                  <a:lnTo>
                    <a:pt x="55753" y="331343"/>
                  </a:lnTo>
                  <a:lnTo>
                    <a:pt x="116078" y="371983"/>
                  </a:lnTo>
                  <a:lnTo>
                    <a:pt x="189738" y="386842"/>
                  </a:lnTo>
                  <a:lnTo>
                    <a:pt x="1449578" y="386842"/>
                  </a:lnTo>
                  <a:lnTo>
                    <a:pt x="1523238" y="371983"/>
                  </a:lnTo>
                  <a:lnTo>
                    <a:pt x="1583563" y="331343"/>
                  </a:lnTo>
                  <a:lnTo>
                    <a:pt x="1624330" y="271145"/>
                  </a:lnTo>
                  <a:lnTo>
                    <a:pt x="1639316" y="197612"/>
                  </a:lnTo>
                  <a:lnTo>
                    <a:pt x="1639316" y="188976"/>
                  </a:lnTo>
                  <a:lnTo>
                    <a:pt x="1624330" y="115570"/>
                  </a:lnTo>
                  <a:lnTo>
                    <a:pt x="1583563" y="55499"/>
                  </a:lnTo>
                  <a:lnTo>
                    <a:pt x="1523238" y="14859"/>
                  </a:lnTo>
                  <a:lnTo>
                    <a:pt x="1449578" y="0"/>
                  </a:lnTo>
                  <a:close/>
                </a:path>
              </a:pathLst>
            </a:custGeom>
            <a:solidFill>
              <a:srgbClr val="FF544F"/>
            </a:solidFill>
            <a:ln w="12700">
              <a:solidFill>
                <a:srgbClr val="000000"/>
              </a:solidFill>
            </a:ln>
          </p:spPr>
        </p:sp>
      </p:grpSp>
      <p:grpSp>
        <p:nvGrpSpPr>
          <p:cNvPr name="Group 47" id="47"/>
          <p:cNvGrpSpPr/>
          <p:nvPr/>
        </p:nvGrpSpPr>
        <p:grpSpPr>
          <a:xfrm rot="0">
            <a:off x="5314950" y="7523415"/>
            <a:ext cx="489585" cy="489585"/>
            <a:chOff x="0" y="0"/>
            <a:chExt cx="652780" cy="652780"/>
          </a:xfrm>
        </p:grpSpPr>
        <p:sp>
          <p:nvSpPr>
            <p:cNvPr name="Freeform 48" id="48"/>
            <p:cNvSpPr/>
            <p:nvPr/>
          </p:nvSpPr>
          <p:spPr>
            <a:xfrm flipH="false" flipV="false" rot="0">
              <a:off x="0" y="0"/>
              <a:ext cx="652145" cy="651891"/>
            </a:xfrm>
            <a:custGeom>
              <a:avLst/>
              <a:gdLst/>
              <a:ahLst/>
              <a:cxnLst/>
              <a:rect r="r" b="b" t="t" l="l"/>
              <a:pathLst>
                <a:path h="651891" w="652145">
                  <a:moveTo>
                    <a:pt x="326136" y="0"/>
                  </a:moveTo>
                  <a:lnTo>
                    <a:pt x="239776" y="11684"/>
                  </a:lnTo>
                  <a:lnTo>
                    <a:pt x="161925" y="44577"/>
                  </a:lnTo>
                  <a:lnTo>
                    <a:pt x="95885" y="95631"/>
                  </a:lnTo>
                  <a:lnTo>
                    <a:pt x="44704" y="161671"/>
                  </a:lnTo>
                  <a:lnTo>
                    <a:pt x="11684" y="239395"/>
                  </a:lnTo>
                  <a:lnTo>
                    <a:pt x="0" y="325882"/>
                  </a:lnTo>
                  <a:lnTo>
                    <a:pt x="11684" y="412877"/>
                  </a:lnTo>
                  <a:lnTo>
                    <a:pt x="44704" y="490855"/>
                  </a:lnTo>
                  <a:lnTo>
                    <a:pt x="95885" y="556768"/>
                  </a:lnTo>
                  <a:lnTo>
                    <a:pt x="161925" y="607568"/>
                  </a:lnTo>
                  <a:lnTo>
                    <a:pt x="239776" y="640334"/>
                  </a:lnTo>
                  <a:lnTo>
                    <a:pt x="326136" y="651891"/>
                  </a:lnTo>
                  <a:lnTo>
                    <a:pt x="413131" y="640334"/>
                  </a:lnTo>
                  <a:lnTo>
                    <a:pt x="491109" y="607568"/>
                  </a:lnTo>
                  <a:lnTo>
                    <a:pt x="557022" y="556768"/>
                  </a:lnTo>
                  <a:lnTo>
                    <a:pt x="607822" y="490855"/>
                  </a:lnTo>
                  <a:lnTo>
                    <a:pt x="640588" y="412877"/>
                  </a:lnTo>
                  <a:lnTo>
                    <a:pt x="652145" y="325882"/>
                  </a:lnTo>
                  <a:lnTo>
                    <a:pt x="640588" y="239522"/>
                  </a:lnTo>
                  <a:lnTo>
                    <a:pt x="607822" y="161798"/>
                  </a:lnTo>
                  <a:lnTo>
                    <a:pt x="557022" y="95758"/>
                  </a:lnTo>
                  <a:lnTo>
                    <a:pt x="491109" y="44704"/>
                  </a:lnTo>
                  <a:lnTo>
                    <a:pt x="413131" y="11684"/>
                  </a:lnTo>
                  <a:lnTo>
                    <a:pt x="326136" y="0"/>
                  </a:lnTo>
                  <a:close/>
                </a:path>
              </a:pathLst>
            </a:custGeom>
            <a:solidFill>
              <a:srgbClr val="095B6E"/>
            </a:solidFill>
            <a:ln w="12700">
              <a:solidFill>
                <a:srgbClr val="000000"/>
              </a:solidFill>
            </a:ln>
          </p:spPr>
        </p:sp>
      </p:grpSp>
      <p:grpSp>
        <p:nvGrpSpPr>
          <p:cNvPr name="Group 49" id="49"/>
          <p:cNvGrpSpPr/>
          <p:nvPr/>
        </p:nvGrpSpPr>
        <p:grpSpPr>
          <a:xfrm rot="0">
            <a:off x="5351716" y="7559991"/>
            <a:ext cx="416243" cy="418147"/>
            <a:chOff x="0" y="0"/>
            <a:chExt cx="554990" cy="557530"/>
          </a:xfrm>
        </p:grpSpPr>
        <p:sp>
          <p:nvSpPr>
            <p:cNvPr name="Freeform 50" id="50"/>
            <p:cNvSpPr/>
            <p:nvPr/>
          </p:nvSpPr>
          <p:spPr>
            <a:xfrm flipH="false" flipV="false" rot="0">
              <a:off x="0" y="0"/>
              <a:ext cx="554355" cy="557530"/>
            </a:xfrm>
            <a:custGeom>
              <a:avLst/>
              <a:gdLst/>
              <a:ahLst/>
              <a:cxnLst/>
              <a:rect r="r" b="b" t="t" l="l"/>
              <a:pathLst>
                <a:path h="557530" w="554355">
                  <a:moveTo>
                    <a:pt x="276352" y="0"/>
                  </a:moveTo>
                  <a:lnTo>
                    <a:pt x="188595" y="14224"/>
                  </a:lnTo>
                  <a:lnTo>
                    <a:pt x="112649" y="53721"/>
                  </a:lnTo>
                  <a:lnTo>
                    <a:pt x="52959" y="114046"/>
                  </a:lnTo>
                  <a:lnTo>
                    <a:pt x="13970" y="190246"/>
                  </a:lnTo>
                  <a:lnTo>
                    <a:pt x="0" y="277876"/>
                  </a:lnTo>
                  <a:lnTo>
                    <a:pt x="13970" y="366268"/>
                  </a:lnTo>
                  <a:lnTo>
                    <a:pt x="52959" y="442976"/>
                  </a:lnTo>
                  <a:lnTo>
                    <a:pt x="112649" y="503555"/>
                  </a:lnTo>
                  <a:lnTo>
                    <a:pt x="188595" y="543306"/>
                  </a:lnTo>
                  <a:lnTo>
                    <a:pt x="276352" y="557530"/>
                  </a:lnTo>
                  <a:lnTo>
                    <a:pt x="364109" y="543306"/>
                  </a:lnTo>
                  <a:lnTo>
                    <a:pt x="440436" y="503555"/>
                  </a:lnTo>
                  <a:lnTo>
                    <a:pt x="500634" y="442976"/>
                  </a:lnTo>
                  <a:lnTo>
                    <a:pt x="540131" y="366268"/>
                  </a:lnTo>
                  <a:lnTo>
                    <a:pt x="554355" y="277876"/>
                  </a:lnTo>
                  <a:lnTo>
                    <a:pt x="540131" y="190246"/>
                  </a:lnTo>
                  <a:lnTo>
                    <a:pt x="500634" y="114046"/>
                  </a:lnTo>
                  <a:lnTo>
                    <a:pt x="440436" y="53848"/>
                  </a:lnTo>
                  <a:lnTo>
                    <a:pt x="364109" y="14351"/>
                  </a:lnTo>
                  <a:lnTo>
                    <a:pt x="276352" y="0"/>
                  </a:lnTo>
                  <a:close/>
                </a:path>
              </a:pathLst>
            </a:custGeom>
            <a:solidFill>
              <a:srgbClr val="FFFFFF"/>
            </a:solidFill>
            <a:ln w="12700">
              <a:solidFill>
                <a:srgbClr val="000000"/>
              </a:solidFill>
            </a:ln>
          </p:spPr>
        </p:sp>
      </p:grpSp>
      <p:sp>
        <p:nvSpPr>
          <p:cNvPr name="Freeform 51" id="51"/>
          <p:cNvSpPr/>
          <p:nvPr/>
        </p:nvSpPr>
        <p:spPr>
          <a:xfrm flipH="false" flipV="false" rot="0">
            <a:off x="5381244" y="7589518"/>
            <a:ext cx="357188" cy="357188"/>
          </a:xfrm>
          <a:custGeom>
            <a:avLst/>
            <a:gdLst/>
            <a:ahLst/>
            <a:cxnLst/>
            <a:rect r="r" b="b" t="t" l="l"/>
            <a:pathLst>
              <a:path h="357188" w="357188">
                <a:moveTo>
                  <a:pt x="0" y="0"/>
                </a:moveTo>
                <a:lnTo>
                  <a:pt x="357188" y="0"/>
                </a:lnTo>
                <a:lnTo>
                  <a:pt x="357188" y="357188"/>
                </a:lnTo>
                <a:lnTo>
                  <a:pt x="0" y="35718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52" id="52"/>
          <p:cNvGrpSpPr/>
          <p:nvPr/>
        </p:nvGrpSpPr>
        <p:grpSpPr>
          <a:xfrm rot="0">
            <a:off x="5484114" y="7637715"/>
            <a:ext cx="203454" cy="141542"/>
            <a:chOff x="0" y="0"/>
            <a:chExt cx="271272" cy="188722"/>
          </a:xfrm>
        </p:grpSpPr>
        <p:sp>
          <p:nvSpPr>
            <p:cNvPr name="Freeform 53" id="53"/>
            <p:cNvSpPr/>
            <p:nvPr/>
          </p:nvSpPr>
          <p:spPr>
            <a:xfrm flipH="false" flipV="false" rot="0">
              <a:off x="0" y="0"/>
              <a:ext cx="271272" cy="188722"/>
            </a:xfrm>
            <a:custGeom>
              <a:avLst/>
              <a:gdLst/>
              <a:ahLst/>
              <a:cxnLst/>
              <a:rect r="r" b="b" t="t" l="l"/>
              <a:pathLst>
                <a:path h="188722" w="271272">
                  <a:moveTo>
                    <a:pt x="0" y="0"/>
                  </a:moveTo>
                  <a:lnTo>
                    <a:pt x="271272" y="0"/>
                  </a:lnTo>
                  <a:lnTo>
                    <a:pt x="271272" y="188722"/>
                  </a:lnTo>
                  <a:lnTo>
                    <a:pt x="0" y="188722"/>
                  </a:lnTo>
                  <a:lnTo>
                    <a:pt x="0" y="0"/>
                  </a:lnTo>
                  <a:close/>
                </a:path>
              </a:pathLst>
            </a:custGeom>
            <a:blipFill>
              <a:blip r:embed="rId22"/>
              <a:stretch>
                <a:fillRect l="0" t="0" r="0" b="-2672"/>
              </a:stretch>
            </a:blipFill>
          </p:spPr>
        </p:sp>
      </p:grpSp>
      <p:grpSp>
        <p:nvGrpSpPr>
          <p:cNvPr name="Group 54" id="54"/>
          <p:cNvGrpSpPr/>
          <p:nvPr/>
        </p:nvGrpSpPr>
        <p:grpSpPr>
          <a:xfrm rot="0">
            <a:off x="6320790" y="7616951"/>
            <a:ext cx="610551" cy="301943"/>
            <a:chOff x="0" y="0"/>
            <a:chExt cx="814068" cy="402590"/>
          </a:xfrm>
        </p:grpSpPr>
        <p:sp>
          <p:nvSpPr>
            <p:cNvPr name="Freeform 55" id="55"/>
            <p:cNvSpPr/>
            <p:nvPr/>
          </p:nvSpPr>
          <p:spPr>
            <a:xfrm flipH="false" flipV="false" rot="0">
              <a:off x="0" y="0"/>
              <a:ext cx="164338" cy="402336"/>
            </a:xfrm>
            <a:custGeom>
              <a:avLst/>
              <a:gdLst/>
              <a:ahLst/>
              <a:cxnLst/>
              <a:rect r="r" b="b" t="t" l="l"/>
              <a:pathLst>
                <a:path h="402336" w="164338">
                  <a:moveTo>
                    <a:pt x="164338" y="11684"/>
                  </a:moveTo>
                  <a:lnTo>
                    <a:pt x="152400" y="0"/>
                  </a:lnTo>
                  <a:lnTo>
                    <a:pt x="10160" y="0"/>
                  </a:lnTo>
                  <a:lnTo>
                    <a:pt x="0" y="11684"/>
                  </a:lnTo>
                  <a:lnTo>
                    <a:pt x="0" y="392176"/>
                  </a:lnTo>
                  <a:lnTo>
                    <a:pt x="10160" y="402336"/>
                  </a:lnTo>
                  <a:lnTo>
                    <a:pt x="152400" y="402336"/>
                  </a:lnTo>
                  <a:lnTo>
                    <a:pt x="164338" y="392176"/>
                  </a:lnTo>
                  <a:lnTo>
                    <a:pt x="164338" y="25400"/>
                  </a:lnTo>
                  <a:lnTo>
                    <a:pt x="164338" y="11684"/>
                  </a:lnTo>
                  <a:close/>
                </a:path>
              </a:pathLst>
            </a:custGeom>
            <a:solidFill>
              <a:srgbClr val="095B6E"/>
            </a:solidFill>
            <a:ln w="12700">
              <a:solidFill>
                <a:srgbClr val="000000"/>
              </a:solidFill>
            </a:ln>
          </p:spPr>
        </p:sp>
        <p:sp>
          <p:nvSpPr>
            <p:cNvPr name="Freeform 56" id="56"/>
            <p:cNvSpPr/>
            <p:nvPr/>
          </p:nvSpPr>
          <p:spPr>
            <a:xfrm flipH="false" flipV="false" rot="0">
              <a:off x="624840" y="179832"/>
              <a:ext cx="188976" cy="42418"/>
            </a:xfrm>
            <a:custGeom>
              <a:avLst/>
              <a:gdLst/>
              <a:ahLst/>
              <a:cxnLst/>
              <a:rect r="r" b="b" t="t" l="l"/>
              <a:pathLst>
                <a:path h="42418" w="188976">
                  <a:moveTo>
                    <a:pt x="188976" y="8382"/>
                  </a:moveTo>
                  <a:lnTo>
                    <a:pt x="180594" y="0"/>
                  </a:lnTo>
                  <a:lnTo>
                    <a:pt x="10160" y="0"/>
                  </a:lnTo>
                  <a:lnTo>
                    <a:pt x="0" y="8382"/>
                  </a:lnTo>
                  <a:lnTo>
                    <a:pt x="0" y="32258"/>
                  </a:lnTo>
                  <a:lnTo>
                    <a:pt x="10160" y="42418"/>
                  </a:lnTo>
                  <a:lnTo>
                    <a:pt x="180594" y="42418"/>
                  </a:lnTo>
                  <a:lnTo>
                    <a:pt x="188976" y="32258"/>
                  </a:lnTo>
                  <a:lnTo>
                    <a:pt x="188976" y="20574"/>
                  </a:lnTo>
                  <a:lnTo>
                    <a:pt x="188976" y="8382"/>
                  </a:lnTo>
                  <a:close/>
                </a:path>
              </a:pathLst>
            </a:custGeom>
            <a:solidFill>
              <a:srgbClr val="095B6E"/>
            </a:solidFill>
            <a:ln w="12700">
              <a:solidFill>
                <a:srgbClr val="000000"/>
              </a:solidFill>
            </a:ln>
          </p:spPr>
        </p:sp>
      </p:grpSp>
      <p:sp>
        <p:nvSpPr>
          <p:cNvPr name="Freeform 57" id="57"/>
          <p:cNvSpPr/>
          <p:nvPr/>
        </p:nvSpPr>
        <p:spPr>
          <a:xfrm flipH="false" flipV="false" rot="0">
            <a:off x="4343590" y="7744966"/>
            <a:ext cx="548640" cy="52388"/>
          </a:xfrm>
          <a:custGeom>
            <a:avLst/>
            <a:gdLst/>
            <a:ahLst/>
            <a:cxnLst/>
            <a:rect r="r" b="b" t="t" l="l"/>
            <a:pathLst>
              <a:path h="52388" w="548640">
                <a:moveTo>
                  <a:pt x="0" y="0"/>
                </a:moveTo>
                <a:lnTo>
                  <a:pt x="548640" y="0"/>
                </a:lnTo>
                <a:lnTo>
                  <a:pt x="548640" y="52388"/>
                </a:lnTo>
                <a:lnTo>
                  <a:pt x="0" y="52388"/>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58" id="58"/>
          <p:cNvSpPr/>
          <p:nvPr/>
        </p:nvSpPr>
        <p:spPr>
          <a:xfrm flipH="false" flipV="false" rot="0">
            <a:off x="5326380" y="1819845"/>
            <a:ext cx="1900238" cy="1404176"/>
          </a:xfrm>
          <a:custGeom>
            <a:avLst/>
            <a:gdLst/>
            <a:ahLst/>
            <a:cxnLst/>
            <a:rect r="r" b="b" t="t" l="l"/>
            <a:pathLst>
              <a:path h="1404176" w="1900238">
                <a:moveTo>
                  <a:pt x="0" y="0"/>
                </a:moveTo>
                <a:lnTo>
                  <a:pt x="1900238" y="0"/>
                </a:lnTo>
                <a:lnTo>
                  <a:pt x="1900238" y="1404176"/>
                </a:lnTo>
                <a:lnTo>
                  <a:pt x="0" y="140417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59" id="59"/>
          <p:cNvSpPr txBox="true"/>
          <p:nvPr/>
        </p:nvSpPr>
        <p:spPr>
          <a:xfrm rot="0">
            <a:off x="11639931" y="2268790"/>
            <a:ext cx="1158677" cy="1562100"/>
          </a:xfrm>
          <a:prstGeom prst="rect">
            <a:avLst/>
          </a:prstGeom>
        </p:spPr>
        <p:txBody>
          <a:bodyPr anchor="t" rtlCol="false" tIns="0" lIns="0" bIns="0" rIns="0">
            <a:spAutoFit/>
          </a:bodyPr>
          <a:lstStyle/>
          <a:p>
            <a:pPr algn="l">
              <a:lnSpc>
                <a:spcPts val="10800"/>
              </a:lnSpc>
            </a:pPr>
            <a:r>
              <a:rPr lang="en-US" sz="9000">
                <a:solidFill>
                  <a:srgbClr val="002C6B"/>
                </a:solidFill>
                <a:latin typeface="Calibri (MS)"/>
                <a:ea typeface="Calibri (MS)"/>
                <a:cs typeface="Calibri (MS)"/>
                <a:sym typeface="Calibri (MS)"/>
              </a:rPr>
              <a:t>01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10025426" y="5983201"/>
            <a:ext cx="5410677" cy="2818423"/>
          </a:xfrm>
          <a:custGeom>
            <a:avLst/>
            <a:gdLst/>
            <a:ahLst/>
            <a:cxnLst/>
            <a:rect r="r" b="b" t="t" l="l"/>
            <a:pathLst>
              <a:path h="2818423" w="5410677">
                <a:moveTo>
                  <a:pt x="0" y="0"/>
                </a:moveTo>
                <a:lnTo>
                  <a:pt x="5410677" y="0"/>
                </a:lnTo>
                <a:lnTo>
                  <a:pt x="5410677" y="2818424"/>
                </a:lnTo>
                <a:lnTo>
                  <a:pt x="0" y="2818424"/>
                </a:lnTo>
                <a:lnTo>
                  <a:pt x="0" y="0"/>
                </a:lnTo>
                <a:close/>
              </a:path>
            </a:pathLst>
          </a:custGeom>
          <a:blipFill>
            <a:blip r:embed="rId4"/>
            <a:stretch>
              <a:fillRect l="0" t="0" r="0" b="0"/>
            </a:stretch>
          </a:blipFill>
        </p:spPr>
      </p:sp>
      <p:sp>
        <p:nvSpPr>
          <p:cNvPr name="Freeform 9" id="9"/>
          <p:cNvSpPr/>
          <p:nvPr/>
        </p:nvSpPr>
        <p:spPr>
          <a:xfrm flipH="false" flipV="false" rot="0">
            <a:off x="12358627" y="1745852"/>
            <a:ext cx="5096473" cy="3397648"/>
          </a:xfrm>
          <a:custGeom>
            <a:avLst/>
            <a:gdLst/>
            <a:ahLst/>
            <a:cxnLst/>
            <a:rect r="r" b="b" t="t" l="l"/>
            <a:pathLst>
              <a:path h="3397648" w="5096473">
                <a:moveTo>
                  <a:pt x="0" y="0"/>
                </a:moveTo>
                <a:lnTo>
                  <a:pt x="5096473" y="0"/>
                </a:lnTo>
                <a:lnTo>
                  <a:pt x="5096473" y="3397648"/>
                </a:lnTo>
                <a:lnTo>
                  <a:pt x="0" y="3397648"/>
                </a:lnTo>
                <a:lnTo>
                  <a:pt x="0" y="0"/>
                </a:lnTo>
                <a:close/>
              </a:path>
            </a:pathLst>
          </a:custGeom>
          <a:blipFill>
            <a:blip r:embed="rId5"/>
            <a:stretch>
              <a:fillRect l="0" t="0" r="0" b="0"/>
            </a:stretch>
          </a:blipFill>
        </p:spPr>
      </p:sp>
      <p:sp>
        <p:nvSpPr>
          <p:cNvPr name="TextBox 10" id="10"/>
          <p:cNvSpPr txBox="true"/>
          <p:nvPr/>
        </p:nvSpPr>
        <p:spPr>
          <a:xfrm rot="0">
            <a:off x="1665618" y="468762"/>
            <a:ext cx="2044105"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Tổng quan</a:t>
            </a:r>
          </a:p>
        </p:txBody>
      </p:sp>
      <p:sp>
        <p:nvSpPr>
          <p:cNvPr name="TextBox 11" id="11"/>
          <p:cNvSpPr txBox="true"/>
          <p:nvPr/>
        </p:nvSpPr>
        <p:spPr>
          <a:xfrm rot="0">
            <a:off x="615582" y="474096"/>
            <a:ext cx="578168" cy="751855"/>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01</a:t>
            </a:r>
          </a:p>
        </p:txBody>
      </p:sp>
      <p:sp>
        <p:nvSpPr>
          <p:cNvPr name="TextBox 12" id="12"/>
          <p:cNvSpPr txBox="true"/>
          <p:nvPr/>
        </p:nvSpPr>
        <p:spPr>
          <a:xfrm rot="0">
            <a:off x="763211" y="1713648"/>
            <a:ext cx="2669679" cy="609600"/>
          </a:xfrm>
          <a:prstGeom prst="rect">
            <a:avLst/>
          </a:prstGeom>
        </p:spPr>
        <p:txBody>
          <a:bodyPr anchor="t" rtlCol="false" tIns="0" lIns="0" bIns="0" rIns="0">
            <a:spAutoFit/>
          </a:bodyPr>
          <a:lstStyle/>
          <a:p>
            <a:pPr algn="ctr">
              <a:lnSpc>
                <a:spcPts val="4200"/>
              </a:lnSpc>
              <a:spcBef>
                <a:spcPct val="0"/>
              </a:spcBef>
            </a:pPr>
            <a:r>
              <a:rPr lang="en-US" b="true" sz="3500">
                <a:solidFill>
                  <a:srgbClr val="000000"/>
                </a:solidFill>
                <a:latin typeface="Calibri (MS) Bold"/>
                <a:ea typeface="Calibri (MS) Bold"/>
                <a:cs typeface="Calibri (MS) Bold"/>
                <a:sym typeface="Calibri (MS) Bold"/>
              </a:rPr>
              <a:t>Dịch máy là gì</a:t>
            </a:r>
            <a:r>
              <a:rPr lang="en-US" b="true" sz="3500">
                <a:solidFill>
                  <a:srgbClr val="000000"/>
                </a:solidFill>
                <a:latin typeface="Calibri (MS) Bold"/>
                <a:ea typeface="Calibri (MS) Bold"/>
                <a:cs typeface="Calibri (MS) Bold"/>
                <a:sym typeface="Calibri (MS) Bold"/>
              </a:rPr>
              <a:t>:</a:t>
            </a:r>
          </a:p>
        </p:txBody>
      </p:sp>
      <p:sp>
        <p:nvSpPr>
          <p:cNvPr name="TextBox 13" id="13"/>
          <p:cNvSpPr txBox="true"/>
          <p:nvPr/>
        </p:nvSpPr>
        <p:spPr>
          <a:xfrm rot="0">
            <a:off x="763211" y="2820469"/>
            <a:ext cx="8968189" cy="2590800"/>
          </a:xfrm>
          <a:prstGeom prst="rect">
            <a:avLst/>
          </a:prstGeom>
        </p:spPr>
        <p:txBody>
          <a:bodyPr anchor="t" rtlCol="false" tIns="0" lIns="0" bIns="0" rIns="0">
            <a:spAutoFit/>
          </a:bodyPr>
          <a:lstStyle/>
          <a:p>
            <a:pPr algn="l" marL="718202" indent="-359101" lvl="1">
              <a:lnSpc>
                <a:spcPts val="3991"/>
              </a:lnSpc>
              <a:buAutoNum type="arabicPeriod" startAt="1"/>
            </a:pPr>
            <a:r>
              <a:rPr lang="en-US" sz="3326">
                <a:solidFill>
                  <a:srgbClr val="000000"/>
                </a:solidFill>
                <a:latin typeface="Calibri (MS)"/>
                <a:ea typeface="Calibri (MS)"/>
                <a:cs typeface="Calibri (MS)"/>
                <a:sym typeface="Calibri (MS)"/>
              </a:rPr>
              <a:t> Một trong những bài toán trong lĩnh vực xử lý ngôn ngữ tự nhiên</a:t>
            </a:r>
          </a:p>
          <a:p>
            <a:pPr algn="l" marL="718202" indent="-359101" lvl="1">
              <a:lnSpc>
                <a:spcPts val="3991"/>
              </a:lnSpc>
              <a:buAutoNum type="arabicPeriod" startAt="1"/>
            </a:pPr>
            <a:r>
              <a:rPr lang="en-US" sz="3326">
                <a:solidFill>
                  <a:srgbClr val="000000"/>
                </a:solidFill>
                <a:latin typeface="Calibri (MS)"/>
                <a:ea typeface="Calibri (MS)"/>
                <a:cs typeface="Calibri (MS)"/>
                <a:sym typeface="Calibri (MS)"/>
              </a:rPr>
              <a:t> Mục tiêu là tự chuyển đổi văn bản từ ngôn ngữ nguồn sang ngôn ngữ đích sao cho giữ nguyên ngữ nghĩa, đảm bảo sự mạch lạc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TextBox 8" id="8"/>
          <p:cNvSpPr txBox="true"/>
          <p:nvPr/>
        </p:nvSpPr>
        <p:spPr>
          <a:xfrm rot="0">
            <a:off x="1665618" y="468762"/>
            <a:ext cx="2044105"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Tổng quan</a:t>
            </a:r>
          </a:p>
        </p:txBody>
      </p:sp>
      <p:sp>
        <p:nvSpPr>
          <p:cNvPr name="TextBox 9" id="9"/>
          <p:cNvSpPr txBox="true"/>
          <p:nvPr/>
        </p:nvSpPr>
        <p:spPr>
          <a:xfrm rot="0">
            <a:off x="615582" y="474096"/>
            <a:ext cx="578168" cy="751855"/>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01</a:t>
            </a:r>
          </a:p>
        </p:txBody>
      </p:sp>
      <p:sp>
        <p:nvSpPr>
          <p:cNvPr name="TextBox 10" id="10"/>
          <p:cNvSpPr txBox="true"/>
          <p:nvPr/>
        </p:nvSpPr>
        <p:spPr>
          <a:xfrm rot="0">
            <a:off x="615582" y="1337110"/>
            <a:ext cx="7470180" cy="609600"/>
          </a:xfrm>
          <a:prstGeom prst="rect">
            <a:avLst/>
          </a:prstGeom>
        </p:spPr>
        <p:txBody>
          <a:bodyPr anchor="t" rtlCol="false" tIns="0" lIns="0" bIns="0" rIns="0">
            <a:spAutoFit/>
          </a:bodyPr>
          <a:lstStyle/>
          <a:p>
            <a:pPr algn="ctr">
              <a:lnSpc>
                <a:spcPts val="4200"/>
              </a:lnSpc>
              <a:spcBef>
                <a:spcPct val="0"/>
              </a:spcBef>
            </a:pPr>
            <a:r>
              <a:rPr lang="en-US" b="true" sz="3500">
                <a:solidFill>
                  <a:srgbClr val="000000"/>
                </a:solidFill>
                <a:latin typeface="Calibri (MS) Bold"/>
                <a:ea typeface="Calibri (MS) Bold"/>
                <a:cs typeface="Calibri (MS) Bold"/>
                <a:sym typeface="Calibri (MS) Bold"/>
              </a:rPr>
              <a:t>Đóng góp của nhóm (Key Contributions):</a:t>
            </a:r>
          </a:p>
        </p:txBody>
      </p:sp>
      <p:sp>
        <p:nvSpPr>
          <p:cNvPr name="TextBox 11" id="11"/>
          <p:cNvSpPr txBox="true"/>
          <p:nvPr/>
        </p:nvSpPr>
        <p:spPr>
          <a:xfrm rot="0">
            <a:off x="175811" y="2067393"/>
            <a:ext cx="15819027" cy="2085975"/>
          </a:xfrm>
          <a:prstGeom prst="rect">
            <a:avLst/>
          </a:prstGeom>
        </p:spPr>
        <p:txBody>
          <a:bodyPr anchor="t" rtlCol="false" tIns="0" lIns="0" bIns="0" rIns="0">
            <a:spAutoFit/>
          </a:bodyPr>
          <a:lstStyle/>
          <a:p>
            <a:pPr algn="l" marL="718202" indent="-359101" lvl="1">
              <a:lnSpc>
                <a:spcPts val="3991"/>
              </a:lnSpc>
              <a:spcBef>
                <a:spcPct val="0"/>
              </a:spcBef>
              <a:buAutoNum type="arabicPeriod" startAt="1"/>
            </a:pPr>
            <a:r>
              <a:rPr lang="en-US" sz="3326">
                <a:solidFill>
                  <a:srgbClr val="000000"/>
                </a:solidFill>
                <a:latin typeface="Calibri (MS)"/>
                <a:ea typeface="Calibri (MS)"/>
                <a:cs typeface="Calibri (MS)"/>
                <a:sym typeface="Calibri (MS)"/>
              </a:rPr>
              <a:t>Engineering: </a:t>
            </a:r>
          </a:p>
          <a:p>
            <a:pPr algn="l" marL="718202" indent="-359101" lvl="1">
              <a:lnSpc>
                <a:spcPts val="3991"/>
              </a:lnSpc>
              <a:buFont typeface="Arial"/>
              <a:buChar char="•"/>
            </a:pPr>
            <a:r>
              <a:rPr lang="en-US" sz="3326">
                <a:solidFill>
                  <a:srgbClr val="000000"/>
                </a:solidFill>
                <a:latin typeface="Calibri (MS)"/>
                <a:ea typeface="Calibri (MS)"/>
                <a:cs typeface="Calibri (MS)"/>
                <a:sym typeface="Calibri (MS)"/>
              </a:rPr>
              <a:t>Tự xây dựng toàn bộ kiến trúc Transformer (Encoder, Decoder, Attention) bằng PyTorch, không dùng thư viện có sẵn.</a:t>
            </a:r>
          </a:p>
          <a:p>
            <a:pPr algn="l" marL="718202" indent="-359101" lvl="1">
              <a:lnSpc>
                <a:spcPts val="3991"/>
              </a:lnSpc>
              <a:buFont typeface="Arial"/>
              <a:buChar char="•"/>
            </a:pPr>
            <a:r>
              <a:rPr lang="en-US" sz="3326">
                <a:solidFill>
                  <a:srgbClr val="000000"/>
                </a:solidFill>
                <a:latin typeface="Calibri (MS)"/>
                <a:ea typeface="Calibri (MS)"/>
                <a:cs typeface="Calibri (MS)"/>
                <a:sym typeface="Calibri (MS)"/>
              </a:rPr>
              <a:t>Finetune với VLSP dataset</a:t>
            </a:r>
          </a:p>
        </p:txBody>
      </p:sp>
      <p:sp>
        <p:nvSpPr>
          <p:cNvPr name="TextBox 12" id="12"/>
          <p:cNvSpPr txBox="true"/>
          <p:nvPr/>
        </p:nvSpPr>
        <p:spPr>
          <a:xfrm rot="0">
            <a:off x="175811" y="4154561"/>
            <a:ext cx="15438428" cy="2590800"/>
          </a:xfrm>
          <a:prstGeom prst="rect">
            <a:avLst/>
          </a:prstGeom>
        </p:spPr>
        <p:txBody>
          <a:bodyPr anchor="t" rtlCol="false" tIns="0" lIns="0" bIns="0" rIns="0">
            <a:spAutoFit/>
          </a:bodyPr>
          <a:lstStyle/>
          <a:p>
            <a:pPr algn="l" marL="718202" indent="-359101" lvl="1">
              <a:lnSpc>
                <a:spcPts val="3991"/>
              </a:lnSpc>
              <a:spcBef>
                <a:spcPct val="0"/>
              </a:spcBef>
              <a:buAutoNum type="arabicPeriod" startAt="1"/>
            </a:pPr>
            <a:r>
              <a:rPr lang="en-US" sz="3326">
                <a:solidFill>
                  <a:srgbClr val="000000"/>
                </a:solidFill>
                <a:latin typeface="Calibri (MS)"/>
                <a:ea typeface="Calibri (MS)"/>
                <a:cs typeface="Calibri (MS)"/>
                <a:sym typeface="Calibri (MS)"/>
              </a:rPr>
              <a:t>Algorithm: </a:t>
            </a:r>
          </a:p>
          <a:p>
            <a:pPr algn="l" marL="718202" indent="-359101" lvl="1">
              <a:lnSpc>
                <a:spcPts val="3991"/>
              </a:lnSpc>
              <a:spcBef>
                <a:spcPct val="0"/>
              </a:spcBef>
              <a:buFont typeface="Arial"/>
              <a:buChar char="•"/>
            </a:pPr>
            <a:r>
              <a:rPr lang="en-US" sz="3326">
                <a:solidFill>
                  <a:srgbClr val="000000"/>
                </a:solidFill>
                <a:latin typeface="Calibri (MS)"/>
                <a:ea typeface="Calibri (MS)"/>
                <a:cs typeface="Calibri (MS)"/>
                <a:sym typeface="Calibri (MS)"/>
              </a:rPr>
              <a:t>Ngoài kiến trúc gốc từ paper sẵn, nhóm có nghiên cứu và bổ sung thêm Beam search</a:t>
            </a:r>
          </a:p>
          <a:p>
            <a:pPr algn="l" marL="718202" indent="-359101" lvl="1">
              <a:lnSpc>
                <a:spcPts val="3991"/>
              </a:lnSpc>
              <a:buFont typeface="Arial"/>
              <a:buChar char="•"/>
            </a:pPr>
            <a:r>
              <a:rPr lang="en-US" sz="3326">
                <a:solidFill>
                  <a:srgbClr val="000000"/>
                </a:solidFill>
                <a:latin typeface="Calibri (MS)"/>
                <a:ea typeface="Calibri (MS)"/>
                <a:cs typeface="Calibri (MS)"/>
                <a:sym typeface="Calibri (MS)"/>
              </a:rPr>
              <a:t>Các loại attention: Scaled-dotproduct, Luong, Bahdanau</a:t>
            </a:r>
          </a:p>
          <a:p>
            <a:pPr algn="l" marL="718202" indent="-359101" lvl="1">
              <a:lnSpc>
                <a:spcPts val="3991"/>
              </a:lnSpc>
              <a:buFont typeface="Arial"/>
              <a:buChar char="•"/>
            </a:pPr>
            <a:r>
              <a:rPr lang="en-US" sz="3326">
                <a:solidFill>
                  <a:srgbClr val="000000"/>
                </a:solidFill>
                <a:latin typeface="Calibri (MS)"/>
                <a:ea typeface="Calibri (MS)"/>
                <a:cs typeface="Calibri (MS)"/>
                <a:sym typeface="Calibri (MS)"/>
              </a:rPr>
              <a:t>Xây dựng kiến trúc Pre-norm -&gt; train ổn định hơn</a:t>
            </a:r>
          </a:p>
          <a:p>
            <a:pPr algn="l">
              <a:lnSpc>
                <a:spcPts val="3991"/>
              </a:lnSpc>
            </a:pPr>
          </a:p>
        </p:txBody>
      </p:sp>
      <p:sp>
        <p:nvSpPr>
          <p:cNvPr name="TextBox 13" id="13"/>
          <p:cNvSpPr txBox="true"/>
          <p:nvPr/>
        </p:nvSpPr>
        <p:spPr>
          <a:xfrm rot="0">
            <a:off x="175811" y="6319106"/>
            <a:ext cx="16111937" cy="3095625"/>
          </a:xfrm>
          <a:prstGeom prst="rect">
            <a:avLst/>
          </a:prstGeom>
        </p:spPr>
        <p:txBody>
          <a:bodyPr anchor="t" rtlCol="false" tIns="0" lIns="0" bIns="0" rIns="0">
            <a:spAutoFit/>
          </a:bodyPr>
          <a:lstStyle/>
          <a:p>
            <a:pPr algn="l" marL="718202" indent="-359101" lvl="1">
              <a:lnSpc>
                <a:spcPts val="3991"/>
              </a:lnSpc>
              <a:spcBef>
                <a:spcPct val="0"/>
              </a:spcBef>
              <a:buAutoNum type="arabicPeriod" startAt="1"/>
            </a:pPr>
            <a:r>
              <a:rPr lang="en-US" sz="3326">
                <a:solidFill>
                  <a:srgbClr val="000000"/>
                </a:solidFill>
                <a:latin typeface="Calibri (MS)"/>
                <a:ea typeface="Calibri (MS)"/>
                <a:cs typeface="Calibri (MS)"/>
                <a:sym typeface="Calibri (MS)"/>
              </a:rPr>
              <a:t>Research: </a:t>
            </a:r>
          </a:p>
          <a:p>
            <a:pPr algn="l" marL="718202" indent="-359101" lvl="1">
              <a:lnSpc>
                <a:spcPts val="3991"/>
              </a:lnSpc>
              <a:buFont typeface="Arial"/>
              <a:buChar char="•"/>
            </a:pPr>
            <a:r>
              <a:rPr lang="en-US" sz="3326">
                <a:solidFill>
                  <a:srgbClr val="000000"/>
                </a:solidFill>
                <a:latin typeface="Calibri (MS)"/>
                <a:ea typeface="Calibri (MS)"/>
                <a:cs typeface="Calibri (MS)"/>
                <a:sym typeface="Calibri (MS)"/>
              </a:rPr>
              <a:t>Cùng một mô hình nếu tăng thêm dataset thì sẽ như nào</a:t>
            </a:r>
          </a:p>
          <a:p>
            <a:pPr algn="l" marL="718202" indent="-359101" lvl="1">
              <a:lnSpc>
                <a:spcPts val="3991"/>
              </a:lnSpc>
              <a:buFont typeface="Arial"/>
              <a:buChar char="•"/>
            </a:pPr>
            <a:r>
              <a:rPr lang="en-US" sz="3326">
                <a:solidFill>
                  <a:srgbClr val="000000"/>
                </a:solidFill>
                <a:latin typeface="Calibri (MS)"/>
                <a:ea typeface="Calibri (MS)"/>
                <a:cs typeface="Calibri (MS)"/>
                <a:sym typeface="Calibri (MS)"/>
              </a:rPr>
              <a:t>So sánh greedy và beam</a:t>
            </a:r>
          </a:p>
          <a:p>
            <a:pPr algn="l" marL="718202" indent="-359101" lvl="1">
              <a:lnSpc>
                <a:spcPts val="3991"/>
              </a:lnSpc>
              <a:buFont typeface="Arial"/>
              <a:buChar char="•"/>
            </a:pPr>
            <a:r>
              <a:rPr lang="en-US" sz="3326">
                <a:solidFill>
                  <a:srgbClr val="000000"/>
                </a:solidFill>
                <a:latin typeface="Calibri (MS)"/>
                <a:ea typeface="Calibri (MS)"/>
                <a:cs typeface="Calibri (MS)"/>
                <a:sym typeface="Calibri (MS)"/>
              </a:rPr>
              <a:t>So sánh các loại attention</a:t>
            </a:r>
          </a:p>
          <a:p>
            <a:pPr algn="l" marL="718202" indent="-359101" lvl="1">
              <a:lnSpc>
                <a:spcPts val="3991"/>
              </a:lnSpc>
              <a:buFont typeface="Arial"/>
              <a:buChar char="•"/>
            </a:pPr>
            <a:r>
              <a:rPr lang="en-US" sz="3326">
                <a:solidFill>
                  <a:srgbClr val="000000"/>
                </a:solidFill>
                <a:latin typeface="Calibri (MS)"/>
                <a:ea typeface="Calibri (MS)"/>
                <a:cs typeface="Calibri (MS)"/>
                <a:sym typeface="Calibri (MS)"/>
              </a:rPr>
              <a:t>Đề xuất chiến lược Intermediate Task Transfer Learning (học trung gian trên ViPubMed) để cải thiện điểm BLEU trên VLSP.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sp>
        <p:nvSpPr>
          <p:cNvPr name="Freeform 6" id="6"/>
          <p:cNvSpPr/>
          <p:nvPr/>
        </p:nvSpPr>
        <p:spPr>
          <a:xfrm flipH="false" flipV="false" rot="0">
            <a:off x="9509760" y="4181092"/>
            <a:ext cx="5454967" cy="2974658"/>
          </a:xfrm>
          <a:custGeom>
            <a:avLst/>
            <a:gdLst/>
            <a:ahLst/>
            <a:cxnLst/>
            <a:rect r="r" b="b" t="t" l="l"/>
            <a:pathLst>
              <a:path h="2974658" w="5454967">
                <a:moveTo>
                  <a:pt x="0" y="0"/>
                </a:moveTo>
                <a:lnTo>
                  <a:pt x="5454967" y="0"/>
                </a:lnTo>
                <a:lnTo>
                  <a:pt x="5454967" y="2974658"/>
                </a:lnTo>
                <a:lnTo>
                  <a:pt x="0" y="29746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96012" y="4864567"/>
            <a:ext cx="4198892" cy="1512459"/>
          </a:xfrm>
          <a:prstGeom prst="rect">
            <a:avLst/>
          </a:prstGeom>
        </p:spPr>
        <p:txBody>
          <a:bodyPr anchor="t" rtlCol="false" tIns="0" lIns="0" bIns="0" rIns="0">
            <a:spAutoFit/>
          </a:bodyPr>
          <a:lstStyle/>
          <a:p>
            <a:pPr algn="l">
              <a:lnSpc>
                <a:spcPts val="5605"/>
              </a:lnSpc>
            </a:pPr>
            <a:r>
              <a:rPr lang="en-US" b="true" sz="4671">
                <a:solidFill>
                  <a:srgbClr val="FFFFFF"/>
                </a:solidFill>
                <a:latin typeface="Calibri (MS) Bold"/>
                <a:ea typeface="Calibri (MS) Bold"/>
                <a:cs typeface="Calibri (MS) Bold"/>
                <a:sym typeface="Calibri (MS) Bold"/>
              </a:rPr>
              <a:t>TRANSFORMER</a:t>
            </a:r>
            <a:r>
              <a:rPr lang="en-US" b="true" sz="4671">
                <a:solidFill>
                  <a:srgbClr val="FFFFFF"/>
                </a:solidFill>
                <a:latin typeface="Calibri (MS) Bold"/>
                <a:ea typeface="Calibri (MS) Bold"/>
                <a:cs typeface="Calibri (MS) Bold"/>
                <a:sym typeface="Calibri (MS) Bold"/>
              </a:rPr>
              <a:t> FROM SCRATCH</a:t>
            </a:r>
          </a:p>
        </p:txBody>
      </p:sp>
      <p:sp>
        <p:nvSpPr>
          <p:cNvPr name="TextBox 8" id="8"/>
          <p:cNvSpPr txBox="true"/>
          <p:nvPr/>
        </p:nvSpPr>
        <p:spPr>
          <a:xfrm rot="0">
            <a:off x="5452680" y="2268790"/>
            <a:ext cx="7382637" cy="1587500"/>
          </a:xfrm>
          <a:prstGeom prst="rect">
            <a:avLst/>
          </a:prstGeom>
        </p:spPr>
        <p:txBody>
          <a:bodyPr anchor="t" rtlCol="false" tIns="0" lIns="0" bIns="0" rIns="0">
            <a:spAutoFit/>
          </a:bodyPr>
          <a:lstStyle/>
          <a:p>
            <a:pPr algn="l">
              <a:lnSpc>
                <a:spcPts val="10800"/>
              </a:lnSpc>
            </a:pPr>
            <a:r>
              <a:rPr lang="en-US" sz="9000">
                <a:solidFill>
                  <a:srgbClr val="002C6B"/>
                </a:solidFill>
                <a:latin typeface="Calibri (MS)"/>
                <a:ea typeface="Calibri (MS)"/>
                <a:cs typeface="Calibri (MS)"/>
                <a:sym typeface="Calibri (MS)"/>
              </a:rPr>
              <a:t>02</a:t>
            </a:r>
          </a:p>
        </p:txBody>
      </p:sp>
      <p:sp>
        <p:nvSpPr>
          <p:cNvPr name="Freeform 9" id="9"/>
          <p:cNvSpPr/>
          <p:nvPr/>
        </p:nvSpPr>
        <p:spPr>
          <a:xfrm flipH="false" flipV="false" rot="0">
            <a:off x="4073842" y="4313871"/>
            <a:ext cx="3143250" cy="2267902"/>
          </a:xfrm>
          <a:custGeom>
            <a:avLst/>
            <a:gdLst/>
            <a:ahLst/>
            <a:cxnLst/>
            <a:rect r="r" b="b" t="t" l="l"/>
            <a:pathLst>
              <a:path h="2267902" w="3143250">
                <a:moveTo>
                  <a:pt x="0" y="0"/>
                </a:moveTo>
                <a:lnTo>
                  <a:pt x="3143251" y="0"/>
                </a:lnTo>
                <a:lnTo>
                  <a:pt x="3143251" y="2267902"/>
                </a:lnTo>
                <a:lnTo>
                  <a:pt x="0" y="22679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4066984" y="1975294"/>
            <a:ext cx="864489" cy="1177290"/>
          </a:xfrm>
          <a:custGeom>
            <a:avLst/>
            <a:gdLst/>
            <a:ahLst/>
            <a:cxnLst/>
            <a:rect r="r" b="b" t="t" l="l"/>
            <a:pathLst>
              <a:path h="1177290" w="864489">
                <a:moveTo>
                  <a:pt x="0" y="0"/>
                </a:moveTo>
                <a:lnTo>
                  <a:pt x="864490" y="0"/>
                </a:lnTo>
                <a:lnTo>
                  <a:pt x="864490" y="1177290"/>
                </a:lnTo>
                <a:lnTo>
                  <a:pt x="0" y="11772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5157216" y="3664590"/>
            <a:ext cx="197168" cy="224790"/>
            <a:chOff x="0" y="0"/>
            <a:chExt cx="262890" cy="299720"/>
          </a:xfrm>
        </p:grpSpPr>
        <p:sp>
          <p:nvSpPr>
            <p:cNvPr name="Freeform 12" id="12"/>
            <p:cNvSpPr/>
            <p:nvPr/>
          </p:nvSpPr>
          <p:spPr>
            <a:xfrm flipH="false" flipV="false" rot="0">
              <a:off x="0" y="0"/>
              <a:ext cx="262128" cy="298577"/>
            </a:xfrm>
            <a:custGeom>
              <a:avLst/>
              <a:gdLst/>
              <a:ahLst/>
              <a:cxnLst/>
              <a:rect r="r" b="b" t="t" l="l"/>
              <a:pathLst>
                <a:path h="298577" w="262128">
                  <a:moveTo>
                    <a:pt x="262128" y="0"/>
                  </a:moveTo>
                  <a:lnTo>
                    <a:pt x="0" y="0"/>
                  </a:lnTo>
                  <a:lnTo>
                    <a:pt x="0" y="298577"/>
                  </a:lnTo>
                  <a:lnTo>
                    <a:pt x="262128" y="298577"/>
                  </a:lnTo>
                  <a:lnTo>
                    <a:pt x="262128" y="0"/>
                  </a:lnTo>
                  <a:close/>
                </a:path>
              </a:pathLst>
            </a:custGeom>
            <a:solidFill>
              <a:srgbClr val="EC7C30"/>
            </a:solidFill>
            <a:ln w="12700">
              <a:solidFill>
                <a:srgbClr val="000000"/>
              </a:solidFill>
            </a:ln>
          </p:spPr>
        </p:sp>
      </p:grpSp>
      <p:grpSp>
        <p:nvGrpSpPr>
          <p:cNvPr name="Group 13" id="13"/>
          <p:cNvGrpSpPr/>
          <p:nvPr/>
        </p:nvGrpSpPr>
        <p:grpSpPr>
          <a:xfrm rot="0">
            <a:off x="5282945" y="3691828"/>
            <a:ext cx="41910" cy="169545"/>
            <a:chOff x="0" y="0"/>
            <a:chExt cx="55880" cy="226060"/>
          </a:xfrm>
        </p:grpSpPr>
        <p:sp>
          <p:nvSpPr>
            <p:cNvPr name="Freeform 14" id="14"/>
            <p:cNvSpPr/>
            <p:nvPr/>
          </p:nvSpPr>
          <p:spPr>
            <a:xfrm flipH="false" flipV="false" rot="0">
              <a:off x="0" y="0"/>
              <a:ext cx="54737" cy="225425"/>
            </a:xfrm>
            <a:custGeom>
              <a:avLst/>
              <a:gdLst/>
              <a:ahLst/>
              <a:cxnLst/>
              <a:rect r="r" b="b" t="t" l="l"/>
              <a:pathLst>
                <a:path h="225425" w="54737">
                  <a:moveTo>
                    <a:pt x="54737" y="0"/>
                  </a:moveTo>
                  <a:lnTo>
                    <a:pt x="0" y="0"/>
                  </a:lnTo>
                  <a:lnTo>
                    <a:pt x="0" y="225425"/>
                  </a:lnTo>
                  <a:lnTo>
                    <a:pt x="54737" y="225425"/>
                  </a:lnTo>
                  <a:lnTo>
                    <a:pt x="54737" y="0"/>
                  </a:lnTo>
                  <a:close/>
                </a:path>
              </a:pathLst>
            </a:custGeom>
            <a:solidFill>
              <a:srgbClr val="FFFFFF"/>
            </a:solidFill>
            <a:ln w="12700">
              <a:solidFill>
                <a:srgbClr val="000000"/>
              </a:solidFill>
            </a:ln>
          </p:spPr>
        </p:sp>
      </p:grpSp>
      <p:grpSp>
        <p:nvGrpSpPr>
          <p:cNvPr name="Group 15" id="15"/>
          <p:cNvGrpSpPr/>
          <p:nvPr/>
        </p:nvGrpSpPr>
        <p:grpSpPr>
          <a:xfrm rot="0">
            <a:off x="4398453" y="3621213"/>
            <a:ext cx="782001" cy="311467"/>
            <a:chOff x="0" y="0"/>
            <a:chExt cx="1042668" cy="415290"/>
          </a:xfrm>
        </p:grpSpPr>
        <p:sp>
          <p:nvSpPr>
            <p:cNvPr name="Freeform 16" id="16"/>
            <p:cNvSpPr/>
            <p:nvPr/>
          </p:nvSpPr>
          <p:spPr>
            <a:xfrm flipH="false" flipV="false" rot="0">
              <a:off x="0" y="0"/>
              <a:ext cx="1042162" cy="414274"/>
            </a:xfrm>
            <a:custGeom>
              <a:avLst/>
              <a:gdLst/>
              <a:ahLst/>
              <a:cxnLst/>
              <a:rect r="r" b="b" t="t" l="l"/>
              <a:pathLst>
                <a:path h="414274" w="1042162">
                  <a:moveTo>
                    <a:pt x="1042162" y="0"/>
                  </a:moveTo>
                  <a:lnTo>
                    <a:pt x="206502" y="0"/>
                  </a:lnTo>
                  <a:lnTo>
                    <a:pt x="125984" y="16129"/>
                  </a:lnTo>
                  <a:lnTo>
                    <a:pt x="60325" y="60198"/>
                  </a:lnTo>
                  <a:lnTo>
                    <a:pt x="16129" y="125857"/>
                  </a:lnTo>
                  <a:lnTo>
                    <a:pt x="0" y="206248"/>
                  </a:lnTo>
                  <a:lnTo>
                    <a:pt x="16129" y="287020"/>
                  </a:lnTo>
                  <a:lnTo>
                    <a:pt x="60325" y="353187"/>
                  </a:lnTo>
                  <a:lnTo>
                    <a:pt x="125984" y="397891"/>
                  </a:lnTo>
                  <a:lnTo>
                    <a:pt x="206502" y="414274"/>
                  </a:lnTo>
                  <a:lnTo>
                    <a:pt x="1042162" y="414274"/>
                  </a:lnTo>
                  <a:lnTo>
                    <a:pt x="1042162" y="0"/>
                  </a:lnTo>
                  <a:close/>
                </a:path>
              </a:pathLst>
            </a:custGeom>
            <a:solidFill>
              <a:srgbClr val="095B6E"/>
            </a:solidFill>
            <a:ln w="12700">
              <a:solidFill>
                <a:srgbClr val="000000"/>
              </a:solidFill>
            </a:ln>
          </p:spPr>
        </p:sp>
      </p:grpSp>
      <p:grpSp>
        <p:nvGrpSpPr>
          <p:cNvPr name="Group 17" id="17"/>
          <p:cNvGrpSpPr/>
          <p:nvPr/>
        </p:nvGrpSpPr>
        <p:grpSpPr>
          <a:xfrm rot="0">
            <a:off x="4441696" y="3664647"/>
            <a:ext cx="223838" cy="223838"/>
            <a:chOff x="0" y="0"/>
            <a:chExt cx="298450" cy="298450"/>
          </a:xfrm>
        </p:grpSpPr>
        <p:sp>
          <p:nvSpPr>
            <p:cNvPr name="Freeform 18" id="18"/>
            <p:cNvSpPr/>
            <p:nvPr/>
          </p:nvSpPr>
          <p:spPr>
            <a:xfrm flipH="false" flipV="false" rot="0">
              <a:off x="0" y="0"/>
              <a:ext cx="298450" cy="298450"/>
            </a:xfrm>
            <a:custGeom>
              <a:avLst/>
              <a:gdLst/>
              <a:ahLst/>
              <a:cxnLst/>
              <a:rect r="r" b="b" t="t" l="l"/>
              <a:pathLst>
                <a:path h="298450" w="298450">
                  <a:moveTo>
                    <a:pt x="0" y="0"/>
                  </a:moveTo>
                  <a:lnTo>
                    <a:pt x="298450" y="0"/>
                  </a:lnTo>
                  <a:lnTo>
                    <a:pt x="298450" y="298450"/>
                  </a:lnTo>
                  <a:lnTo>
                    <a:pt x="0" y="298450"/>
                  </a:lnTo>
                  <a:lnTo>
                    <a:pt x="0" y="0"/>
                  </a:lnTo>
                  <a:close/>
                </a:path>
              </a:pathLst>
            </a:custGeom>
            <a:blipFill>
              <a:blip r:embed="rId9"/>
              <a:stretch>
                <a:fillRect l="0" t="0" r="0" b="0"/>
              </a:stretch>
            </a:blipFill>
          </p:spPr>
        </p:sp>
      </p:grpSp>
      <p:grpSp>
        <p:nvGrpSpPr>
          <p:cNvPr name="Group 19" id="19"/>
          <p:cNvGrpSpPr/>
          <p:nvPr/>
        </p:nvGrpSpPr>
        <p:grpSpPr>
          <a:xfrm rot="0">
            <a:off x="5801798" y="3906847"/>
            <a:ext cx="759143" cy="102870"/>
            <a:chOff x="0" y="0"/>
            <a:chExt cx="1012190" cy="137160"/>
          </a:xfrm>
        </p:grpSpPr>
        <p:sp>
          <p:nvSpPr>
            <p:cNvPr name="Freeform 20" id="20"/>
            <p:cNvSpPr/>
            <p:nvPr/>
          </p:nvSpPr>
          <p:spPr>
            <a:xfrm flipH="false" flipV="false" rot="0">
              <a:off x="0" y="0"/>
              <a:ext cx="1012063" cy="136779"/>
            </a:xfrm>
            <a:custGeom>
              <a:avLst/>
              <a:gdLst/>
              <a:ahLst/>
              <a:cxnLst/>
              <a:rect r="r" b="b" t="t" l="l"/>
              <a:pathLst>
                <a:path h="136779" w="1012063">
                  <a:moveTo>
                    <a:pt x="0" y="136779"/>
                  </a:moveTo>
                  <a:lnTo>
                    <a:pt x="1012063" y="136779"/>
                  </a:lnTo>
                  <a:lnTo>
                    <a:pt x="1012063" y="0"/>
                  </a:lnTo>
                  <a:lnTo>
                    <a:pt x="0" y="0"/>
                  </a:lnTo>
                  <a:lnTo>
                    <a:pt x="0" y="136779"/>
                  </a:lnTo>
                  <a:close/>
                </a:path>
              </a:pathLst>
            </a:custGeom>
            <a:solidFill>
              <a:srgbClr val="EC7C30"/>
            </a:solidFill>
            <a:ln w="12700">
              <a:solidFill>
                <a:srgbClr val="000000"/>
              </a:solidFill>
            </a:ln>
          </p:spPr>
        </p:sp>
      </p:grpSp>
      <p:grpSp>
        <p:nvGrpSpPr>
          <p:cNvPr name="Group 21" id="21"/>
          <p:cNvGrpSpPr/>
          <p:nvPr/>
        </p:nvGrpSpPr>
        <p:grpSpPr>
          <a:xfrm rot="0">
            <a:off x="5717476" y="3906847"/>
            <a:ext cx="84772" cy="102870"/>
            <a:chOff x="0" y="0"/>
            <a:chExt cx="113030" cy="137160"/>
          </a:xfrm>
        </p:grpSpPr>
        <p:sp>
          <p:nvSpPr>
            <p:cNvPr name="Freeform 22" id="22"/>
            <p:cNvSpPr/>
            <p:nvPr/>
          </p:nvSpPr>
          <p:spPr>
            <a:xfrm flipH="false" flipV="false" rot="0">
              <a:off x="0" y="0"/>
              <a:ext cx="112395" cy="136779"/>
            </a:xfrm>
            <a:custGeom>
              <a:avLst/>
              <a:gdLst/>
              <a:ahLst/>
              <a:cxnLst/>
              <a:rect r="r" b="b" t="t" l="l"/>
              <a:pathLst>
                <a:path h="136779" w="112395">
                  <a:moveTo>
                    <a:pt x="112395" y="0"/>
                  </a:moveTo>
                  <a:lnTo>
                    <a:pt x="0" y="0"/>
                  </a:lnTo>
                  <a:lnTo>
                    <a:pt x="0" y="136779"/>
                  </a:lnTo>
                  <a:lnTo>
                    <a:pt x="112395" y="136779"/>
                  </a:lnTo>
                  <a:lnTo>
                    <a:pt x="112395" y="0"/>
                  </a:lnTo>
                  <a:close/>
                </a:path>
              </a:pathLst>
            </a:custGeom>
            <a:solidFill>
              <a:srgbClr val="FF544F"/>
            </a:solidFill>
            <a:ln w="12700">
              <a:solidFill>
                <a:srgbClr val="000000"/>
              </a:solidFill>
            </a:ln>
          </p:spPr>
        </p:sp>
      </p:grpSp>
      <p:sp>
        <p:nvSpPr>
          <p:cNvPr name="Freeform 23" id="23"/>
          <p:cNvSpPr/>
          <p:nvPr/>
        </p:nvSpPr>
        <p:spPr>
          <a:xfrm flipH="false" flipV="false" rot="0">
            <a:off x="6223304" y="3344416"/>
            <a:ext cx="669607" cy="665798"/>
          </a:xfrm>
          <a:custGeom>
            <a:avLst/>
            <a:gdLst/>
            <a:ahLst/>
            <a:cxnLst/>
            <a:rect r="r" b="b" t="t" l="l"/>
            <a:pathLst>
              <a:path h="665798" w="669607">
                <a:moveTo>
                  <a:pt x="0" y="0"/>
                </a:moveTo>
                <a:lnTo>
                  <a:pt x="669607" y="0"/>
                </a:lnTo>
                <a:lnTo>
                  <a:pt x="669607" y="665798"/>
                </a:lnTo>
                <a:lnTo>
                  <a:pt x="0" y="6657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6231826" y="3346893"/>
            <a:ext cx="658176" cy="661035"/>
          </a:xfrm>
          <a:custGeom>
            <a:avLst/>
            <a:gdLst/>
            <a:ahLst/>
            <a:cxnLst/>
            <a:rect r="r" b="b" t="t" l="l"/>
            <a:pathLst>
              <a:path h="661035" w="658176">
                <a:moveTo>
                  <a:pt x="0" y="0"/>
                </a:moveTo>
                <a:lnTo>
                  <a:pt x="658176" y="0"/>
                </a:lnTo>
                <a:lnTo>
                  <a:pt x="658176" y="661035"/>
                </a:lnTo>
                <a:lnTo>
                  <a:pt x="0" y="66103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25" id="25"/>
          <p:cNvGrpSpPr/>
          <p:nvPr/>
        </p:nvGrpSpPr>
        <p:grpSpPr>
          <a:xfrm rot="0">
            <a:off x="6330125" y="3445191"/>
            <a:ext cx="461962" cy="461962"/>
            <a:chOff x="0" y="0"/>
            <a:chExt cx="615950" cy="615950"/>
          </a:xfrm>
        </p:grpSpPr>
        <p:sp>
          <p:nvSpPr>
            <p:cNvPr name="Freeform 26" id="26"/>
            <p:cNvSpPr/>
            <p:nvPr/>
          </p:nvSpPr>
          <p:spPr>
            <a:xfrm flipH="false" flipV="false" rot="0">
              <a:off x="0" y="0"/>
              <a:ext cx="615442" cy="615442"/>
            </a:xfrm>
            <a:custGeom>
              <a:avLst/>
              <a:gdLst/>
              <a:ahLst/>
              <a:cxnLst/>
              <a:rect r="r" b="b" t="t" l="l"/>
              <a:pathLst>
                <a:path h="615442" w="615442">
                  <a:moveTo>
                    <a:pt x="306832" y="0"/>
                  </a:moveTo>
                  <a:lnTo>
                    <a:pt x="210185" y="15748"/>
                  </a:lnTo>
                  <a:lnTo>
                    <a:pt x="125984" y="59436"/>
                  </a:lnTo>
                  <a:lnTo>
                    <a:pt x="59436" y="125984"/>
                  </a:lnTo>
                  <a:lnTo>
                    <a:pt x="15748" y="210185"/>
                  </a:lnTo>
                  <a:lnTo>
                    <a:pt x="0" y="306832"/>
                  </a:lnTo>
                  <a:lnTo>
                    <a:pt x="15748" y="404368"/>
                  </a:lnTo>
                  <a:lnTo>
                    <a:pt x="59436" y="489077"/>
                  </a:lnTo>
                  <a:lnTo>
                    <a:pt x="125984" y="555879"/>
                  </a:lnTo>
                  <a:lnTo>
                    <a:pt x="210185" y="599694"/>
                  </a:lnTo>
                  <a:lnTo>
                    <a:pt x="306832" y="615442"/>
                  </a:lnTo>
                  <a:lnTo>
                    <a:pt x="404368" y="599694"/>
                  </a:lnTo>
                  <a:lnTo>
                    <a:pt x="489077" y="555879"/>
                  </a:lnTo>
                  <a:lnTo>
                    <a:pt x="555879" y="489077"/>
                  </a:lnTo>
                  <a:lnTo>
                    <a:pt x="599694" y="404368"/>
                  </a:lnTo>
                  <a:lnTo>
                    <a:pt x="615442" y="306832"/>
                  </a:lnTo>
                  <a:lnTo>
                    <a:pt x="599694" y="210185"/>
                  </a:lnTo>
                  <a:lnTo>
                    <a:pt x="555879" y="125984"/>
                  </a:lnTo>
                  <a:lnTo>
                    <a:pt x="489077" y="59436"/>
                  </a:lnTo>
                  <a:lnTo>
                    <a:pt x="404368" y="15748"/>
                  </a:lnTo>
                  <a:lnTo>
                    <a:pt x="306832" y="0"/>
                  </a:lnTo>
                  <a:close/>
                </a:path>
              </a:pathLst>
            </a:custGeom>
            <a:solidFill>
              <a:srgbClr val="ECECEC"/>
            </a:solidFill>
            <a:ln w="12700">
              <a:solidFill>
                <a:srgbClr val="000000"/>
              </a:solidFill>
            </a:ln>
          </p:spPr>
        </p:sp>
      </p:grpSp>
      <p:grpSp>
        <p:nvGrpSpPr>
          <p:cNvPr name="Group 27" id="27"/>
          <p:cNvGrpSpPr/>
          <p:nvPr/>
        </p:nvGrpSpPr>
        <p:grpSpPr>
          <a:xfrm rot="0">
            <a:off x="6426136" y="3541203"/>
            <a:ext cx="269557" cy="269558"/>
            <a:chOff x="0" y="0"/>
            <a:chExt cx="359410" cy="359410"/>
          </a:xfrm>
        </p:grpSpPr>
        <p:sp>
          <p:nvSpPr>
            <p:cNvPr name="Freeform 28" id="28"/>
            <p:cNvSpPr/>
            <p:nvPr/>
          </p:nvSpPr>
          <p:spPr>
            <a:xfrm flipH="false" flipV="false" rot="0">
              <a:off x="0" y="0"/>
              <a:ext cx="359410" cy="359410"/>
            </a:xfrm>
            <a:custGeom>
              <a:avLst/>
              <a:gdLst/>
              <a:ahLst/>
              <a:cxnLst/>
              <a:rect r="r" b="b" t="t" l="l"/>
              <a:pathLst>
                <a:path h="359410" w="359410">
                  <a:moveTo>
                    <a:pt x="0" y="0"/>
                  </a:moveTo>
                  <a:lnTo>
                    <a:pt x="359410" y="0"/>
                  </a:lnTo>
                  <a:lnTo>
                    <a:pt x="359410" y="359410"/>
                  </a:lnTo>
                  <a:lnTo>
                    <a:pt x="0" y="359410"/>
                  </a:lnTo>
                  <a:lnTo>
                    <a:pt x="0" y="0"/>
                  </a:lnTo>
                  <a:close/>
                </a:path>
              </a:pathLst>
            </a:custGeom>
            <a:blipFill>
              <a:blip r:embed="rId14"/>
              <a:stretch>
                <a:fillRect l="0" t="0" r="0" b="0"/>
              </a:stretch>
            </a:blipFill>
          </p:spPr>
        </p:sp>
      </p:grpSp>
      <p:grpSp>
        <p:nvGrpSpPr>
          <p:cNvPr name="Group 29" id="29"/>
          <p:cNvGrpSpPr/>
          <p:nvPr/>
        </p:nvGrpSpPr>
        <p:grpSpPr>
          <a:xfrm rot="0">
            <a:off x="4837174" y="6890002"/>
            <a:ext cx="164592" cy="166877"/>
            <a:chOff x="0" y="0"/>
            <a:chExt cx="219456" cy="222502"/>
          </a:xfrm>
        </p:grpSpPr>
        <p:sp>
          <p:nvSpPr>
            <p:cNvPr name="Freeform 30" id="30"/>
            <p:cNvSpPr/>
            <p:nvPr/>
          </p:nvSpPr>
          <p:spPr>
            <a:xfrm flipH="false" flipV="false" rot="0">
              <a:off x="0" y="0"/>
              <a:ext cx="219456" cy="222504"/>
            </a:xfrm>
            <a:custGeom>
              <a:avLst/>
              <a:gdLst/>
              <a:ahLst/>
              <a:cxnLst/>
              <a:rect r="r" b="b" t="t" l="l"/>
              <a:pathLst>
                <a:path h="222504" w="219456">
                  <a:moveTo>
                    <a:pt x="0" y="0"/>
                  </a:moveTo>
                  <a:lnTo>
                    <a:pt x="219456" y="0"/>
                  </a:lnTo>
                  <a:lnTo>
                    <a:pt x="219456" y="222504"/>
                  </a:lnTo>
                  <a:lnTo>
                    <a:pt x="0" y="222504"/>
                  </a:lnTo>
                  <a:lnTo>
                    <a:pt x="0" y="0"/>
                  </a:lnTo>
                  <a:close/>
                </a:path>
              </a:pathLst>
            </a:custGeom>
            <a:blipFill>
              <a:blip r:embed="rId15"/>
              <a:stretch>
                <a:fillRect l="0" t="0" r="0" b="-2918"/>
              </a:stretch>
            </a:blipFill>
          </p:spPr>
        </p:sp>
      </p:grpSp>
      <p:grpSp>
        <p:nvGrpSpPr>
          <p:cNvPr name="Group 31" id="31"/>
          <p:cNvGrpSpPr/>
          <p:nvPr/>
        </p:nvGrpSpPr>
        <p:grpSpPr>
          <a:xfrm rot="0">
            <a:off x="5010910" y="6890135"/>
            <a:ext cx="1209675" cy="167640"/>
            <a:chOff x="0" y="0"/>
            <a:chExt cx="1612900" cy="223520"/>
          </a:xfrm>
        </p:grpSpPr>
        <p:sp>
          <p:nvSpPr>
            <p:cNvPr name="Freeform 32" id="32"/>
            <p:cNvSpPr/>
            <p:nvPr/>
          </p:nvSpPr>
          <p:spPr>
            <a:xfrm flipH="false" flipV="false" rot="0">
              <a:off x="0" y="0"/>
              <a:ext cx="1612392" cy="222377"/>
            </a:xfrm>
            <a:custGeom>
              <a:avLst/>
              <a:gdLst/>
              <a:ahLst/>
              <a:cxnLst/>
              <a:rect r="r" b="b" t="t" l="l"/>
              <a:pathLst>
                <a:path h="222377" w="1612392">
                  <a:moveTo>
                    <a:pt x="1612392" y="0"/>
                  </a:moveTo>
                  <a:lnTo>
                    <a:pt x="0" y="0"/>
                  </a:lnTo>
                  <a:lnTo>
                    <a:pt x="0" y="222377"/>
                  </a:lnTo>
                  <a:lnTo>
                    <a:pt x="1612392" y="222377"/>
                  </a:lnTo>
                  <a:lnTo>
                    <a:pt x="1612392" y="0"/>
                  </a:lnTo>
                  <a:close/>
                </a:path>
              </a:pathLst>
            </a:custGeom>
            <a:solidFill>
              <a:srgbClr val="095B6E"/>
            </a:solidFill>
            <a:ln w="12700">
              <a:solidFill>
                <a:srgbClr val="000000"/>
              </a:solidFill>
            </a:ln>
          </p:spPr>
        </p:sp>
      </p:grpSp>
      <p:grpSp>
        <p:nvGrpSpPr>
          <p:cNvPr name="Group 33" id="33"/>
          <p:cNvGrpSpPr/>
          <p:nvPr/>
        </p:nvGrpSpPr>
        <p:grpSpPr>
          <a:xfrm rot="0">
            <a:off x="4919470" y="6890135"/>
            <a:ext cx="91440" cy="167640"/>
            <a:chOff x="0" y="0"/>
            <a:chExt cx="121920" cy="223520"/>
          </a:xfrm>
        </p:grpSpPr>
        <p:sp>
          <p:nvSpPr>
            <p:cNvPr name="Freeform 34" id="34"/>
            <p:cNvSpPr/>
            <p:nvPr/>
          </p:nvSpPr>
          <p:spPr>
            <a:xfrm flipH="false" flipV="false" rot="0">
              <a:off x="0" y="0"/>
              <a:ext cx="121793" cy="222377"/>
            </a:xfrm>
            <a:custGeom>
              <a:avLst/>
              <a:gdLst/>
              <a:ahLst/>
              <a:cxnLst/>
              <a:rect r="r" b="b" t="t" l="l"/>
              <a:pathLst>
                <a:path h="222377" w="121793">
                  <a:moveTo>
                    <a:pt x="121793" y="0"/>
                  </a:moveTo>
                  <a:lnTo>
                    <a:pt x="0" y="0"/>
                  </a:lnTo>
                  <a:lnTo>
                    <a:pt x="0" y="222377"/>
                  </a:lnTo>
                  <a:lnTo>
                    <a:pt x="121793" y="222377"/>
                  </a:lnTo>
                  <a:lnTo>
                    <a:pt x="121793" y="0"/>
                  </a:lnTo>
                  <a:close/>
                </a:path>
              </a:pathLst>
            </a:custGeom>
            <a:solidFill>
              <a:srgbClr val="00BCC3"/>
            </a:solidFill>
            <a:ln w="12700">
              <a:solidFill>
                <a:srgbClr val="000000"/>
              </a:solidFill>
            </a:ln>
          </p:spPr>
        </p:sp>
      </p:grpSp>
      <p:grpSp>
        <p:nvGrpSpPr>
          <p:cNvPr name="Group 35" id="35"/>
          <p:cNvGrpSpPr/>
          <p:nvPr/>
        </p:nvGrpSpPr>
        <p:grpSpPr>
          <a:xfrm rot="0">
            <a:off x="6220395" y="6890193"/>
            <a:ext cx="232982" cy="166688"/>
            <a:chOff x="0" y="0"/>
            <a:chExt cx="310642" cy="222250"/>
          </a:xfrm>
        </p:grpSpPr>
        <p:sp>
          <p:nvSpPr>
            <p:cNvPr name="Freeform 36" id="36"/>
            <p:cNvSpPr/>
            <p:nvPr/>
          </p:nvSpPr>
          <p:spPr>
            <a:xfrm flipH="false" flipV="false" rot="0">
              <a:off x="0" y="0"/>
              <a:ext cx="310642" cy="222250"/>
            </a:xfrm>
            <a:custGeom>
              <a:avLst/>
              <a:gdLst/>
              <a:ahLst/>
              <a:cxnLst/>
              <a:rect r="r" b="b" t="t" l="l"/>
              <a:pathLst>
                <a:path h="222250" w="310642">
                  <a:moveTo>
                    <a:pt x="0" y="0"/>
                  </a:moveTo>
                  <a:lnTo>
                    <a:pt x="310642" y="0"/>
                  </a:lnTo>
                  <a:lnTo>
                    <a:pt x="310642" y="222250"/>
                  </a:lnTo>
                  <a:lnTo>
                    <a:pt x="0" y="222250"/>
                  </a:lnTo>
                  <a:lnTo>
                    <a:pt x="0" y="0"/>
                  </a:lnTo>
                  <a:close/>
                </a:path>
              </a:pathLst>
            </a:custGeom>
            <a:blipFill>
              <a:blip r:embed="rId16"/>
              <a:stretch>
                <a:fillRect l="0" t="0" r="0" b="-460"/>
              </a:stretch>
            </a:blipFill>
          </p:spPr>
        </p:sp>
      </p:grpSp>
      <p:grpSp>
        <p:nvGrpSpPr>
          <p:cNvPr name="Group 37" id="37"/>
          <p:cNvGrpSpPr/>
          <p:nvPr/>
        </p:nvGrpSpPr>
        <p:grpSpPr>
          <a:xfrm rot="0">
            <a:off x="5251132" y="7591995"/>
            <a:ext cx="258128" cy="354139"/>
            <a:chOff x="0" y="0"/>
            <a:chExt cx="344170" cy="472186"/>
          </a:xfrm>
        </p:grpSpPr>
        <p:sp>
          <p:nvSpPr>
            <p:cNvPr name="Freeform 38" id="38"/>
            <p:cNvSpPr/>
            <p:nvPr/>
          </p:nvSpPr>
          <p:spPr>
            <a:xfrm flipH="false" flipV="false" rot="0">
              <a:off x="0" y="0"/>
              <a:ext cx="344170" cy="472186"/>
            </a:xfrm>
            <a:custGeom>
              <a:avLst/>
              <a:gdLst/>
              <a:ahLst/>
              <a:cxnLst/>
              <a:rect r="r" b="b" t="t" l="l"/>
              <a:pathLst>
                <a:path h="472186" w="344170">
                  <a:moveTo>
                    <a:pt x="0" y="0"/>
                  </a:moveTo>
                  <a:lnTo>
                    <a:pt x="344170" y="0"/>
                  </a:lnTo>
                  <a:lnTo>
                    <a:pt x="344170" y="472186"/>
                  </a:lnTo>
                  <a:lnTo>
                    <a:pt x="0" y="472186"/>
                  </a:lnTo>
                  <a:lnTo>
                    <a:pt x="0" y="0"/>
                  </a:lnTo>
                  <a:close/>
                </a:path>
              </a:pathLst>
            </a:custGeom>
            <a:blipFill>
              <a:blip r:embed="rId17"/>
              <a:stretch>
                <a:fillRect l="0" t="0" r="-796" b="0"/>
              </a:stretch>
            </a:blipFill>
          </p:spPr>
        </p:sp>
      </p:grpSp>
      <p:grpSp>
        <p:nvGrpSpPr>
          <p:cNvPr name="Group 39" id="39"/>
          <p:cNvGrpSpPr/>
          <p:nvPr/>
        </p:nvGrpSpPr>
        <p:grpSpPr>
          <a:xfrm rot="0">
            <a:off x="4256532" y="7623999"/>
            <a:ext cx="1230628" cy="290512"/>
            <a:chOff x="0" y="0"/>
            <a:chExt cx="1640838" cy="387350"/>
          </a:xfrm>
        </p:grpSpPr>
        <p:sp>
          <p:nvSpPr>
            <p:cNvPr name="Freeform 40" id="40"/>
            <p:cNvSpPr/>
            <p:nvPr/>
          </p:nvSpPr>
          <p:spPr>
            <a:xfrm flipH="false" flipV="false" rot="0">
              <a:off x="0" y="0"/>
              <a:ext cx="1640078" cy="386715"/>
            </a:xfrm>
            <a:custGeom>
              <a:avLst/>
              <a:gdLst/>
              <a:ahLst/>
              <a:cxnLst/>
              <a:rect r="r" b="b" t="t" l="l"/>
              <a:pathLst>
                <a:path h="386715" w="1640078">
                  <a:moveTo>
                    <a:pt x="1449832" y="0"/>
                  </a:moveTo>
                  <a:lnTo>
                    <a:pt x="189992" y="0"/>
                  </a:lnTo>
                  <a:lnTo>
                    <a:pt x="116205" y="14859"/>
                  </a:lnTo>
                  <a:lnTo>
                    <a:pt x="55880" y="55499"/>
                  </a:lnTo>
                  <a:lnTo>
                    <a:pt x="14986" y="115570"/>
                  </a:lnTo>
                  <a:lnTo>
                    <a:pt x="0" y="188976"/>
                  </a:lnTo>
                  <a:lnTo>
                    <a:pt x="0" y="197612"/>
                  </a:lnTo>
                  <a:lnTo>
                    <a:pt x="14986" y="271145"/>
                  </a:lnTo>
                  <a:lnTo>
                    <a:pt x="55880" y="331216"/>
                  </a:lnTo>
                  <a:lnTo>
                    <a:pt x="116332" y="371856"/>
                  </a:lnTo>
                  <a:lnTo>
                    <a:pt x="190119" y="386715"/>
                  </a:lnTo>
                  <a:lnTo>
                    <a:pt x="1449959" y="386715"/>
                  </a:lnTo>
                  <a:lnTo>
                    <a:pt x="1523746" y="371856"/>
                  </a:lnTo>
                  <a:lnTo>
                    <a:pt x="1584198" y="331216"/>
                  </a:lnTo>
                  <a:lnTo>
                    <a:pt x="1625092" y="271018"/>
                  </a:lnTo>
                  <a:lnTo>
                    <a:pt x="1640078" y="197485"/>
                  </a:lnTo>
                  <a:lnTo>
                    <a:pt x="1640078" y="188849"/>
                  </a:lnTo>
                  <a:lnTo>
                    <a:pt x="1624838" y="115570"/>
                  </a:lnTo>
                  <a:lnTo>
                    <a:pt x="1583944" y="55499"/>
                  </a:lnTo>
                  <a:lnTo>
                    <a:pt x="1523492" y="14859"/>
                  </a:lnTo>
                  <a:lnTo>
                    <a:pt x="1449832" y="0"/>
                  </a:lnTo>
                  <a:close/>
                </a:path>
              </a:pathLst>
            </a:custGeom>
            <a:solidFill>
              <a:srgbClr val="FF544F"/>
            </a:solidFill>
            <a:ln w="12700">
              <a:solidFill>
                <a:srgbClr val="000000"/>
              </a:solidFill>
            </a:ln>
          </p:spPr>
        </p:sp>
      </p:grpSp>
      <p:grpSp>
        <p:nvGrpSpPr>
          <p:cNvPr name="Group 41" id="41"/>
          <p:cNvGrpSpPr/>
          <p:nvPr/>
        </p:nvGrpSpPr>
        <p:grpSpPr>
          <a:xfrm rot="0">
            <a:off x="5607558" y="7591995"/>
            <a:ext cx="260412" cy="354139"/>
            <a:chOff x="0" y="0"/>
            <a:chExt cx="347216" cy="472186"/>
          </a:xfrm>
        </p:grpSpPr>
        <p:sp>
          <p:nvSpPr>
            <p:cNvPr name="Freeform 42" id="42"/>
            <p:cNvSpPr/>
            <p:nvPr/>
          </p:nvSpPr>
          <p:spPr>
            <a:xfrm flipH="false" flipV="false" rot="0">
              <a:off x="0" y="0"/>
              <a:ext cx="347218" cy="472186"/>
            </a:xfrm>
            <a:custGeom>
              <a:avLst/>
              <a:gdLst/>
              <a:ahLst/>
              <a:cxnLst/>
              <a:rect r="r" b="b" t="t" l="l"/>
              <a:pathLst>
                <a:path h="472186" w="347218">
                  <a:moveTo>
                    <a:pt x="0" y="0"/>
                  </a:moveTo>
                  <a:lnTo>
                    <a:pt x="347218" y="0"/>
                  </a:lnTo>
                  <a:lnTo>
                    <a:pt x="347218" y="472186"/>
                  </a:lnTo>
                  <a:lnTo>
                    <a:pt x="0" y="472186"/>
                  </a:lnTo>
                  <a:lnTo>
                    <a:pt x="0" y="0"/>
                  </a:lnTo>
                  <a:close/>
                </a:path>
              </a:pathLst>
            </a:custGeom>
            <a:blipFill>
              <a:blip r:embed="rId18"/>
              <a:stretch>
                <a:fillRect l="0" t="0" r="0" b="-87"/>
              </a:stretch>
            </a:blipFill>
          </p:spPr>
        </p:sp>
      </p:grpSp>
      <p:grpSp>
        <p:nvGrpSpPr>
          <p:cNvPr name="Group 43" id="43"/>
          <p:cNvGrpSpPr/>
          <p:nvPr/>
        </p:nvGrpSpPr>
        <p:grpSpPr>
          <a:xfrm rot="0">
            <a:off x="6732460" y="7591995"/>
            <a:ext cx="301560" cy="354139"/>
            <a:chOff x="0" y="0"/>
            <a:chExt cx="402080" cy="472186"/>
          </a:xfrm>
        </p:grpSpPr>
        <p:sp>
          <p:nvSpPr>
            <p:cNvPr name="Freeform 44" id="44"/>
            <p:cNvSpPr/>
            <p:nvPr/>
          </p:nvSpPr>
          <p:spPr>
            <a:xfrm flipH="false" flipV="false" rot="0">
              <a:off x="0" y="0"/>
              <a:ext cx="402082" cy="472186"/>
            </a:xfrm>
            <a:custGeom>
              <a:avLst/>
              <a:gdLst/>
              <a:ahLst/>
              <a:cxnLst/>
              <a:rect r="r" b="b" t="t" l="l"/>
              <a:pathLst>
                <a:path h="472186" w="402082">
                  <a:moveTo>
                    <a:pt x="0" y="0"/>
                  </a:moveTo>
                  <a:lnTo>
                    <a:pt x="402082" y="0"/>
                  </a:lnTo>
                  <a:lnTo>
                    <a:pt x="402082" y="472186"/>
                  </a:lnTo>
                  <a:lnTo>
                    <a:pt x="0" y="472186"/>
                  </a:lnTo>
                  <a:lnTo>
                    <a:pt x="0" y="0"/>
                  </a:lnTo>
                  <a:close/>
                </a:path>
              </a:pathLst>
            </a:custGeom>
            <a:blipFill>
              <a:blip r:embed="rId19"/>
              <a:stretch>
                <a:fillRect l="0" t="0" r="-3055" b="0"/>
              </a:stretch>
            </a:blipFill>
          </p:spPr>
        </p:sp>
      </p:grpSp>
      <p:grpSp>
        <p:nvGrpSpPr>
          <p:cNvPr name="Group 45" id="45"/>
          <p:cNvGrpSpPr/>
          <p:nvPr/>
        </p:nvGrpSpPr>
        <p:grpSpPr>
          <a:xfrm rot="0">
            <a:off x="5632894" y="7623999"/>
            <a:ext cx="1229678" cy="290512"/>
            <a:chOff x="0" y="0"/>
            <a:chExt cx="1639570" cy="387350"/>
          </a:xfrm>
        </p:grpSpPr>
        <p:sp>
          <p:nvSpPr>
            <p:cNvPr name="Freeform 46" id="46"/>
            <p:cNvSpPr/>
            <p:nvPr/>
          </p:nvSpPr>
          <p:spPr>
            <a:xfrm flipH="false" flipV="false" rot="0">
              <a:off x="0" y="0"/>
              <a:ext cx="1639316" cy="386842"/>
            </a:xfrm>
            <a:custGeom>
              <a:avLst/>
              <a:gdLst/>
              <a:ahLst/>
              <a:cxnLst/>
              <a:rect r="r" b="b" t="t" l="l"/>
              <a:pathLst>
                <a:path h="386842" w="1639316">
                  <a:moveTo>
                    <a:pt x="1449578" y="0"/>
                  </a:moveTo>
                  <a:lnTo>
                    <a:pt x="189738" y="0"/>
                  </a:lnTo>
                  <a:lnTo>
                    <a:pt x="116078" y="14859"/>
                  </a:lnTo>
                  <a:lnTo>
                    <a:pt x="55753" y="55499"/>
                  </a:lnTo>
                  <a:lnTo>
                    <a:pt x="14986" y="115570"/>
                  </a:lnTo>
                  <a:lnTo>
                    <a:pt x="0" y="188976"/>
                  </a:lnTo>
                  <a:lnTo>
                    <a:pt x="0" y="197612"/>
                  </a:lnTo>
                  <a:lnTo>
                    <a:pt x="14986" y="271145"/>
                  </a:lnTo>
                  <a:lnTo>
                    <a:pt x="55753" y="331343"/>
                  </a:lnTo>
                  <a:lnTo>
                    <a:pt x="116078" y="371983"/>
                  </a:lnTo>
                  <a:lnTo>
                    <a:pt x="189738" y="386842"/>
                  </a:lnTo>
                  <a:lnTo>
                    <a:pt x="1449578" y="386842"/>
                  </a:lnTo>
                  <a:lnTo>
                    <a:pt x="1523238" y="371983"/>
                  </a:lnTo>
                  <a:lnTo>
                    <a:pt x="1583563" y="331343"/>
                  </a:lnTo>
                  <a:lnTo>
                    <a:pt x="1624330" y="271145"/>
                  </a:lnTo>
                  <a:lnTo>
                    <a:pt x="1639316" y="197612"/>
                  </a:lnTo>
                  <a:lnTo>
                    <a:pt x="1639316" y="188976"/>
                  </a:lnTo>
                  <a:lnTo>
                    <a:pt x="1624330" y="115570"/>
                  </a:lnTo>
                  <a:lnTo>
                    <a:pt x="1583563" y="55499"/>
                  </a:lnTo>
                  <a:lnTo>
                    <a:pt x="1523238" y="14859"/>
                  </a:lnTo>
                  <a:lnTo>
                    <a:pt x="1449578" y="0"/>
                  </a:lnTo>
                  <a:close/>
                </a:path>
              </a:pathLst>
            </a:custGeom>
            <a:solidFill>
              <a:srgbClr val="FF544F"/>
            </a:solidFill>
            <a:ln w="12700">
              <a:solidFill>
                <a:srgbClr val="000000"/>
              </a:solidFill>
            </a:ln>
          </p:spPr>
        </p:sp>
      </p:grpSp>
      <p:grpSp>
        <p:nvGrpSpPr>
          <p:cNvPr name="Group 47" id="47"/>
          <p:cNvGrpSpPr/>
          <p:nvPr/>
        </p:nvGrpSpPr>
        <p:grpSpPr>
          <a:xfrm rot="0">
            <a:off x="5314950" y="7523415"/>
            <a:ext cx="489585" cy="489585"/>
            <a:chOff x="0" y="0"/>
            <a:chExt cx="652780" cy="652780"/>
          </a:xfrm>
        </p:grpSpPr>
        <p:sp>
          <p:nvSpPr>
            <p:cNvPr name="Freeform 48" id="48"/>
            <p:cNvSpPr/>
            <p:nvPr/>
          </p:nvSpPr>
          <p:spPr>
            <a:xfrm flipH="false" flipV="false" rot="0">
              <a:off x="0" y="0"/>
              <a:ext cx="652145" cy="651891"/>
            </a:xfrm>
            <a:custGeom>
              <a:avLst/>
              <a:gdLst/>
              <a:ahLst/>
              <a:cxnLst/>
              <a:rect r="r" b="b" t="t" l="l"/>
              <a:pathLst>
                <a:path h="651891" w="652145">
                  <a:moveTo>
                    <a:pt x="326136" y="0"/>
                  </a:moveTo>
                  <a:lnTo>
                    <a:pt x="239776" y="11684"/>
                  </a:lnTo>
                  <a:lnTo>
                    <a:pt x="161925" y="44577"/>
                  </a:lnTo>
                  <a:lnTo>
                    <a:pt x="95885" y="95631"/>
                  </a:lnTo>
                  <a:lnTo>
                    <a:pt x="44704" y="161671"/>
                  </a:lnTo>
                  <a:lnTo>
                    <a:pt x="11684" y="239395"/>
                  </a:lnTo>
                  <a:lnTo>
                    <a:pt x="0" y="325882"/>
                  </a:lnTo>
                  <a:lnTo>
                    <a:pt x="11684" y="412877"/>
                  </a:lnTo>
                  <a:lnTo>
                    <a:pt x="44704" y="490855"/>
                  </a:lnTo>
                  <a:lnTo>
                    <a:pt x="95885" y="556768"/>
                  </a:lnTo>
                  <a:lnTo>
                    <a:pt x="161925" y="607568"/>
                  </a:lnTo>
                  <a:lnTo>
                    <a:pt x="239776" y="640334"/>
                  </a:lnTo>
                  <a:lnTo>
                    <a:pt x="326136" y="651891"/>
                  </a:lnTo>
                  <a:lnTo>
                    <a:pt x="413131" y="640334"/>
                  </a:lnTo>
                  <a:lnTo>
                    <a:pt x="491109" y="607568"/>
                  </a:lnTo>
                  <a:lnTo>
                    <a:pt x="557022" y="556768"/>
                  </a:lnTo>
                  <a:lnTo>
                    <a:pt x="607822" y="490855"/>
                  </a:lnTo>
                  <a:lnTo>
                    <a:pt x="640588" y="412877"/>
                  </a:lnTo>
                  <a:lnTo>
                    <a:pt x="652145" y="325882"/>
                  </a:lnTo>
                  <a:lnTo>
                    <a:pt x="640588" y="239522"/>
                  </a:lnTo>
                  <a:lnTo>
                    <a:pt x="607822" y="161798"/>
                  </a:lnTo>
                  <a:lnTo>
                    <a:pt x="557022" y="95758"/>
                  </a:lnTo>
                  <a:lnTo>
                    <a:pt x="491109" y="44704"/>
                  </a:lnTo>
                  <a:lnTo>
                    <a:pt x="413131" y="11684"/>
                  </a:lnTo>
                  <a:lnTo>
                    <a:pt x="326136" y="0"/>
                  </a:lnTo>
                  <a:close/>
                </a:path>
              </a:pathLst>
            </a:custGeom>
            <a:solidFill>
              <a:srgbClr val="095B6E"/>
            </a:solidFill>
            <a:ln w="12700">
              <a:solidFill>
                <a:srgbClr val="000000"/>
              </a:solidFill>
            </a:ln>
          </p:spPr>
        </p:sp>
      </p:grpSp>
      <p:grpSp>
        <p:nvGrpSpPr>
          <p:cNvPr name="Group 49" id="49"/>
          <p:cNvGrpSpPr/>
          <p:nvPr/>
        </p:nvGrpSpPr>
        <p:grpSpPr>
          <a:xfrm rot="0">
            <a:off x="5351716" y="7559991"/>
            <a:ext cx="416243" cy="418147"/>
            <a:chOff x="0" y="0"/>
            <a:chExt cx="554990" cy="557530"/>
          </a:xfrm>
        </p:grpSpPr>
        <p:sp>
          <p:nvSpPr>
            <p:cNvPr name="Freeform 50" id="50"/>
            <p:cNvSpPr/>
            <p:nvPr/>
          </p:nvSpPr>
          <p:spPr>
            <a:xfrm flipH="false" flipV="false" rot="0">
              <a:off x="0" y="0"/>
              <a:ext cx="554355" cy="557530"/>
            </a:xfrm>
            <a:custGeom>
              <a:avLst/>
              <a:gdLst/>
              <a:ahLst/>
              <a:cxnLst/>
              <a:rect r="r" b="b" t="t" l="l"/>
              <a:pathLst>
                <a:path h="557530" w="554355">
                  <a:moveTo>
                    <a:pt x="276352" y="0"/>
                  </a:moveTo>
                  <a:lnTo>
                    <a:pt x="188595" y="14224"/>
                  </a:lnTo>
                  <a:lnTo>
                    <a:pt x="112649" y="53721"/>
                  </a:lnTo>
                  <a:lnTo>
                    <a:pt x="52959" y="114046"/>
                  </a:lnTo>
                  <a:lnTo>
                    <a:pt x="13970" y="190246"/>
                  </a:lnTo>
                  <a:lnTo>
                    <a:pt x="0" y="277876"/>
                  </a:lnTo>
                  <a:lnTo>
                    <a:pt x="13970" y="366268"/>
                  </a:lnTo>
                  <a:lnTo>
                    <a:pt x="52959" y="442976"/>
                  </a:lnTo>
                  <a:lnTo>
                    <a:pt x="112649" y="503555"/>
                  </a:lnTo>
                  <a:lnTo>
                    <a:pt x="188595" y="543306"/>
                  </a:lnTo>
                  <a:lnTo>
                    <a:pt x="276352" y="557530"/>
                  </a:lnTo>
                  <a:lnTo>
                    <a:pt x="364109" y="543306"/>
                  </a:lnTo>
                  <a:lnTo>
                    <a:pt x="440436" y="503555"/>
                  </a:lnTo>
                  <a:lnTo>
                    <a:pt x="500634" y="442976"/>
                  </a:lnTo>
                  <a:lnTo>
                    <a:pt x="540131" y="366268"/>
                  </a:lnTo>
                  <a:lnTo>
                    <a:pt x="554355" y="277876"/>
                  </a:lnTo>
                  <a:lnTo>
                    <a:pt x="540131" y="190246"/>
                  </a:lnTo>
                  <a:lnTo>
                    <a:pt x="500634" y="114046"/>
                  </a:lnTo>
                  <a:lnTo>
                    <a:pt x="440436" y="53848"/>
                  </a:lnTo>
                  <a:lnTo>
                    <a:pt x="364109" y="14351"/>
                  </a:lnTo>
                  <a:lnTo>
                    <a:pt x="276352" y="0"/>
                  </a:lnTo>
                  <a:close/>
                </a:path>
              </a:pathLst>
            </a:custGeom>
            <a:solidFill>
              <a:srgbClr val="FFFFFF"/>
            </a:solidFill>
            <a:ln w="12700">
              <a:solidFill>
                <a:srgbClr val="000000"/>
              </a:solidFill>
            </a:ln>
          </p:spPr>
        </p:sp>
      </p:grpSp>
      <p:sp>
        <p:nvSpPr>
          <p:cNvPr name="Freeform 51" id="51"/>
          <p:cNvSpPr/>
          <p:nvPr/>
        </p:nvSpPr>
        <p:spPr>
          <a:xfrm flipH="false" flipV="false" rot="0">
            <a:off x="5381244" y="7589518"/>
            <a:ext cx="357188" cy="357188"/>
          </a:xfrm>
          <a:custGeom>
            <a:avLst/>
            <a:gdLst/>
            <a:ahLst/>
            <a:cxnLst/>
            <a:rect r="r" b="b" t="t" l="l"/>
            <a:pathLst>
              <a:path h="357188" w="357188">
                <a:moveTo>
                  <a:pt x="0" y="0"/>
                </a:moveTo>
                <a:lnTo>
                  <a:pt x="357188" y="0"/>
                </a:lnTo>
                <a:lnTo>
                  <a:pt x="357188" y="357188"/>
                </a:lnTo>
                <a:lnTo>
                  <a:pt x="0" y="35718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52" id="52"/>
          <p:cNvGrpSpPr/>
          <p:nvPr/>
        </p:nvGrpSpPr>
        <p:grpSpPr>
          <a:xfrm rot="0">
            <a:off x="5484114" y="7637715"/>
            <a:ext cx="203454" cy="141542"/>
            <a:chOff x="0" y="0"/>
            <a:chExt cx="271272" cy="188722"/>
          </a:xfrm>
        </p:grpSpPr>
        <p:sp>
          <p:nvSpPr>
            <p:cNvPr name="Freeform 53" id="53"/>
            <p:cNvSpPr/>
            <p:nvPr/>
          </p:nvSpPr>
          <p:spPr>
            <a:xfrm flipH="false" flipV="false" rot="0">
              <a:off x="0" y="0"/>
              <a:ext cx="271272" cy="188722"/>
            </a:xfrm>
            <a:custGeom>
              <a:avLst/>
              <a:gdLst/>
              <a:ahLst/>
              <a:cxnLst/>
              <a:rect r="r" b="b" t="t" l="l"/>
              <a:pathLst>
                <a:path h="188722" w="271272">
                  <a:moveTo>
                    <a:pt x="0" y="0"/>
                  </a:moveTo>
                  <a:lnTo>
                    <a:pt x="271272" y="0"/>
                  </a:lnTo>
                  <a:lnTo>
                    <a:pt x="271272" y="188722"/>
                  </a:lnTo>
                  <a:lnTo>
                    <a:pt x="0" y="188722"/>
                  </a:lnTo>
                  <a:lnTo>
                    <a:pt x="0" y="0"/>
                  </a:lnTo>
                  <a:close/>
                </a:path>
              </a:pathLst>
            </a:custGeom>
            <a:blipFill>
              <a:blip r:embed="rId22"/>
              <a:stretch>
                <a:fillRect l="0" t="0" r="0" b="-2672"/>
              </a:stretch>
            </a:blipFill>
          </p:spPr>
        </p:sp>
      </p:grpSp>
      <p:grpSp>
        <p:nvGrpSpPr>
          <p:cNvPr name="Group 54" id="54"/>
          <p:cNvGrpSpPr/>
          <p:nvPr/>
        </p:nvGrpSpPr>
        <p:grpSpPr>
          <a:xfrm rot="0">
            <a:off x="6320790" y="7616951"/>
            <a:ext cx="610551" cy="301943"/>
            <a:chOff x="0" y="0"/>
            <a:chExt cx="814068" cy="402590"/>
          </a:xfrm>
        </p:grpSpPr>
        <p:sp>
          <p:nvSpPr>
            <p:cNvPr name="Freeform 55" id="55"/>
            <p:cNvSpPr/>
            <p:nvPr/>
          </p:nvSpPr>
          <p:spPr>
            <a:xfrm flipH="false" flipV="false" rot="0">
              <a:off x="0" y="0"/>
              <a:ext cx="164338" cy="402336"/>
            </a:xfrm>
            <a:custGeom>
              <a:avLst/>
              <a:gdLst/>
              <a:ahLst/>
              <a:cxnLst/>
              <a:rect r="r" b="b" t="t" l="l"/>
              <a:pathLst>
                <a:path h="402336" w="164338">
                  <a:moveTo>
                    <a:pt x="164338" y="11684"/>
                  </a:moveTo>
                  <a:lnTo>
                    <a:pt x="152400" y="0"/>
                  </a:lnTo>
                  <a:lnTo>
                    <a:pt x="10160" y="0"/>
                  </a:lnTo>
                  <a:lnTo>
                    <a:pt x="0" y="11684"/>
                  </a:lnTo>
                  <a:lnTo>
                    <a:pt x="0" y="392176"/>
                  </a:lnTo>
                  <a:lnTo>
                    <a:pt x="10160" y="402336"/>
                  </a:lnTo>
                  <a:lnTo>
                    <a:pt x="152400" y="402336"/>
                  </a:lnTo>
                  <a:lnTo>
                    <a:pt x="164338" y="392176"/>
                  </a:lnTo>
                  <a:lnTo>
                    <a:pt x="164338" y="25400"/>
                  </a:lnTo>
                  <a:lnTo>
                    <a:pt x="164338" y="11684"/>
                  </a:lnTo>
                  <a:close/>
                </a:path>
              </a:pathLst>
            </a:custGeom>
            <a:solidFill>
              <a:srgbClr val="095B6E"/>
            </a:solidFill>
            <a:ln w="12700">
              <a:solidFill>
                <a:srgbClr val="000000"/>
              </a:solidFill>
            </a:ln>
          </p:spPr>
        </p:sp>
        <p:sp>
          <p:nvSpPr>
            <p:cNvPr name="Freeform 56" id="56"/>
            <p:cNvSpPr/>
            <p:nvPr/>
          </p:nvSpPr>
          <p:spPr>
            <a:xfrm flipH="false" flipV="false" rot="0">
              <a:off x="624840" y="179832"/>
              <a:ext cx="188976" cy="42418"/>
            </a:xfrm>
            <a:custGeom>
              <a:avLst/>
              <a:gdLst/>
              <a:ahLst/>
              <a:cxnLst/>
              <a:rect r="r" b="b" t="t" l="l"/>
              <a:pathLst>
                <a:path h="42418" w="188976">
                  <a:moveTo>
                    <a:pt x="188976" y="8382"/>
                  </a:moveTo>
                  <a:lnTo>
                    <a:pt x="180594" y="0"/>
                  </a:lnTo>
                  <a:lnTo>
                    <a:pt x="10160" y="0"/>
                  </a:lnTo>
                  <a:lnTo>
                    <a:pt x="0" y="8382"/>
                  </a:lnTo>
                  <a:lnTo>
                    <a:pt x="0" y="32258"/>
                  </a:lnTo>
                  <a:lnTo>
                    <a:pt x="10160" y="42418"/>
                  </a:lnTo>
                  <a:lnTo>
                    <a:pt x="180594" y="42418"/>
                  </a:lnTo>
                  <a:lnTo>
                    <a:pt x="188976" y="32258"/>
                  </a:lnTo>
                  <a:lnTo>
                    <a:pt x="188976" y="20574"/>
                  </a:lnTo>
                  <a:lnTo>
                    <a:pt x="188976" y="8382"/>
                  </a:lnTo>
                  <a:close/>
                </a:path>
              </a:pathLst>
            </a:custGeom>
            <a:solidFill>
              <a:srgbClr val="095B6E"/>
            </a:solidFill>
            <a:ln w="12700">
              <a:solidFill>
                <a:srgbClr val="000000"/>
              </a:solidFill>
            </a:ln>
          </p:spPr>
        </p:sp>
      </p:grpSp>
      <p:sp>
        <p:nvSpPr>
          <p:cNvPr name="Freeform 57" id="57"/>
          <p:cNvSpPr/>
          <p:nvPr/>
        </p:nvSpPr>
        <p:spPr>
          <a:xfrm flipH="false" flipV="false" rot="0">
            <a:off x="4343590" y="7744966"/>
            <a:ext cx="548640" cy="52388"/>
          </a:xfrm>
          <a:custGeom>
            <a:avLst/>
            <a:gdLst/>
            <a:ahLst/>
            <a:cxnLst/>
            <a:rect r="r" b="b" t="t" l="l"/>
            <a:pathLst>
              <a:path h="52388" w="548640">
                <a:moveTo>
                  <a:pt x="0" y="0"/>
                </a:moveTo>
                <a:lnTo>
                  <a:pt x="548640" y="0"/>
                </a:lnTo>
                <a:lnTo>
                  <a:pt x="548640" y="52388"/>
                </a:lnTo>
                <a:lnTo>
                  <a:pt x="0" y="52388"/>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58" id="58"/>
          <p:cNvSpPr/>
          <p:nvPr/>
        </p:nvSpPr>
        <p:spPr>
          <a:xfrm flipH="false" flipV="false" rot="0">
            <a:off x="5326380" y="1819845"/>
            <a:ext cx="1900238" cy="1404176"/>
          </a:xfrm>
          <a:custGeom>
            <a:avLst/>
            <a:gdLst/>
            <a:ahLst/>
            <a:cxnLst/>
            <a:rect r="r" b="b" t="t" l="l"/>
            <a:pathLst>
              <a:path h="1404176" w="1900238">
                <a:moveTo>
                  <a:pt x="0" y="0"/>
                </a:moveTo>
                <a:lnTo>
                  <a:pt x="1900238" y="0"/>
                </a:lnTo>
                <a:lnTo>
                  <a:pt x="1900238" y="1404176"/>
                </a:lnTo>
                <a:lnTo>
                  <a:pt x="0" y="140417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59" id="59"/>
          <p:cNvSpPr txBox="true"/>
          <p:nvPr/>
        </p:nvSpPr>
        <p:spPr>
          <a:xfrm rot="0">
            <a:off x="11639931" y="2268790"/>
            <a:ext cx="1158677" cy="1562100"/>
          </a:xfrm>
          <a:prstGeom prst="rect">
            <a:avLst/>
          </a:prstGeom>
        </p:spPr>
        <p:txBody>
          <a:bodyPr anchor="t" rtlCol="false" tIns="0" lIns="0" bIns="0" rIns="0">
            <a:spAutoFit/>
          </a:bodyPr>
          <a:lstStyle/>
          <a:p>
            <a:pPr algn="l">
              <a:lnSpc>
                <a:spcPts val="10800"/>
              </a:lnSpc>
            </a:pPr>
            <a:r>
              <a:rPr lang="en-US" sz="9000">
                <a:solidFill>
                  <a:srgbClr val="002C6B"/>
                </a:solidFill>
                <a:latin typeface="Calibri (MS)"/>
                <a:ea typeface="Calibri (MS)"/>
                <a:cs typeface="Calibri (MS)"/>
                <a:sym typeface="Calibri (MS)"/>
              </a:rPr>
              <a:t>02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11673040" y="1470212"/>
            <a:ext cx="5101442" cy="7346576"/>
          </a:xfrm>
          <a:custGeom>
            <a:avLst/>
            <a:gdLst/>
            <a:ahLst/>
            <a:cxnLst/>
            <a:rect r="r" b="b" t="t" l="l"/>
            <a:pathLst>
              <a:path h="7346576" w="5101442">
                <a:moveTo>
                  <a:pt x="0" y="0"/>
                </a:moveTo>
                <a:lnTo>
                  <a:pt x="5101442" y="0"/>
                </a:lnTo>
                <a:lnTo>
                  <a:pt x="5101442" y="7346576"/>
                </a:lnTo>
                <a:lnTo>
                  <a:pt x="0" y="7346576"/>
                </a:lnTo>
                <a:lnTo>
                  <a:pt x="0" y="0"/>
                </a:lnTo>
                <a:close/>
              </a:path>
            </a:pathLst>
          </a:custGeom>
          <a:blipFill>
            <a:blip r:embed="rId4"/>
            <a:stretch>
              <a:fillRect l="0" t="0" r="0" b="0"/>
            </a:stretch>
          </a:blipFill>
        </p:spPr>
      </p:sp>
      <p:sp>
        <p:nvSpPr>
          <p:cNvPr name="TextBox 9" id="9"/>
          <p:cNvSpPr txBox="true"/>
          <p:nvPr/>
        </p:nvSpPr>
        <p:spPr>
          <a:xfrm rot="0">
            <a:off x="1665618" y="468762"/>
            <a:ext cx="4959995"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Transformer from scratch</a:t>
            </a:r>
          </a:p>
        </p:txBody>
      </p:sp>
      <p:sp>
        <p:nvSpPr>
          <p:cNvPr name="TextBox 10" id="10"/>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02</a:t>
            </a:r>
          </a:p>
        </p:txBody>
      </p:sp>
      <p:sp>
        <p:nvSpPr>
          <p:cNvPr name="TextBox 11" id="11"/>
          <p:cNvSpPr txBox="true"/>
          <p:nvPr/>
        </p:nvSpPr>
        <p:spPr>
          <a:xfrm rot="0">
            <a:off x="491966" y="1308086"/>
            <a:ext cx="6435514" cy="602933"/>
          </a:xfrm>
          <a:prstGeom prst="rect">
            <a:avLst/>
          </a:prstGeom>
        </p:spPr>
        <p:txBody>
          <a:bodyPr anchor="t" rtlCol="false" tIns="0" lIns="0" bIns="0" rIns="0">
            <a:spAutoFit/>
          </a:bodyPr>
          <a:lstStyle/>
          <a:p>
            <a:pPr algn="ctr">
              <a:lnSpc>
                <a:spcPts val="4252"/>
              </a:lnSpc>
              <a:spcBef>
                <a:spcPct val="0"/>
              </a:spcBef>
            </a:pPr>
            <a:r>
              <a:rPr lang="en-US" b="true" sz="3499">
                <a:solidFill>
                  <a:srgbClr val="000000"/>
                </a:solidFill>
                <a:latin typeface="Calibri (MS) Bold"/>
                <a:ea typeface="Calibri (MS) Bold"/>
                <a:cs typeface="Calibri (MS) Bold"/>
                <a:sym typeface="Calibri (MS) Bold"/>
              </a:rPr>
              <a:t>Kiến trúc hệ thống &amp; Module hóa</a:t>
            </a:r>
          </a:p>
        </p:txBody>
      </p:sp>
      <p:sp>
        <p:nvSpPr>
          <p:cNvPr name="TextBox 12" id="12"/>
          <p:cNvSpPr txBox="true"/>
          <p:nvPr/>
        </p:nvSpPr>
        <p:spPr>
          <a:xfrm rot="0">
            <a:off x="615582" y="3303556"/>
            <a:ext cx="10518864" cy="4108514"/>
          </a:xfrm>
          <a:prstGeom prst="rect">
            <a:avLst/>
          </a:prstGeom>
        </p:spPr>
        <p:txBody>
          <a:bodyPr anchor="t" rtlCol="false" tIns="0" lIns="0" bIns="0" rIns="0">
            <a:spAutoFit/>
          </a:bodyPr>
          <a:lstStyle/>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Thiết kế dạng Module: Tách biệt rõ ràng EncoderLayer, DecoderLayer, PositionalEncoding</a:t>
            </a:r>
          </a:p>
          <a:p>
            <a:pPr algn="l">
              <a:lnSpc>
                <a:spcPts val="4009"/>
              </a:lnSpc>
            </a:pP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Xử lý dữ liệu: </a:t>
            </a:r>
          </a:p>
          <a:p>
            <a:pPr algn="l" marL="1424930" indent="-474977" lvl="2">
              <a:lnSpc>
                <a:spcPts val="4009"/>
              </a:lnSpc>
              <a:buFont typeface="Arial"/>
              <a:buChar char="⚬"/>
            </a:pPr>
            <a:r>
              <a:rPr lang="en-US" sz="3299">
                <a:solidFill>
                  <a:srgbClr val="000000"/>
                </a:solidFill>
                <a:latin typeface="Calibri (MS)"/>
                <a:ea typeface="Calibri (MS)"/>
                <a:cs typeface="Calibri (MS)"/>
                <a:sym typeface="Calibri (MS)"/>
              </a:rPr>
              <a:t>Dữ liệu là bộ PhoMT của VinAI</a:t>
            </a:r>
          </a:p>
          <a:p>
            <a:pPr algn="l" marL="1424930" indent="-474977" lvl="2">
              <a:lnSpc>
                <a:spcPts val="4009"/>
              </a:lnSpc>
              <a:buFont typeface="Arial"/>
              <a:buChar char="⚬"/>
            </a:pPr>
            <a:r>
              <a:rPr lang="en-US" sz="3299">
                <a:solidFill>
                  <a:srgbClr val="000000"/>
                </a:solidFill>
                <a:latin typeface="Calibri (MS)"/>
                <a:ea typeface="Calibri (MS)"/>
                <a:cs typeface="Calibri (MS)"/>
                <a:sym typeface="Calibri (MS)"/>
              </a:rPr>
              <a:t>Tokenize bằng SentencePiece giúp giảm đi OOV và hiệu quả hơn</a:t>
            </a:r>
          </a:p>
          <a:p>
            <a:pPr algn="l" marL="1424930" indent="-474977" lvl="2">
              <a:lnSpc>
                <a:spcPts val="4009"/>
              </a:lnSpc>
              <a:buFont typeface="Arial"/>
              <a:buChar char="⚬"/>
            </a:pPr>
            <a:r>
              <a:rPr lang="en-US" sz="3299">
                <a:solidFill>
                  <a:srgbClr val="000000"/>
                </a:solidFill>
                <a:latin typeface="Calibri (MS)"/>
                <a:ea typeface="Calibri (MS)"/>
                <a:cs typeface="Calibri (MS)"/>
                <a:sym typeface="Calibri (MS)"/>
              </a:rPr>
              <a:t>Đầy đủ các bước padding, truncation, tạo dataloader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12242232" y="1911018"/>
            <a:ext cx="4918950" cy="5911007"/>
          </a:xfrm>
          <a:custGeom>
            <a:avLst/>
            <a:gdLst/>
            <a:ahLst/>
            <a:cxnLst/>
            <a:rect r="r" b="b" t="t" l="l"/>
            <a:pathLst>
              <a:path h="5911007" w="4918950">
                <a:moveTo>
                  <a:pt x="0" y="0"/>
                </a:moveTo>
                <a:lnTo>
                  <a:pt x="4918950" y="0"/>
                </a:lnTo>
                <a:lnTo>
                  <a:pt x="4918950" y="5911008"/>
                </a:lnTo>
                <a:lnTo>
                  <a:pt x="0" y="5911008"/>
                </a:lnTo>
                <a:lnTo>
                  <a:pt x="0" y="0"/>
                </a:lnTo>
                <a:close/>
              </a:path>
            </a:pathLst>
          </a:custGeom>
          <a:blipFill>
            <a:blip r:embed="rId4"/>
            <a:stretch>
              <a:fillRect l="0" t="0" r="0" b="0"/>
            </a:stretch>
          </a:blipFill>
        </p:spPr>
      </p:sp>
      <p:sp>
        <p:nvSpPr>
          <p:cNvPr name="TextBox 9" id="9"/>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02</a:t>
            </a:r>
          </a:p>
        </p:txBody>
      </p:sp>
      <p:sp>
        <p:nvSpPr>
          <p:cNvPr name="TextBox 10" id="10"/>
          <p:cNvSpPr txBox="true"/>
          <p:nvPr/>
        </p:nvSpPr>
        <p:spPr>
          <a:xfrm rot="0">
            <a:off x="491966" y="1308086"/>
            <a:ext cx="6435514" cy="602933"/>
          </a:xfrm>
          <a:prstGeom prst="rect">
            <a:avLst/>
          </a:prstGeom>
        </p:spPr>
        <p:txBody>
          <a:bodyPr anchor="t" rtlCol="false" tIns="0" lIns="0" bIns="0" rIns="0">
            <a:spAutoFit/>
          </a:bodyPr>
          <a:lstStyle/>
          <a:p>
            <a:pPr algn="ctr">
              <a:lnSpc>
                <a:spcPts val="4252"/>
              </a:lnSpc>
              <a:spcBef>
                <a:spcPct val="0"/>
              </a:spcBef>
            </a:pPr>
            <a:r>
              <a:rPr lang="en-US" b="true" sz="3499">
                <a:solidFill>
                  <a:srgbClr val="000000"/>
                </a:solidFill>
                <a:latin typeface="Calibri (MS) Bold"/>
                <a:ea typeface="Calibri (MS) Bold"/>
                <a:cs typeface="Calibri (MS) Bold"/>
                <a:sym typeface="Calibri (MS) Bold"/>
              </a:rPr>
              <a:t>Kiến trúc hệ thống &amp; Module hóa</a:t>
            </a:r>
          </a:p>
        </p:txBody>
      </p:sp>
      <p:sp>
        <p:nvSpPr>
          <p:cNvPr name="TextBox 11" id="11"/>
          <p:cNvSpPr txBox="true"/>
          <p:nvPr/>
        </p:nvSpPr>
        <p:spPr>
          <a:xfrm rot="0">
            <a:off x="615582" y="3303556"/>
            <a:ext cx="10097141" cy="3098864"/>
          </a:xfrm>
          <a:prstGeom prst="rect">
            <a:avLst/>
          </a:prstGeom>
        </p:spPr>
        <p:txBody>
          <a:bodyPr anchor="t" rtlCol="false" tIns="0" lIns="0" bIns="0" rIns="0">
            <a:spAutoFit/>
          </a:bodyPr>
          <a:lstStyle/>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Sử dụng kiến trúc Pre-norm: giúp quá trình train ổn định hơn và nhanh hơn</a:t>
            </a:r>
          </a:p>
          <a:p>
            <a:pPr algn="l" marL="1424930" indent="-474977" lvl="2">
              <a:lnSpc>
                <a:spcPts val="4009"/>
              </a:lnSpc>
              <a:buFont typeface="Arial"/>
              <a:buChar char="⚬"/>
            </a:pPr>
            <a:r>
              <a:rPr lang="en-US" sz="3299">
                <a:solidFill>
                  <a:srgbClr val="000000"/>
                </a:solidFill>
                <a:latin typeface="Calibri (MS)"/>
                <a:ea typeface="Calibri (MS)"/>
                <a:cs typeface="Calibri (MS)"/>
                <a:sym typeface="Calibri (MS)"/>
              </a:rPr>
              <a:t>Hình a: Post layer-norm </a:t>
            </a:r>
          </a:p>
          <a:p>
            <a:pPr algn="l" marL="1424930" indent="-474977" lvl="2">
              <a:lnSpc>
                <a:spcPts val="4009"/>
              </a:lnSpc>
              <a:buFont typeface="Arial"/>
              <a:buChar char="⚬"/>
            </a:pPr>
            <a:r>
              <a:rPr lang="en-US" sz="3299">
                <a:solidFill>
                  <a:srgbClr val="000000"/>
                </a:solidFill>
                <a:latin typeface="Calibri (MS)"/>
                <a:ea typeface="Calibri (MS)"/>
                <a:cs typeface="Calibri (MS)"/>
                <a:sym typeface="Calibri (MS)"/>
              </a:rPr>
              <a:t>Hình b: Pre layer-norm</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Bài báo: On Layer Normalization in the Transformer Architecture</a:t>
            </a:r>
          </a:p>
        </p:txBody>
      </p:sp>
      <p:sp>
        <p:nvSpPr>
          <p:cNvPr name="TextBox 12" id="12"/>
          <p:cNvSpPr txBox="true"/>
          <p:nvPr/>
        </p:nvSpPr>
        <p:spPr>
          <a:xfrm rot="0">
            <a:off x="1665618" y="468762"/>
            <a:ext cx="4959995"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Transformer from scratch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2904660" y="8112435"/>
            <a:ext cx="7955944" cy="967934"/>
          </a:xfrm>
          <a:custGeom>
            <a:avLst/>
            <a:gdLst/>
            <a:ahLst/>
            <a:cxnLst/>
            <a:rect r="r" b="b" t="t" l="l"/>
            <a:pathLst>
              <a:path h="967934" w="7955944">
                <a:moveTo>
                  <a:pt x="0" y="0"/>
                </a:moveTo>
                <a:lnTo>
                  <a:pt x="7955944" y="0"/>
                </a:lnTo>
                <a:lnTo>
                  <a:pt x="7955944" y="967934"/>
                </a:lnTo>
                <a:lnTo>
                  <a:pt x="0" y="967934"/>
                </a:lnTo>
                <a:lnTo>
                  <a:pt x="0" y="0"/>
                </a:lnTo>
                <a:close/>
              </a:path>
            </a:pathLst>
          </a:custGeom>
          <a:blipFill>
            <a:blip r:embed="rId4"/>
            <a:stretch>
              <a:fillRect l="0" t="0" r="0" b="0"/>
            </a:stretch>
          </a:blipFill>
        </p:spPr>
      </p:sp>
      <p:sp>
        <p:nvSpPr>
          <p:cNvPr name="Freeform 9" id="9"/>
          <p:cNvSpPr/>
          <p:nvPr/>
        </p:nvSpPr>
        <p:spPr>
          <a:xfrm flipH="false" flipV="false" rot="0">
            <a:off x="2904660" y="4849033"/>
            <a:ext cx="5204105" cy="960116"/>
          </a:xfrm>
          <a:custGeom>
            <a:avLst/>
            <a:gdLst/>
            <a:ahLst/>
            <a:cxnLst/>
            <a:rect r="r" b="b" t="t" l="l"/>
            <a:pathLst>
              <a:path h="960116" w="5204105">
                <a:moveTo>
                  <a:pt x="0" y="0"/>
                </a:moveTo>
                <a:lnTo>
                  <a:pt x="5204105" y="0"/>
                </a:lnTo>
                <a:lnTo>
                  <a:pt x="5204105" y="960116"/>
                </a:lnTo>
                <a:lnTo>
                  <a:pt x="0" y="960116"/>
                </a:lnTo>
                <a:lnTo>
                  <a:pt x="0" y="0"/>
                </a:lnTo>
                <a:close/>
              </a:path>
            </a:pathLst>
          </a:custGeom>
          <a:blipFill>
            <a:blip r:embed="rId5"/>
            <a:stretch>
              <a:fillRect l="0" t="0" r="0" b="0"/>
            </a:stretch>
          </a:blipFill>
        </p:spPr>
      </p:sp>
      <p:sp>
        <p:nvSpPr>
          <p:cNvPr name="Freeform 10" id="10"/>
          <p:cNvSpPr/>
          <p:nvPr/>
        </p:nvSpPr>
        <p:spPr>
          <a:xfrm flipH="false" flipV="false" rot="0">
            <a:off x="2904660" y="6345787"/>
            <a:ext cx="4871858" cy="950638"/>
          </a:xfrm>
          <a:custGeom>
            <a:avLst/>
            <a:gdLst/>
            <a:ahLst/>
            <a:cxnLst/>
            <a:rect r="r" b="b" t="t" l="l"/>
            <a:pathLst>
              <a:path h="950638" w="4871858">
                <a:moveTo>
                  <a:pt x="0" y="0"/>
                </a:moveTo>
                <a:lnTo>
                  <a:pt x="4871858" y="0"/>
                </a:lnTo>
                <a:lnTo>
                  <a:pt x="4871858" y="950638"/>
                </a:lnTo>
                <a:lnTo>
                  <a:pt x="0" y="950638"/>
                </a:lnTo>
                <a:lnTo>
                  <a:pt x="0" y="0"/>
                </a:lnTo>
                <a:close/>
              </a:path>
            </a:pathLst>
          </a:custGeom>
          <a:blipFill>
            <a:blip r:embed="rId6"/>
            <a:stretch>
              <a:fillRect l="-489" t="0" r="-489" b="0"/>
            </a:stretch>
          </a:blipFill>
        </p:spPr>
      </p:sp>
      <p:sp>
        <p:nvSpPr>
          <p:cNvPr name="Freeform 11" id="11"/>
          <p:cNvSpPr/>
          <p:nvPr/>
        </p:nvSpPr>
        <p:spPr>
          <a:xfrm flipH="false" flipV="false" rot="0">
            <a:off x="10860604" y="3188959"/>
            <a:ext cx="6362935" cy="4719655"/>
          </a:xfrm>
          <a:custGeom>
            <a:avLst/>
            <a:gdLst/>
            <a:ahLst/>
            <a:cxnLst/>
            <a:rect r="r" b="b" t="t" l="l"/>
            <a:pathLst>
              <a:path h="4719655" w="6362935">
                <a:moveTo>
                  <a:pt x="0" y="0"/>
                </a:moveTo>
                <a:lnTo>
                  <a:pt x="6362935" y="0"/>
                </a:lnTo>
                <a:lnTo>
                  <a:pt x="6362935" y="4719655"/>
                </a:lnTo>
                <a:lnTo>
                  <a:pt x="0" y="4719655"/>
                </a:lnTo>
                <a:lnTo>
                  <a:pt x="0" y="0"/>
                </a:lnTo>
                <a:close/>
              </a:path>
            </a:pathLst>
          </a:custGeom>
          <a:blipFill>
            <a:blip r:embed="rId7"/>
            <a:stretch>
              <a:fillRect l="0" t="0" r="0" b="0"/>
            </a:stretch>
          </a:blipFill>
        </p:spPr>
      </p:sp>
      <p:sp>
        <p:nvSpPr>
          <p:cNvPr name="TextBox 12" id="12"/>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02</a:t>
            </a:r>
          </a:p>
        </p:txBody>
      </p:sp>
      <p:sp>
        <p:nvSpPr>
          <p:cNvPr name="TextBox 13" id="13"/>
          <p:cNvSpPr txBox="true"/>
          <p:nvPr/>
        </p:nvSpPr>
        <p:spPr>
          <a:xfrm rot="0">
            <a:off x="491966" y="1308086"/>
            <a:ext cx="6435514" cy="602933"/>
          </a:xfrm>
          <a:prstGeom prst="rect">
            <a:avLst/>
          </a:prstGeom>
        </p:spPr>
        <p:txBody>
          <a:bodyPr anchor="t" rtlCol="false" tIns="0" lIns="0" bIns="0" rIns="0">
            <a:spAutoFit/>
          </a:bodyPr>
          <a:lstStyle/>
          <a:p>
            <a:pPr algn="ctr">
              <a:lnSpc>
                <a:spcPts val="4252"/>
              </a:lnSpc>
              <a:spcBef>
                <a:spcPct val="0"/>
              </a:spcBef>
            </a:pPr>
            <a:r>
              <a:rPr lang="en-US" b="true" sz="3499">
                <a:solidFill>
                  <a:srgbClr val="000000"/>
                </a:solidFill>
                <a:latin typeface="Calibri (MS) Bold"/>
                <a:ea typeface="Calibri (MS) Bold"/>
                <a:cs typeface="Calibri (MS) Bold"/>
                <a:sym typeface="Calibri (MS) Bold"/>
              </a:rPr>
              <a:t>Kiến trúc hệ thống &amp; Module hóa</a:t>
            </a:r>
          </a:p>
        </p:txBody>
      </p:sp>
      <p:sp>
        <p:nvSpPr>
          <p:cNvPr name="TextBox 14" id="14"/>
          <p:cNvSpPr txBox="true"/>
          <p:nvPr/>
        </p:nvSpPr>
        <p:spPr>
          <a:xfrm rot="0">
            <a:off x="615582" y="4238300"/>
            <a:ext cx="10097141" cy="574739"/>
          </a:xfrm>
          <a:prstGeom prst="rect">
            <a:avLst/>
          </a:prstGeom>
        </p:spPr>
        <p:txBody>
          <a:bodyPr anchor="t" rtlCol="false" tIns="0" lIns="0" bIns="0" rIns="0">
            <a:spAutoFit/>
          </a:bodyPr>
          <a:lstStyle/>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S</a:t>
            </a:r>
            <a:r>
              <a:rPr lang="en-US" sz="3299">
                <a:solidFill>
                  <a:srgbClr val="000000"/>
                </a:solidFill>
                <a:latin typeface="Calibri (MS)"/>
                <a:ea typeface="Calibri (MS)"/>
                <a:cs typeface="Calibri (MS)"/>
                <a:sym typeface="Calibri (MS)"/>
              </a:rPr>
              <a:t>caled-dotproduct</a:t>
            </a:r>
          </a:p>
        </p:txBody>
      </p:sp>
      <p:sp>
        <p:nvSpPr>
          <p:cNvPr name="TextBox 15" id="15"/>
          <p:cNvSpPr txBox="true"/>
          <p:nvPr/>
        </p:nvSpPr>
        <p:spPr>
          <a:xfrm rot="0">
            <a:off x="615582" y="2611078"/>
            <a:ext cx="10657157" cy="1079564"/>
          </a:xfrm>
          <a:prstGeom prst="rect">
            <a:avLst/>
          </a:prstGeom>
        </p:spPr>
        <p:txBody>
          <a:bodyPr anchor="t" rtlCol="false" tIns="0" lIns="0" bIns="0" rIns="0">
            <a:spAutoFit/>
          </a:bodyPr>
          <a:lstStyle/>
          <a:p>
            <a:pPr algn="l">
              <a:lnSpc>
                <a:spcPts val="4009"/>
              </a:lnSpc>
              <a:spcBef>
                <a:spcPct val="0"/>
              </a:spcBef>
            </a:pPr>
            <a:r>
              <a:rPr lang="en-US" sz="3299">
                <a:solidFill>
                  <a:srgbClr val="000000"/>
                </a:solidFill>
                <a:latin typeface="Calibri (MS)"/>
                <a:ea typeface="Calibri (MS)"/>
                <a:cs typeface="Calibri (MS)"/>
                <a:sym typeface="Calibri (MS)"/>
              </a:rPr>
              <a:t>Không chỉ cài đặt Scaled Dot-Product cơ bản, nhóm mở rộng hỗ trợ đa cơ chế Attention.</a:t>
            </a:r>
          </a:p>
        </p:txBody>
      </p:sp>
      <p:sp>
        <p:nvSpPr>
          <p:cNvPr name="TextBox 16" id="16"/>
          <p:cNvSpPr txBox="true"/>
          <p:nvPr/>
        </p:nvSpPr>
        <p:spPr>
          <a:xfrm rot="0">
            <a:off x="615582" y="5771049"/>
            <a:ext cx="10097141" cy="574739"/>
          </a:xfrm>
          <a:prstGeom prst="rect">
            <a:avLst/>
          </a:prstGeom>
        </p:spPr>
        <p:txBody>
          <a:bodyPr anchor="t" rtlCol="false" tIns="0" lIns="0" bIns="0" rIns="0">
            <a:spAutoFit/>
          </a:bodyPr>
          <a:lstStyle/>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Luong</a:t>
            </a:r>
          </a:p>
        </p:txBody>
      </p:sp>
      <p:sp>
        <p:nvSpPr>
          <p:cNvPr name="TextBox 17" id="17"/>
          <p:cNvSpPr txBox="true"/>
          <p:nvPr/>
        </p:nvSpPr>
        <p:spPr>
          <a:xfrm rot="0">
            <a:off x="615582" y="7499597"/>
            <a:ext cx="10097141" cy="574739"/>
          </a:xfrm>
          <a:prstGeom prst="rect">
            <a:avLst/>
          </a:prstGeom>
        </p:spPr>
        <p:txBody>
          <a:bodyPr anchor="t" rtlCol="false" tIns="0" lIns="0" bIns="0" rIns="0">
            <a:spAutoFit/>
          </a:bodyPr>
          <a:lstStyle/>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Bahdanau</a:t>
            </a:r>
          </a:p>
        </p:txBody>
      </p:sp>
      <p:sp>
        <p:nvSpPr>
          <p:cNvPr name="TextBox 18" id="18"/>
          <p:cNvSpPr txBox="true"/>
          <p:nvPr/>
        </p:nvSpPr>
        <p:spPr>
          <a:xfrm rot="0">
            <a:off x="1665618" y="468762"/>
            <a:ext cx="4959995"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Transformer from scratch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10050521" y="4679873"/>
            <a:ext cx="7403193" cy="3294421"/>
          </a:xfrm>
          <a:custGeom>
            <a:avLst/>
            <a:gdLst/>
            <a:ahLst/>
            <a:cxnLst/>
            <a:rect r="r" b="b" t="t" l="l"/>
            <a:pathLst>
              <a:path h="3294421" w="7403193">
                <a:moveTo>
                  <a:pt x="0" y="0"/>
                </a:moveTo>
                <a:lnTo>
                  <a:pt x="7403194" y="0"/>
                </a:lnTo>
                <a:lnTo>
                  <a:pt x="7403194" y="3294421"/>
                </a:lnTo>
                <a:lnTo>
                  <a:pt x="0" y="3294421"/>
                </a:lnTo>
                <a:lnTo>
                  <a:pt x="0" y="0"/>
                </a:lnTo>
                <a:close/>
              </a:path>
            </a:pathLst>
          </a:custGeom>
          <a:blipFill>
            <a:blip r:embed="rId4"/>
            <a:stretch>
              <a:fillRect l="0" t="0" r="0" b="0"/>
            </a:stretch>
          </a:blipFill>
        </p:spPr>
      </p:sp>
      <p:sp>
        <p:nvSpPr>
          <p:cNvPr name="Freeform 9" id="9"/>
          <p:cNvSpPr/>
          <p:nvPr/>
        </p:nvSpPr>
        <p:spPr>
          <a:xfrm flipH="false" flipV="false" rot="0">
            <a:off x="10241540" y="1897718"/>
            <a:ext cx="7212175" cy="2086830"/>
          </a:xfrm>
          <a:custGeom>
            <a:avLst/>
            <a:gdLst/>
            <a:ahLst/>
            <a:cxnLst/>
            <a:rect r="r" b="b" t="t" l="l"/>
            <a:pathLst>
              <a:path h="2086830" w="7212175">
                <a:moveTo>
                  <a:pt x="0" y="0"/>
                </a:moveTo>
                <a:lnTo>
                  <a:pt x="7212175" y="0"/>
                </a:lnTo>
                <a:lnTo>
                  <a:pt x="7212175" y="2086830"/>
                </a:lnTo>
                <a:lnTo>
                  <a:pt x="0" y="2086830"/>
                </a:lnTo>
                <a:lnTo>
                  <a:pt x="0" y="0"/>
                </a:lnTo>
                <a:close/>
              </a:path>
            </a:pathLst>
          </a:custGeom>
          <a:blipFill>
            <a:blip r:embed="rId5"/>
            <a:stretch>
              <a:fillRect l="0" t="0" r="0" b="0"/>
            </a:stretch>
          </a:blipFill>
        </p:spPr>
      </p:sp>
      <p:sp>
        <p:nvSpPr>
          <p:cNvPr name="TextBox 10" id="10"/>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02</a:t>
            </a:r>
          </a:p>
        </p:txBody>
      </p:sp>
      <p:sp>
        <p:nvSpPr>
          <p:cNvPr name="TextBox 11" id="11"/>
          <p:cNvSpPr txBox="true"/>
          <p:nvPr/>
        </p:nvSpPr>
        <p:spPr>
          <a:xfrm rot="0">
            <a:off x="615582" y="1323184"/>
            <a:ext cx="7895534" cy="602933"/>
          </a:xfrm>
          <a:prstGeom prst="rect">
            <a:avLst/>
          </a:prstGeom>
        </p:spPr>
        <p:txBody>
          <a:bodyPr anchor="t" rtlCol="false" tIns="0" lIns="0" bIns="0" rIns="0">
            <a:spAutoFit/>
          </a:bodyPr>
          <a:lstStyle/>
          <a:p>
            <a:pPr algn="l">
              <a:lnSpc>
                <a:spcPts val="4252"/>
              </a:lnSpc>
              <a:spcBef>
                <a:spcPct val="0"/>
              </a:spcBef>
            </a:pPr>
            <a:r>
              <a:rPr lang="en-US" b="true" sz="3499">
                <a:solidFill>
                  <a:srgbClr val="000000"/>
                </a:solidFill>
                <a:latin typeface="Calibri (MS) Bold"/>
                <a:ea typeface="Calibri (MS) Bold"/>
                <a:cs typeface="Calibri (MS) Bold"/>
                <a:sym typeface="Calibri (MS) Bold"/>
              </a:rPr>
              <a:t>Chiến lược D</a:t>
            </a:r>
            <a:r>
              <a:rPr lang="en-US" b="true" sz="3499">
                <a:solidFill>
                  <a:srgbClr val="000000"/>
                </a:solidFill>
                <a:latin typeface="Calibri (MS) Bold"/>
                <a:ea typeface="Calibri (MS) Bold"/>
                <a:cs typeface="Calibri (MS) Bold"/>
                <a:sym typeface="Calibri (MS) Bold"/>
              </a:rPr>
              <a:t>ecoding</a:t>
            </a:r>
          </a:p>
        </p:txBody>
      </p:sp>
      <p:sp>
        <p:nvSpPr>
          <p:cNvPr name="TextBox 12" id="12"/>
          <p:cNvSpPr txBox="true"/>
          <p:nvPr/>
        </p:nvSpPr>
        <p:spPr>
          <a:xfrm rot="0">
            <a:off x="885953" y="4655617"/>
            <a:ext cx="8528418" cy="2594039"/>
          </a:xfrm>
          <a:prstGeom prst="rect">
            <a:avLst/>
          </a:prstGeom>
        </p:spPr>
        <p:txBody>
          <a:bodyPr anchor="t" rtlCol="false" tIns="0" lIns="0" bIns="0" rIns="0">
            <a:spAutoFit/>
          </a:bodyPr>
          <a:lstStyle/>
          <a:p>
            <a:pPr algn="l">
              <a:lnSpc>
                <a:spcPts val="4009"/>
              </a:lnSpc>
            </a:pPr>
            <a:r>
              <a:rPr lang="en-US" sz="3299">
                <a:solidFill>
                  <a:srgbClr val="000000"/>
                </a:solidFill>
                <a:latin typeface="Calibri (MS)"/>
                <a:ea typeface="Calibri (MS)"/>
                <a:cs typeface="Calibri (MS)"/>
                <a:sym typeface="Calibri (MS)"/>
              </a:rPr>
              <a:t>    2. Beam</a:t>
            </a:r>
            <a:r>
              <a:rPr lang="en-US" sz="3299">
                <a:solidFill>
                  <a:srgbClr val="000000"/>
                </a:solidFill>
                <a:latin typeface="Calibri (MS)"/>
                <a:ea typeface="Calibri (MS)"/>
                <a:cs typeface="Calibri (MS)"/>
                <a:sym typeface="Calibri (MS)"/>
              </a:rPr>
              <a:t> Search:</a:t>
            </a:r>
          </a:p>
          <a:p>
            <a:pPr algn="just" marL="712465" indent="-356233" lvl="1">
              <a:lnSpc>
                <a:spcPts val="4009"/>
              </a:lnSpc>
              <a:buFont typeface="Arial"/>
              <a:buChar char="•"/>
            </a:pPr>
            <a:r>
              <a:rPr lang="en-US" sz="3299">
                <a:solidFill>
                  <a:srgbClr val="000000"/>
                </a:solidFill>
                <a:latin typeface="Calibri (MS)"/>
                <a:ea typeface="Calibri (MS)"/>
                <a:cs typeface="Calibri (MS)"/>
                <a:sym typeface="Calibri (MS)"/>
              </a:rPr>
              <a:t>Quản lý k giả thuyết tốt nhất bằng Priority Queue (Hàng đợi ưu tiên).</a:t>
            </a:r>
          </a:p>
          <a:p>
            <a:pPr algn="just" marL="712465" indent="-356233" lvl="1">
              <a:lnSpc>
                <a:spcPts val="4009"/>
              </a:lnSpc>
              <a:buFont typeface="Arial"/>
              <a:buChar char="•"/>
            </a:pPr>
            <a:r>
              <a:rPr lang="en-US" sz="3299">
                <a:solidFill>
                  <a:srgbClr val="000000"/>
                </a:solidFill>
                <a:latin typeface="Calibri (MS)"/>
                <a:ea typeface="Calibri (MS)"/>
                <a:cs typeface="Calibri (MS)"/>
                <a:sym typeface="Calibri (MS)"/>
              </a:rPr>
              <a:t>Áp dụng Length Penalty: Tránh việc mô hình ưu tiên các câu quá ngắn.</a:t>
            </a:r>
          </a:p>
        </p:txBody>
      </p:sp>
      <p:sp>
        <p:nvSpPr>
          <p:cNvPr name="TextBox 13" id="13"/>
          <p:cNvSpPr txBox="true"/>
          <p:nvPr/>
        </p:nvSpPr>
        <p:spPr>
          <a:xfrm rot="0">
            <a:off x="885953" y="2904984"/>
            <a:ext cx="8528418" cy="1079564"/>
          </a:xfrm>
          <a:prstGeom prst="rect">
            <a:avLst/>
          </a:prstGeom>
        </p:spPr>
        <p:txBody>
          <a:bodyPr anchor="t" rtlCol="false" tIns="0" lIns="0" bIns="0" rIns="0">
            <a:spAutoFit/>
          </a:bodyPr>
          <a:lstStyle/>
          <a:p>
            <a:pPr algn="l" marL="712465" indent="-356233" lvl="1">
              <a:lnSpc>
                <a:spcPts val="4009"/>
              </a:lnSpc>
              <a:buAutoNum type="arabicPeriod" startAt="1"/>
            </a:pPr>
            <a:r>
              <a:rPr lang="en-US" sz="3299">
                <a:solidFill>
                  <a:srgbClr val="000000"/>
                </a:solidFill>
                <a:latin typeface="Calibri (MS)"/>
                <a:ea typeface="Calibri (MS)"/>
                <a:cs typeface="Calibri (MS)"/>
                <a:sym typeface="Calibri (MS)"/>
              </a:rPr>
              <a:t>Greedy</a:t>
            </a:r>
            <a:r>
              <a:rPr lang="en-US" sz="3299">
                <a:solidFill>
                  <a:srgbClr val="000000"/>
                </a:solidFill>
                <a:latin typeface="Calibri (MS)"/>
                <a:ea typeface="Calibri (MS)"/>
                <a:cs typeface="Calibri (MS)"/>
                <a:sym typeface="Calibri (MS)"/>
              </a:rPr>
              <a:t> Search: Chọn từ xác suất cao nhất tại mỗi bước -&gt; Dễ gặp lỗi lặp từ, cụt câu.</a:t>
            </a:r>
          </a:p>
        </p:txBody>
      </p:sp>
      <p:sp>
        <p:nvSpPr>
          <p:cNvPr name="TextBox 14" id="14"/>
          <p:cNvSpPr txBox="true"/>
          <p:nvPr/>
        </p:nvSpPr>
        <p:spPr>
          <a:xfrm rot="0">
            <a:off x="1665618" y="468762"/>
            <a:ext cx="4959995"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Transformer from scratch</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9754205" y="2529166"/>
            <a:ext cx="7505095" cy="5228668"/>
          </a:xfrm>
          <a:custGeom>
            <a:avLst/>
            <a:gdLst/>
            <a:ahLst/>
            <a:cxnLst/>
            <a:rect r="r" b="b" t="t" l="l"/>
            <a:pathLst>
              <a:path h="5228668" w="7505095">
                <a:moveTo>
                  <a:pt x="0" y="0"/>
                </a:moveTo>
                <a:lnTo>
                  <a:pt x="7505095" y="0"/>
                </a:lnTo>
                <a:lnTo>
                  <a:pt x="7505095" y="5228668"/>
                </a:lnTo>
                <a:lnTo>
                  <a:pt x="0" y="5228668"/>
                </a:lnTo>
                <a:lnTo>
                  <a:pt x="0" y="0"/>
                </a:lnTo>
                <a:close/>
              </a:path>
            </a:pathLst>
          </a:custGeom>
          <a:blipFill>
            <a:blip r:embed="rId4"/>
            <a:stretch>
              <a:fillRect l="0" t="0" r="0" b="0"/>
            </a:stretch>
          </a:blipFill>
        </p:spPr>
      </p:sp>
      <p:sp>
        <p:nvSpPr>
          <p:cNvPr name="TextBox 9" id="9"/>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02</a:t>
            </a:r>
          </a:p>
        </p:txBody>
      </p:sp>
      <p:sp>
        <p:nvSpPr>
          <p:cNvPr name="TextBox 10" id="10"/>
          <p:cNvSpPr txBox="true"/>
          <p:nvPr/>
        </p:nvSpPr>
        <p:spPr>
          <a:xfrm rot="0">
            <a:off x="491966" y="1308086"/>
            <a:ext cx="7652256" cy="602933"/>
          </a:xfrm>
          <a:prstGeom prst="rect">
            <a:avLst/>
          </a:prstGeom>
        </p:spPr>
        <p:txBody>
          <a:bodyPr anchor="t" rtlCol="false" tIns="0" lIns="0" bIns="0" rIns="0">
            <a:spAutoFit/>
          </a:bodyPr>
          <a:lstStyle/>
          <a:p>
            <a:pPr algn="ctr">
              <a:lnSpc>
                <a:spcPts val="4252"/>
              </a:lnSpc>
              <a:spcBef>
                <a:spcPct val="0"/>
              </a:spcBef>
            </a:pPr>
            <a:r>
              <a:rPr lang="en-US" b="true" sz="3499">
                <a:solidFill>
                  <a:srgbClr val="000000"/>
                </a:solidFill>
                <a:latin typeface="Calibri (MS) Bold"/>
                <a:ea typeface="Calibri (MS) Bold"/>
                <a:cs typeface="Calibri (MS) Bold"/>
                <a:sym typeface="Calibri (MS) Bold"/>
              </a:rPr>
              <a:t>Kết quả đánh giá mô hình From-Scratch</a:t>
            </a:r>
          </a:p>
        </p:txBody>
      </p:sp>
      <p:sp>
        <p:nvSpPr>
          <p:cNvPr name="TextBox 11" id="11"/>
          <p:cNvSpPr txBox="true"/>
          <p:nvPr/>
        </p:nvSpPr>
        <p:spPr>
          <a:xfrm rot="0">
            <a:off x="491966" y="2433357"/>
            <a:ext cx="2725738" cy="574739"/>
          </a:xfrm>
          <a:prstGeom prst="rect">
            <a:avLst/>
          </a:prstGeom>
        </p:spPr>
        <p:txBody>
          <a:bodyPr anchor="t" rtlCol="false" tIns="0" lIns="0" bIns="0" rIns="0">
            <a:spAutoFit/>
          </a:bodyPr>
          <a:lstStyle/>
          <a:p>
            <a:pPr algn="ctr" marL="712465" indent="-356233" lvl="1">
              <a:lnSpc>
                <a:spcPts val="4009"/>
              </a:lnSpc>
              <a:spcBef>
                <a:spcPct val="0"/>
              </a:spcBef>
              <a:buAutoNum type="arabicPeriod" startAt="1"/>
            </a:pPr>
            <a:r>
              <a:rPr lang="en-US" sz="3299">
                <a:solidFill>
                  <a:srgbClr val="000000"/>
                </a:solidFill>
                <a:latin typeface="Calibri (MS)"/>
                <a:ea typeface="Calibri (MS)"/>
                <a:cs typeface="Calibri (MS)"/>
                <a:sym typeface="Calibri (MS)"/>
              </a:rPr>
              <a:t>Định lượng:</a:t>
            </a:r>
          </a:p>
        </p:txBody>
      </p:sp>
      <p:sp>
        <p:nvSpPr>
          <p:cNvPr name="TextBox 12" id="12"/>
          <p:cNvSpPr txBox="true"/>
          <p:nvPr/>
        </p:nvSpPr>
        <p:spPr>
          <a:xfrm rot="0">
            <a:off x="1665618" y="468762"/>
            <a:ext cx="4959995"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Transformer from scratch</a:t>
            </a:r>
          </a:p>
        </p:txBody>
      </p:sp>
      <p:sp>
        <p:nvSpPr>
          <p:cNvPr name="TextBox 13" id="13"/>
          <p:cNvSpPr txBox="true"/>
          <p:nvPr/>
        </p:nvSpPr>
        <p:spPr>
          <a:xfrm rot="0">
            <a:off x="1028700" y="3531971"/>
            <a:ext cx="8528418" cy="3603689"/>
          </a:xfrm>
          <a:prstGeom prst="rect">
            <a:avLst/>
          </a:prstGeom>
        </p:spPr>
        <p:txBody>
          <a:bodyPr anchor="t" rtlCol="false" tIns="0" lIns="0" bIns="0" rIns="0">
            <a:spAutoFit/>
          </a:bodyPr>
          <a:lstStyle/>
          <a:p>
            <a:pPr algn="l">
              <a:lnSpc>
                <a:spcPts val="4009"/>
              </a:lnSpc>
            </a:pPr>
            <a:r>
              <a:rPr lang="en-US" sz="3299">
                <a:solidFill>
                  <a:srgbClr val="000000"/>
                </a:solidFill>
                <a:latin typeface="Calibri (MS)"/>
                <a:ea typeface="Calibri (MS)"/>
                <a:cs typeface="Calibri (MS)"/>
                <a:sym typeface="Calibri (MS)"/>
              </a:rPr>
              <a:t>Nhận xét:</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Với một mô hình có lượng tham số nhất định thì khi tăng dữ liệu lên một mức nào đấy, nó sẽ bị bão hòa và không còn cải thiện được điểm số</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Lượng dữ liệu phải được tăng tỉ lệ thuận với độ lớn của mô hình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9600616" y="2509557"/>
            <a:ext cx="7658684" cy="5335443"/>
          </a:xfrm>
          <a:custGeom>
            <a:avLst/>
            <a:gdLst/>
            <a:ahLst/>
            <a:cxnLst/>
            <a:rect r="r" b="b" t="t" l="l"/>
            <a:pathLst>
              <a:path h="5335443" w="7658684">
                <a:moveTo>
                  <a:pt x="0" y="0"/>
                </a:moveTo>
                <a:lnTo>
                  <a:pt x="7658684" y="0"/>
                </a:lnTo>
                <a:lnTo>
                  <a:pt x="7658684" y="5335443"/>
                </a:lnTo>
                <a:lnTo>
                  <a:pt x="0" y="5335443"/>
                </a:lnTo>
                <a:lnTo>
                  <a:pt x="0" y="0"/>
                </a:lnTo>
                <a:close/>
              </a:path>
            </a:pathLst>
          </a:custGeom>
          <a:blipFill>
            <a:blip r:embed="rId4"/>
            <a:stretch>
              <a:fillRect l="0" t="0" r="0" b="0"/>
            </a:stretch>
          </a:blipFill>
        </p:spPr>
      </p:sp>
      <p:sp>
        <p:nvSpPr>
          <p:cNvPr name="TextBox 9" id="9"/>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02</a:t>
            </a:r>
          </a:p>
        </p:txBody>
      </p:sp>
      <p:sp>
        <p:nvSpPr>
          <p:cNvPr name="TextBox 10" id="10"/>
          <p:cNvSpPr txBox="true"/>
          <p:nvPr/>
        </p:nvSpPr>
        <p:spPr>
          <a:xfrm rot="0">
            <a:off x="491966" y="1308086"/>
            <a:ext cx="7652256" cy="602933"/>
          </a:xfrm>
          <a:prstGeom prst="rect">
            <a:avLst/>
          </a:prstGeom>
        </p:spPr>
        <p:txBody>
          <a:bodyPr anchor="t" rtlCol="false" tIns="0" lIns="0" bIns="0" rIns="0">
            <a:spAutoFit/>
          </a:bodyPr>
          <a:lstStyle/>
          <a:p>
            <a:pPr algn="ctr">
              <a:lnSpc>
                <a:spcPts val="4252"/>
              </a:lnSpc>
              <a:spcBef>
                <a:spcPct val="0"/>
              </a:spcBef>
            </a:pPr>
            <a:r>
              <a:rPr lang="en-US" b="true" sz="3499">
                <a:solidFill>
                  <a:srgbClr val="000000"/>
                </a:solidFill>
                <a:latin typeface="Calibri (MS) Bold"/>
                <a:ea typeface="Calibri (MS) Bold"/>
                <a:cs typeface="Calibri (MS) Bold"/>
                <a:sym typeface="Calibri (MS) Bold"/>
              </a:rPr>
              <a:t>Kết quả đánh giá mô hình From-Scratch</a:t>
            </a:r>
          </a:p>
        </p:txBody>
      </p:sp>
      <p:sp>
        <p:nvSpPr>
          <p:cNvPr name="TextBox 11" id="11"/>
          <p:cNvSpPr txBox="true"/>
          <p:nvPr/>
        </p:nvSpPr>
        <p:spPr>
          <a:xfrm rot="0">
            <a:off x="491966" y="2433357"/>
            <a:ext cx="2725738" cy="574739"/>
          </a:xfrm>
          <a:prstGeom prst="rect">
            <a:avLst/>
          </a:prstGeom>
        </p:spPr>
        <p:txBody>
          <a:bodyPr anchor="t" rtlCol="false" tIns="0" lIns="0" bIns="0" rIns="0">
            <a:spAutoFit/>
          </a:bodyPr>
          <a:lstStyle/>
          <a:p>
            <a:pPr algn="ctr" marL="712465" indent="-356233" lvl="1">
              <a:lnSpc>
                <a:spcPts val="4009"/>
              </a:lnSpc>
              <a:spcBef>
                <a:spcPct val="0"/>
              </a:spcBef>
              <a:buAutoNum type="arabicPeriod" startAt="1"/>
            </a:pPr>
            <a:r>
              <a:rPr lang="en-US" sz="3299">
                <a:solidFill>
                  <a:srgbClr val="000000"/>
                </a:solidFill>
                <a:latin typeface="Calibri (MS)"/>
                <a:ea typeface="Calibri (MS)"/>
                <a:cs typeface="Calibri (MS)"/>
                <a:sym typeface="Calibri (MS)"/>
              </a:rPr>
              <a:t>Định lượng:</a:t>
            </a:r>
          </a:p>
        </p:txBody>
      </p:sp>
      <p:sp>
        <p:nvSpPr>
          <p:cNvPr name="TextBox 12" id="12"/>
          <p:cNvSpPr txBox="true"/>
          <p:nvPr/>
        </p:nvSpPr>
        <p:spPr>
          <a:xfrm rot="0">
            <a:off x="1665618" y="468762"/>
            <a:ext cx="4959995"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Transformer from scratch</a:t>
            </a:r>
          </a:p>
        </p:txBody>
      </p:sp>
      <p:sp>
        <p:nvSpPr>
          <p:cNvPr name="TextBox 13" id="13"/>
          <p:cNvSpPr txBox="true"/>
          <p:nvPr/>
        </p:nvSpPr>
        <p:spPr>
          <a:xfrm rot="0">
            <a:off x="1028700" y="3531971"/>
            <a:ext cx="8528418" cy="2594039"/>
          </a:xfrm>
          <a:prstGeom prst="rect">
            <a:avLst/>
          </a:prstGeom>
        </p:spPr>
        <p:txBody>
          <a:bodyPr anchor="t" rtlCol="false" tIns="0" lIns="0" bIns="0" rIns="0">
            <a:spAutoFit/>
          </a:bodyPr>
          <a:lstStyle/>
          <a:p>
            <a:pPr algn="l">
              <a:lnSpc>
                <a:spcPts val="4009"/>
              </a:lnSpc>
            </a:pPr>
            <a:r>
              <a:rPr lang="en-US" sz="3299">
                <a:solidFill>
                  <a:srgbClr val="000000"/>
                </a:solidFill>
                <a:latin typeface="Calibri (MS)"/>
                <a:ea typeface="Calibri (MS)"/>
                <a:cs typeface="Calibri (MS)"/>
                <a:sym typeface="Calibri (MS)"/>
              </a:rPr>
              <a:t>Nhận xét:</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Hiệu năng dịch sẽ tỉ lệ thuận với số epoch</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Điểm được cải thiện mạnh mẽ nhất trong giai đoạn đầu</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Ở giai đoạn sau thì mô hình đã ổn định</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11724767" y="2758826"/>
            <a:ext cx="5049715" cy="5242586"/>
          </a:xfrm>
          <a:custGeom>
            <a:avLst/>
            <a:gdLst/>
            <a:ahLst/>
            <a:cxnLst/>
            <a:rect r="r" b="b" t="t" l="l"/>
            <a:pathLst>
              <a:path h="5242586" w="5049715">
                <a:moveTo>
                  <a:pt x="0" y="0"/>
                </a:moveTo>
                <a:lnTo>
                  <a:pt x="5049715" y="0"/>
                </a:lnTo>
                <a:lnTo>
                  <a:pt x="5049715" y="5242586"/>
                </a:lnTo>
                <a:lnTo>
                  <a:pt x="0" y="5242586"/>
                </a:lnTo>
                <a:lnTo>
                  <a:pt x="0" y="0"/>
                </a:lnTo>
                <a:close/>
              </a:path>
            </a:pathLst>
          </a:custGeom>
          <a:blipFill>
            <a:blip r:embed="rId4"/>
            <a:stretch>
              <a:fillRect l="0" t="0" r="0" b="0"/>
            </a:stretch>
          </a:blipFill>
        </p:spPr>
      </p:sp>
      <p:sp>
        <p:nvSpPr>
          <p:cNvPr name="TextBox 9" id="9"/>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02</a:t>
            </a:r>
          </a:p>
        </p:txBody>
      </p:sp>
      <p:sp>
        <p:nvSpPr>
          <p:cNvPr name="TextBox 10" id="10"/>
          <p:cNvSpPr txBox="true"/>
          <p:nvPr/>
        </p:nvSpPr>
        <p:spPr>
          <a:xfrm rot="0">
            <a:off x="491966" y="1308086"/>
            <a:ext cx="7652256" cy="602933"/>
          </a:xfrm>
          <a:prstGeom prst="rect">
            <a:avLst/>
          </a:prstGeom>
        </p:spPr>
        <p:txBody>
          <a:bodyPr anchor="t" rtlCol="false" tIns="0" lIns="0" bIns="0" rIns="0">
            <a:spAutoFit/>
          </a:bodyPr>
          <a:lstStyle/>
          <a:p>
            <a:pPr algn="ctr">
              <a:lnSpc>
                <a:spcPts val="4252"/>
              </a:lnSpc>
              <a:spcBef>
                <a:spcPct val="0"/>
              </a:spcBef>
            </a:pPr>
            <a:r>
              <a:rPr lang="en-US" b="true" sz="3499">
                <a:solidFill>
                  <a:srgbClr val="000000"/>
                </a:solidFill>
                <a:latin typeface="Calibri (MS) Bold"/>
                <a:ea typeface="Calibri (MS) Bold"/>
                <a:cs typeface="Calibri (MS) Bold"/>
                <a:sym typeface="Calibri (MS) Bold"/>
              </a:rPr>
              <a:t>Kết quả đánh giá mô hình From-Scratch</a:t>
            </a:r>
          </a:p>
        </p:txBody>
      </p:sp>
      <p:sp>
        <p:nvSpPr>
          <p:cNvPr name="TextBox 11" id="11"/>
          <p:cNvSpPr txBox="true"/>
          <p:nvPr/>
        </p:nvSpPr>
        <p:spPr>
          <a:xfrm rot="0">
            <a:off x="491966" y="2433357"/>
            <a:ext cx="2725738" cy="574739"/>
          </a:xfrm>
          <a:prstGeom prst="rect">
            <a:avLst/>
          </a:prstGeom>
        </p:spPr>
        <p:txBody>
          <a:bodyPr anchor="t" rtlCol="false" tIns="0" lIns="0" bIns="0" rIns="0">
            <a:spAutoFit/>
          </a:bodyPr>
          <a:lstStyle/>
          <a:p>
            <a:pPr algn="ctr" marL="712465" indent="-356233" lvl="1">
              <a:lnSpc>
                <a:spcPts val="4009"/>
              </a:lnSpc>
              <a:spcBef>
                <a:spcPct val="0"/>
              </a:spcBef>
              <a:buAutoNum type="arabicPeriod" startAt="1"/>
            </a:pPr>
            <a:r>
              <a:rPr lang="en-US" sz="3299">
                <a:solidFill>
                  <a:srgbClr val="000000"/>
                </a:solidFill>
                <a:latin typeface="Calibri (MS)"/>
                <a:ea typeface="Calibri (MS)"/>
                <a:cs typeface="Calibri (MS)"/>
                <a:sym typeface="Calibri (MS)"/>
              </a:rPr>
              <a:t>Định lượng:</a:t>
            </a:r>
          </a:p>
        </p:txBody>
      </p:sp>
      <p:sp>
        <p:nvSpPr>
          <p:cNvPr name="TextBox 12" id="12"/>
          <p:cNvSpPr txBox="true"/>
          <p:nvPr/>
        </p:nvSpPr>
        <p:spPr>
          <a:xfrm rot="0">
            <a:off x="1665618" y="468762"/>
            <a:ext cx="4959995"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Transformer from scratch</a:t>
            </a:r>
          </a:p>
        </p:txBody>
      </p:sp>
      <p:sp>
        <p:nvSpPr>
          <p:cNvPr name="TextBox 13" id="13"/>
          <p:cNvSpPr txBox="true"/>
          <p:nvPr/>
        </p:nvSpPr>
        <p:spPr>
          <a:xfrm rot="0">
            <a:off x="1028700" y="3531971"/>
            <a:ext cx="7647805" cy="3603689"/>
          </a:xfrm>
          <a:prstGeom prst="rect">
            <a:avLst/>
          </a:prstGeom>
        </p:spPr>
        <p:txBody>
          <a:bodyPr anchor="t" rtlCol="false" tIns="0" lIns="0" bIns="0" rIns="0">
            <a:spAutoFit/>
          </a:bodyPr>
          <a:lstStyle/>
          <a:p>
            <a:pPr algn="l">
              <a:lnSpc>
                <a:spcPts val="4009"/>
              </a:lnSpc>
            </a:pPr>
            <a:r>
              <a:rPr lang="en-US" sz="3299">
                <a:solidFill>
                  <a:srgbClr val="000000"/>
                </a:solidFill>
                <a:latin typeface="Calibri (MS)"/>
                <a:ea typeface="Calibri (MS)"/>
                <a:cs typeface="Calibri (MS)"/>
                <a:sym typeface="Calibri (MS)"/>
              </a:rPr>
              <a:t>Nhận xét:</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Beam search mang lại sự cải thiện rõ rệt về chất lượng dịch so với greedy search</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Khi tăng beamsize đến một giá trị nhất định thì điểm số không còn được cải thiện nữa cho thấy thuật toán decode đã đạt đến độ hiệu quả cao nhất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9960104" y="1694540"/>
            <a:ext cx="7052003" cy="7563760"/>
          </a:xfrm>
          <a:custGeom>
            <a:avLst/>
            <a:gdLst/>
            <a:ahLst/>
            <a:cxnLst/>
            <a:rect r="r" b="b" t="t" l="l"/>
            <a:pathLst>
              <a:path h="7563760" w="7052003">
                <a:moveTo>
                  <a:pt x="0" y="0"/>
                </a:moveTo>
                <a:lnTo>
                  <a:pt x="7052004" y="0"/>
                </a:lnTo>
                <a:lnTo>
                  <a:pt x="7052004" y="7563760"/>
                </a:lnTo>
                <a:lnTo>
                  <a:pt x="0" y="7563760"/>
                </a:lnTo>
                <a:lnTo>
                  <a:pt x="0" y="0"/>
                </a:lnTo>
                <a:close/>
              </a:path>
            </a:pathLst>
          </a:custGeom>
          <a:blipFill>
            <a:blip r:embed="rId4"/>
            <a:stretch>
              <a:fillRect l="0" t="0" r="0" b="0"/>
            </a:stretch>
          </a:blipFill>
        </p:spPr>
      </p:sp>
      <p:sp>
        <p:nvSpPr>
          <p:cNvPr name="TextBox 9" id="9"/>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02</a:t>
            </a:r>
          </a:p>
        </p:txBody>
      </p:sp>
      <p:sp>
        <p:nvSpPr>
          <p:cNvPr name="TextBox 10" id="10"/>
          <p:cNvSpPr txBox="true"/>
          <p:nvPr/>
        </p:nvSpPr>
        <p:spPr>
          <a:xfrm rot="0">
            <a:off x="491966" y="1308086"/>
            <a:ext cx="7652256" cy="602933"/>
          </a:xfrm>
          <a:prstGeom prst="rect">
            <a:avLst/>
          </a:prstGeom>
        </p:spPr>
        <p:txBody>
          <a:bodyPr anchor="t" rtlCol="false" tIns="0" lIns="0" bIns="0" rIns="0">
            <a:spAutoFit/>
          </a:bodyPr>
          <a:lstStyle/>
          <a:p>
            <a:pPr algn="ctr">
              <a:lnSpc>
                <a:spcPts val="4252"/>
              </a:lnSpc>
              <a:spcBef>
                <a:spcPct val="0"/>
              </a:spcBef>
            </a:pPr>
            <a:r>
              <a:rPr lang="en-US" b="true" sz="3499">
                <a:solidFill>
                  <a:srgbClr val="000000"/>
                </a:solidFill>
                <a:latin typeface="Calibri (MS) Bold"/>
                <a:ea typeface="Calibri (MS) Bold"/>
                <a:cs typeface="Calibri (MS) Bold"/>
                <a:sym typeface="Calibri (MS) Bold"/>
              </a:rPr>
              <a:t>Kết quả đánh giá mô hình From-Scratch</a:t>
            </a:r>
          </a:p>
        </p:txBody>
      </p:sp>
      <p:sp>
        <p:nvSpPr>
          <p:cNvPr name="TextBox 11" id="11"/>
          <p:cNvSpPr txBox="true"/>
          <p:nvPr/>
        </p:nvSpPr>
        <p:spPr>
          <a:xfrm rot="0">
            <a:off x="559523" y="2418256"/>
            <a:ext cx="2394347" cy="574739"/>
          </a:xfrm>
          <a:prstGeom prst="rect">
            <a:avLst/>
          </a:prstGeom>
        </p:spPr>
        <p:txBody>
          <a:bodyPr anchor="t" rtlCol="false" tIns="0" lIns="0" bIns="0" rIns="0">
            <a:spAutoFit/>
          </a:bodyPr>
          <a:lstStyle/>
          <a:p>
            <a:pPr algn="ctr" marL="712465" indent="-356233" lvl="1">
              <a:lnSpc>
                <a:spcPts val="4009"/>
              </a:lnSpc>
              <a:spcBef>
                <a:spcPct val="0"/>
              </a:spcBef>
              <a:buAutoNum type="arabicPeriod" startAt="1"/>
            </a:pPr>
            <a:r>
              <a:rPr lang="en-US" sz="3299">
                <a:solidFill>
                  <a:srgbClr val="000000"/>
                </a:solidFill>
                <a:latin typeface="Calibri (MS)"/>
                <a:ea typeface="Calibri (MS)"/>
                <a:cs typeface="Calibri (MS)"/>
                <a:sym typeface="Calibri (MS)"/>
              </a:rPr>
              <a:t>Định tính:</a:t>
            </a:r>
          </a:p>
        </p:txBody>
      </p:sp>
      <p:sp>
        <p:nvSpPr>
          <p:cNvPr name="TextBox 12" id="12"/>
          <p:cNvSpPr txBox="true"/>
          <p:nvPr/>
        </p:nvSpPr>
        <p:spPr>
          <a:xfrm rot="0">
            <a:off x="1665618" y="468762"/>
            <a:ext cx="4959995"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Transformer from scratch</a:t>
            </a:r>
          </a:p>
        </p:txBody>
      </p:sp>
      <p:sp>
        <p:nvSpPr>
          <p:cNvPr name="TextBox 13" id="13"/>
          <p:cNvSpPr txBox="true"/>
          <p:nvPr/>
        </p:nvSpPr>
        <p:spPr>
          <a:xfrm rot="0">
            <a:off x="1028700" y="3531971"/>
            <a:ext cx="7647805" cy="3603689"/>
          </a:xfrm>
          <a:prstGeom prst="rect">
            <a:avLst/>
          </a:prstGeom>
        </p:spPr>
        <p:txBody>
          <a:bodyPr anchor="t" rtlCol="false" tIns="0" lIns="0" bIns="0" rIns="0">
            <a:spAutoFit/>
          </a:bodyPr>
          <a:lstStyle/>
          <a:p>
            <a:pPr algn="l">
              <a:lnSpc>
                <a:spcPts val="4009"/>
              </a:lnSpc>
            </a:pPr>
            <a:r>
              <a:rPr lang="en-US" sz="3299">
                <a:solidFill>
                  <a:srgbClr val="000000"/>
                </a:solidFill>
                <a:latin typeface="Calibri (MS)"/>
                <a:ea typeface="Calibri (MS)"/>
                <a:cs typeface="Calibri (MS)"/>
                <a:sym typeface="Calibri (MS)"/>
              </a:rPr>
              <a:t>Nhận xét:</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Greedy search dễ rơi vào vòng lặp có xác suất cao, dẫn đến hiện tượng lặp những cụm không cần thiết</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Beam search duy trì dựa trên xác suất tích lũy của toàn bộ chuỗi dịch nên tránh được các lựa chọn mang tính ngắn hạn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24663" y="219377"/>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sp>
        <p:nvSpPr>
          <p:cNvPr name="Freeform 6" id="6"/>
          <p:cNvSpPr/>
          <p:nvPr/>
        </p:nvSpPr>
        <p:spPr>
          <a:xfrm flipH="false" flipV="false" rot="0">
            <a:off x="9509760" y="4181092"/>
            <a:ext cx="5454967" cy="2974658"/>
          </a:xfrm>
          <a:custGeom>
            <a:avLst/>
            <a:gdLst/>
            <a:ahLst/>
            <a:cxnLst/>
            <a:rect r="r" b="b" t="t" l="l"/>
            <a:pathLst>
              <a:path h="2974658" w="5454967">
                <a:moveTo>
                  <a:pt x="0" y="0"/>
                </a:moveTo>
                <a:lnTo>
                  <a:pt x="5454967" y="0"/>
                </a:lnTo>
                <a:lnTo>
                  <a:pt x="5454967" y="2974658"/>
                </a:lnTo>
                <a:lnTo>
                  <a:pt x="0" y="29746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555940" y="4726875"/>
            <a:ext cx="3687220" cy="2571750"/>
          </a:xfrm>
          <a:prstGeom prst="rect">
            <a:avLst/>
          </a:prstGeom>
        </p:spPr>
        <p:txBody>
          <a:bodyPr anchor="t" rtlCol="false" tIns="0" lIns="0" bIns="0" rIns="0">
            <a:spAutoFit/>
          </a:bodyPr>
          <a:lstStyle/>
          <a:p>
            <a:pPr algn="l">
              <a:lnSpc>
                <a:spcPts val="6480"/>
              </a:lnSpc>
            </a:pPr>
            <a:r>
              <a:rPr lang="en-US" b="true" sz="5400">
                <a:solidFill>
                  <a:srgbClr val="FFFFFF"/>
                </a:solidFill>
                <a:latin typeface="Calibri (MS) Bold"/>
                <a:ea typeface="Calibri (MS) Bold"/>
                <a:cs typeface="Calibri (MS) Bold"/>
                <a:sym typeface="Calibri (MS) Bold"/>
              </a:rPr>
              <a:t>ỨNG</a:t>
            </a:r>
            <a:r>
              <a:rPr lang="en-US" b="true" sz="5400">
                <a:solidFill>
                  <a:srgbClr val="FFFFFF"/>
                </a:solidFill>
                <a:latin typeface="Calibri (MS) Bold"/>
                <a:ea typeface="Calibri (MS) Bold"/>
                <a:cs typeface="Calibri (MS) Bold"/>
                <a:sym typeface="Calibri (MS) Bold"/>
              </a:rPr>
              <a:t> DỤNG Y TẾ - VLSP</a:t>
            </a:r>
          </a:p>
          <a:p>
            <a:pPr algn="l">
              <a:lnSpc>
                <a:spcPts val="6480"/>
              </a:lnSpc>
            </a:pPr>
          </a:p>
        </p:txBody>
      </p:sp>
      <p:sp>
        <p:nvSpPr>
          <p:cNvPr name="TextBox 8" id="8"/>
          <p:cNvSpPr txBox="true"/>
          <p:nvPr/>
        </p:nvSpPr>
        <p:spPr>
          <a:xfrm rot="0">
            <a:off x="11639931" y="2268790"/>
            <a:ext cx="1195388" cy="1587500"/>
          </a:xfrm>
          <a:prstGeom prst="rect">
            <a:avLst/>
          </a:prstGeom>
        </p:spPr>
        <p:txBody>
          <a:bodyPr anchor="t" rtlCol="false" tIns="0" lIns="0" bIns="0" rIns="0">
            <a:spAutoFit/>
          </a:bodyPr>
          <a:lstStyle/>
          <a:p>
            <a:pPr algn="l">
              <a:lnSpc>
                <a:spcPts val="10800"/>
              </a:lnSpc>
            </a:pPr>
            <a:r>
              <a:rPr lang="en-US" sz="9000">
                <a:solidFill>
                  <a:srgbClr val="002C6B"/>
                </a:solidFill>
                <a:latin typeface="Calibri (MS)"/>
                <a:ea typeface="Calibri (MS)"/>
                <a:cs typeface="Calibri (MS)"/>
                <a:sym typeface="Calibri (MS)"/>
              </a:rPr>
              <a:t>03</a:t>
            </a:r>
          </a:p>
        </p:txBody>
      </p:sp>
      <p:sp>
        <p:nvSpPr>
          <p:cNvPr name="Freeform 9" id="9"/>
          <p:cNvSpPr/>
          <p:nvPr/>
        </p:nvSpPr>
        <p:spPr>
          <a:xfrm flipH="false" flipV="false" rot="0">
            <a:off x="4073842" y="4313871"/>
            <a:ext cx="3143250" cy="2267902"/>
          </a:xfrm>
          <a:custGeom>
            <a:avLst/>
            <a:gdLst/>
            <a:ahLst/>
            <a:cxnLst/>
            <a:rect r="r" b="b" t="t" l="l"/>
            <a:pathLst>
              <a:path h="2267902" w="3143250">
                <a:moveTo>
                  <a:pt x="0" y="0"/>
                </a:moveTo>
                <a:lnTo>
                  <a:pt x="3143251" y="0"/>
                </a:lnTo>
                <a:lnTo>
                  <a:pt x="3143251" y="2267902"/>
                </a:lnTo>
                <a:lnTo>
                  <a:pt x="0" y="22679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4066984" y="1975294"/>
            <a:ext cx="864489" cy="1177290"/>
          </a:xfrm>
          <a:custGeom>
            <a:avLst/>
            <a:gdLst/>
            <a:ahLst/>
            <a:cxnLst/>
            <a:rect r="r" b="b" t="t" l="l"/>
            <a:pathLst>
              <a:path h="1177290" w="864489">
                <a:moveTo>
                  <a:pt x="0" y="0"/>
                </a:moveTo>
                <a:lnTo>
                  <a:pt x="864490" y="0"/>
                </a:lnTo>
                <a:lnTo>
                  <a:pt x="864490" y="1177290"/>
                </a:lnTo>
                <a:lnTo>
                  <a:pt x="0" y="11772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5157216" y="3664590"/>
            <a:ext cx="197168" cy="224790"/>
            <a:chOff x="0" y="0"/>
            <a:chExt cx="262890" cy="299720"/>
          </a:xfrm>
        </p:grpSpPr>
        <p:sp>
          <p:nvSpPr>
            <p:cNvPr name="Freeform 12" id="12"/>
            <p:cNvSpPr/>
            <p:nvPr/>
          </p:nvSpPr>
          <p:spPr>
            <a:xfrm flipH="false" flipV="false" rot="0">
              <a:off x="0" y="0"/>
              <a:ext cx="262128" cy="298577"/>
            </a:xfrm>
            <a:custGeom>
              <a:avLst/>
              <a:gdLst/>
              <a:ahLst/>
              <a:cxnLst/>
              <a:rect r="r" b="b" t="t" l="l"/>
              <a:pathLst>
                <a:path h="298577" w="262128">
                  <a:moveTo>
                    <a:pt x="262128" y="0"/>
                  </a:moveTo>
                  <a:lnTo>
                    <a:pt x="0" y="0"/>
                  </a:lnTo>
                  <a:lnTo>
                    <a:pt x="0" y="298577"/>
                  </a:lnTo>
                  <a:lnTo>
                    <a:pt x="262128" y="298577"/>
                  </a:lnTo>
                  <a:lnTo>
                    <a:pt x="262128" y="0"/>
                  </a:lnTo>
                  <a:close/>
                </a:path>
              </a:pathLst>
            </a:custGeom>
            <a:solidFill>
              <a:srgbClr val="EC7C30"/>
            </a:solidFill>
            <a:ln w="12700">
              <a:solidFill>
                <a:srgbClr val="000000"/>
              </a:solidFill>
            </a:ln>
          </p:spPr>
        </p:sp>
      </p:grpSp>
      <p:grpSp>
        <p:nvGrpSpPr>
          <p:cNvPr name="Group 13" id="13"/>
          <p:cNvGrpSpPr/>
          <p:nvPr/>
        </p:nvGrpSpPr>
        <p:grpSpPr>
          <a:xfrm rot="0">
            <a:off x="5282945" y="3691828"/>
            <a:ext cx="41910" cy="169545"/>
            <a:chOff x="0" y="0"/>
            <a:chExt cx="55880" cy="226060"/>
          </a:xfrm>
        </p:grpSpPr>
        <p:sp>
          <p:nvSpPr>
            <p:cNvPr name="Freeform 14" id="14"/>
            <p:cNvSpPr/>
            <p:nvPr/>
          </p:nvSpPr>
          <p:spPr>
            <a:xfrm flipH="false" flipV="false" rot="0">
              <a:off x="0" y="0"/>
              <a:ext cx="54737" cy="225425"/>
            </a:xfrm>
            <a:custGeom>
              <a:avLst/>
              <a:gdLst/>
              <a:ahLst/>
              <a:cxnLst/>
              <a:rect r="r" b="b" t="t" l="l"/>
              <a:pathLst>
                <a:path h="225425" w="54737">
                  <a:moveTo>
                    <a:pt x="54737" y="0"/>
                  </a:moveTo>
                  <a:lnTo>
                    <a:pt x="0" y="0"/>
                  </a:lnTo>
                  <a:lnTo>
                    <a:pt x="0" y="225425"/>
                  </a:lnTo>
                  <a:lnTo>
                    <a:pt x="54737" y="225425"/>
                  </a:lnTo>
                  <a:lnTo>
                    <a:pt x="54737" y="0"/>
                  </a:lnTo>
                  <a:close/>
                </a:path>
              </a:pathLst>
            </a:custGeom>
            <a:solidFill>
              <a:srgbClr val="FFFFFF"/>
            </a:solidFill>
            <a:ln w="12700">
              <a:solidFill>
                <a:srgbClr val="000000"/>
              </a:solidFill>
            </a:ln>
          </p:spPr>
        </p:sp>
      </p:grpSp>
      <p:grpSp>
        <p:nvGrpSpPr>
          <p:cNvPr name="Group 15" id="15"/>
          <p:cNvGrpSpPr/>
          <p:nvPr/>
        </p:nvGrpSpPr>
        <p:grpSpPr>
          <a:xfrm rot="0">
            <a:off x="4398453" y="3621213"/>
            <a:ext cx="782001" cy="311467"/>
            <a:chOff x="0" y="0"/>
            <a:chExt cx="1042668" cy="415290"/>
          </a:xfrm>
        </p:grpSpPr>
        <p:sp>
          <p:nvSpPr>
            <p:cNvPr name="Freeform 16" id="16"/>
            <p:cNvSpPr/>
            <p:nvPr/>
          </p:nvSpPr>
          <p:spPr>
            <a:xfrm flipH="false" flipV="false" rot="0">
              <a:off x="0" y="0"/>
              <a:ext cx="1042162" cy="414274"/>
            </a:xfrm>
            <a:custGeom>
              <a:avLst/>
              <a:gdLst/>
              <a:ahLst/>
              <a:cxnLst/>
              <a:rect r="r" b="b" t="t" l="l"/>
              <a:pathLst>
                <a:path h="414274" w="1042162">
                  <a:moveTo>
                    <a:pt x="1042162" y="0"/>
                  </a:moveTo>
                  <a:lnTo>
                    <a:pt x="206502" y="0"/>
                  </a:lnTo>
                  <a:lnTo>
                    <a:pt x="125984" y="16129"/>
                  </a:lnTo>
                  <a:lnTo>
                    <a:pt x="60325" y="60198"/>
                  </a:lnTo>
                  <a:lnTo>
                    <a:pt x="16129" y="125857"/>
                  </a:lnTo>
                  <a:lnTo>
                    <a:pt x="0" y="206248"/>
                  </a:lnTo>
                  <a:lnTo>
                    <a:pt x="16129" y="287020"/>
                  </a:lnTo>
                  <a:lnTo>
                    <a:pt x="60325" y="353187"/>
                  </a:lnTo>
                  <a:lnTo>
                    <a:pt x="125984" y="397891"/>
                  </a:lnTo>
                  <a:lnTo>
                    <a:pt x="206502" y="414274"/>
                  </a:lnTo>
                  <a:lnTo>
                    <a:pt x="1042162" y="414274"/>
                  </a:lnTo>
                  <a:lnTo>
                    <a:pt x="1042162" y="0"/>
                  </a:lnTo>
                  <a:close/>
                </a:path>
              </a:pathLst>
            </a:custGeom>
            <a:solidFill>
              <a:srgbClr val="095B6E"/>
            </a:solidFill>
            <a:ln w="12700">
              <a:solidFill>
                <a:srgbClr val="000000"/>
              </a:solidFill>
            </a:ln>
          </p:spPr>
        </p:sp>
      </p:grpSp>
      <p:grpSp>
        <p:nvGrpSpPr>
          <p:cNvPr name="Group 17" id="17"/>
          <p:cNvGrpSpPr/>
          <p:nvPr/>
        </p:nvGrpSpPr>
        <p:grpSpPr>
          <a:xfrm rot="0">
            <a:off x="4441696" y="3664647"/>
            <a:ext cx="223838" cy="223838"/>
            <a:chOff x="0" y="0"/>
            <a:chExt cx="298450" cy="298450"/>
          </a:xfrm>
        </p:grpSpPr>
        <p:sp>
          <p:nvSpPr>
            <p:cNvPr name="Freeform 18" id="18"/>
            <p:cNvSpPr/>
            <p:nvPr/>
          </p:nvSpPr>
          <p:spPr>
            <a:xfrm flipH="false" flipV="false" rot="0">
              <a:off x="0" y="0"/>
              <a:ext cx="298450" cy="298450"/>
            </a:xfrm>
            <a:custGeom>
              <a:avLst/>
              <a:gdLst/>
              <a:ahLst/>
              <a:cxnLst/>
              <a:rect r="r" b="b" t="t" l="l"/>
              <a:pathLst>
                <a:path h="298450" w="298450">
                  <a:moveTo>
                    <a:pt x="0" y="0"/>
                  </a:moveTo>
                  <a:lnTo>
                    <a:pt x="298450" y="0"/>
                  </a:lnTo>
                  <a:lnTo>
                    <a:pt x="298450" y="298450"/>
                  </a:lnTo>
                  <a:lnTo>
                    <a:pt x="0" y="298450"/>
                  </a:lnTo>
                  <a:lnTo>
                    <a:pt x="0" y="0"/>
                  </a:lnTo>
                  <a:close/>
                </a:path>
              </a:pathLst>
            </a:custGeom>
            <a:blipFill>
              <a:blip r:embed="rId9"/>
              <a:stretch>
                <a:fillRect l="0" t="0" r="0" b="0"/>
              </a:stretch>
            </a:blipFill>
          </p:spPr>
        </p:sp>
      </p:grpSp>
      <p:grpSp>
        <p:nvGrpSpPr>
          <p:cNvPr name="Group 19" id="19"/>
          <p:cNvGrpSpPr/>
          <p:nvPr/>
        </p:nvGrpSpPr>
        <p:grpSpPr>
          <a:xfrm rot="0">
            <a:off x="5801798" y="3906847"/>
            <a:ext cx="759143" cy="102870"/>
            <a:chOff x="0" y="0"/>
            <a:chExt cx="1012190" cy="137160"/>
          </a:xfrm>
        </p:grpSpPr>
        <p:sp>
          <p:nvSpPr>
            <p:cNvPr name="Freeform 20" id="20"/>
            <p:cNvSpPr/>
            <p:nvPr/>
          </p:nvSpPr>
          <p:spPr>
            <a:xfrm flipH="false" flipV="false" rot="0">
              <a:off x="0" y="0"/>
              <a:ext cx="1012063" cy="136779"/>
            </a:xfrm>
            <a:custGeom>
              <a:avLst/>
              <a:gdLst/>
              <a:ahLst/>
              <a:cxnLst/>
              <a:rect r="r" b="b" t="t" l="l"/>
              <a:pathLst>
                <a:path h="136779" w="1012063">
                  <a:moveTo>
                    <a:pt x="0" y="136779"/>
                  </a:moveTo>
                  <a:lnTo>
                    <a:pt x="1012063" y="136779"/>
                  </a:lnTo>
                  <a:lnTo>
                    <a:pt x="1012063" y="0"/>
                  </a:lnTo>
                  <a:lnTo>
                    <a:pt x="0" y="0"/>
                  </a:lnTo>
                  <a:lnTo>
                    <a:pt x="0" y="136779"/>
                  </a:lnTo>
                  <a:close/>
                </a:path>
              </a:pathLst>
            </a:custGeom>
            <a:solidFill>
              <a:srgbClr val="EC7C30"/>
            </a:solidFill>
            <a:ln w="12700">
              <a:solidFill>
                <a:srgbClr val="000000"/>
              </a:solidFill>
            </a:ln>
          </p:spPr>
        </p:sp>
      </p:grpSp>
      <p:grpSp>
        <p:nvGrpSpPr>
          <p:cNvPr name="Group 21" id="21"/>
          <p:cNvGrpSpPr/>
          <p:nvPr/>
        </p:nvGrpSpPr>
        <p:grpSpPr>
          <a:xfrm rot="0">
            <a:off x="5717476" y="3906847"/>
            <a:ext cx="84772" cy="102870"/>
            <a:chOff x="0" y="0"/>
            <a:chExt cx="113030" cy="137160"/>
          </a:xfrm>
        </p:grpSpPr>
        <p:sp>
          <p:nvSpPr>
            <p:cNvPr name="Freeform 22" id="22"/>
            <p:cNvSpPr/>
            <p:nvPr/>
          </p:nvSpPr>
          <p:spPr>
            <a:xfrm flipH="false" flipV="false" rot="0">
              <a:off x="0" y="0"/>
              <a:ext cx="112395" cy="136779"/>
            </a:xfrm>
            <a:custGeom>
              <a:avLst/>
              <a:gdLst/>
              <a:ahLst/>
              <a:cxnLst/>
              <a:rect r="r" b="b" t="t" l="l"/>
              <a:pathLst>
                <a:path h="136779" w="112395">
                  <a:moveTo>
                    <a:pt x="112395" y="0"/>
                  </a:moveTo>
                  <a:lnTo>
                    <a:pt x="0" y="0"/>
                  </a:lnTo>
                  <a:lnTo>
                    <a:pt x="0" y="136779"/>
                  </a:lnTo>
                  <a:lnTo>
                    <a:pt x="112395" y="136779"/>
                  </a:lnTo>
                  <a:lnTo>
                    <a:pt x="112395" y="0"/>
                  </a:lnTo>
                  <a:close/>
                </a:path>
              </a:pathLst>
            </a:custGeom>
            <a:solidFill>
              <a:srgbClr val="FF544F"/>
            </a:solidFill>
            <a:ln w="12700">
              <a:solidFill>
                <a:srgbClr val="000000"/>
              </a:solidFill>
            </a:ln>
          </p:spPr>
        </p:sp>
      </p:grpSp>
      <p:sp>
        <p:nvSpPr>
          <p:cNvPr name="Freeform 23" id="23"/>
          <p:cNvSpPr/>
          <p:nvPr/>
        </p:nvSpPr>
        <p:spPr>
          <a:xfrm flipH="false" flipV="false" rot="0">
            <a:off x="6223304" y="3344416"/>
            <a:ext cx="669607" cy="665798"/>
          </a:xfrm>
          <a:custGeom>
            <a:avLst/>
            <a:gdLst/>
            <a:ahLst/>
            <a:cxnLst/>
            <a:rect r="r" b="b" t="t" l="l"/>
            <a:pathLst>
              <a:path h="665798" w="669607">
                <a:moveTo>
                  <a:pt x="0" y="0"/>
                </a:moveTo>
                <a:lnTo>
                  <a:pt x="669607" y="0"/>
                </a:lnTo>
                <a:lnTo>
                  <a:pt x="669607" y="665798"/>
                </a:lnTo>
                <a:lnTo>
                  <a:pt x="0" y="6657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6231826" y="3346893"/>
            <a:ext cx="658176" cy="661035"/>
          </a:xfrm>
          <a:custGeom>
            <a:avLst/>
            <a:gdLst/>
            <a:ahLst/>
            <a:cxnLst/>
            <a:rect r="r" b="b" t="t" l="l"/>
            <a:pathLst>
              <a:path h="661035" w="658176">
                <a:moveTo>
                  <a:pt x="0" y="0"/>
                </a:moveTo>
                <a:lnTo>
                  <a:pt x="658176" y="0"/>
                </a:lnTo>
                <a:lnTo>
                  <a:pt x="658176" y="661035"/>
                </a:lnTo>
                <a:lnTo>
                  <a:pt x="0" y="66103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25" id="25"/>
          <p:cNvGrpSpPr/>
          <p:nvPr/>
        </p:nvGrpSpPr>
        <p:grpSpPr>
          <a:xfrm rot="0">
            <a:off x="6330125" y="3445191"/>
            <a:ext cx="461962" cy="461962"/>
            <a:chOff x="0" y="0"/>
            <a:chExt cx="615950" cy="615950"/>
          </a:xfrm>
        </p:grpSpPr>
        <p:sp>
          <p:nvSpPr>
            <p:cNvPr name="Freeform 26" id="26"/>
            <p:cNvSpPr/>
            <p:nvPr/>
          </p:nvSpPr>
          <p:spPr>
            <a:xfrm flipH="false" flipV="false" rot="0">
              <a:off x="0" y="0"/>
              <a:ext cx="615442" cy="615442"/>
            </a:xfrm>
            <a:custGeom>
              <a:avLst/>
              <a:gdLst/>
              <a:ahLst/>
              <a:cxnLst/>
              <a:rect r="r" b="b" t="t" l="l"/>
              <a:pathLst>
                <a:path h="615442" w="615442">
                  <a:moveTo>
                    <a:pt x="306832" y="0"/>
                  </a:moveTo>
                  <a:lnTo>
                    <a:pt x="210185" y="15748"/>
                  </a:lnTo>
                  <a:lnTo>
                    <a:pt x="125984" y="59436"/>
                  </a:lnTo>
                  <a:lnTo>
                    <a:pt x="59436" y="125984"/>
                  </a:lnTo>
                  <a:lnTo>
                    <a:pt x="15748" y="210185"/>
                  </a:lnTo>
                  <a:lnTo>
                    <a:pt x="0" y="306832"/>
                  </a:lnTo>
                  <a:lnTo>
                    <a:pt x="15748" y="404368"/>
                  </a:lnTo>
                  <a:lnTo>
                    <a:pt x="59436" y="489077"/>
                  </a:lnTo>
                  <a:lnTo>
                    <a:pt x="125984" y="555879"/>
                  </a:lnTo>
                  <a:lnTo>
                    <a:pt x="210185" y="599694"/>
                  </a:lnTo>
                  <a:lnTo>
                    <a:pt x="306832" y="615442"/>
                  </a:lnTo>
                  <a:lnTo>
                    <a:pt x="404368" y="599694"/>
                  </a:lnTo>
                  <a:lnTo>
                    <a:pt x="489077" y="555879"/>
                  </a:lnTo>
                  <a:lnTo>
                    <a:pt x="555879" y="489077"/>
                  </a:lnTo>
                  <a:lnTo>
                    <a:pt x="599694" y="404368"/>
                  </a:lnTo>
                  <a:lnTo>
                    <a:pt x="615442" y="306832"/>
                  </a:lnTo>
                  <a:lnTo>
                    <a:pt x="599694" y="210185"/>
                  </a:lnTo>
                  <a:lnTo>
                    <a:pt x="555879" y="125984"/>
                  </a:lnTo>
                  <a:lnTo>
                    <a:pt x="489077" y="59436"/>
                  </a:lnTo>
                  <a:lnTo>
                    <a:pt x="404368" y="15748"/>
                  </a:lnTo>
                  <a:lnTo>
                    <a:pt x="306832" y="0"/>
                  </a:lnTo>
                  <a:close/>
                </a:path>
              </a:pathLst>
            </a:custGeom>
            <a:solidFill>
              <a:srgbClr val="ECECEC"/>
            </a:solidFill>
            <a:ln w="12700">
              <a:solidFill>
                <a:srgbClr val="000000"/>
              </a:solidFill>
            </a:ln>
          </p:spPr>
        </p:sp>
      </p:grpSp>
      <p:grpSp>
        <p:nvGrpSpPr>
          <p:cNvPr name="Group 27" id="27"/>
          <p:cNvGrpSpPr/>
          <p:nvPr/>
        </p:nvGrpSpPr>
        <p:grpSpPr>
          <a:xfrm rot="0">
            <a:off x="6426136" y="3541203"/>
            <a:ext cx="269557" cy="269558"/>
            <a:chOff x="0" y="0"/>
            <a:chExt cx="359410" cy="359410"/>
          </a:xfrm>
        </p:grpSpPr>
        <p:sp>
          <p:nvSpPr>
            <p:cNvPr name="Freeform 28" id="28"/>
            <p:cNvSpPr/>
            <p:nvPr/>
          </p:nvSpPr>
          <p:spPr>
            <a:xfrm flipH="false" flipV="false" rot="0">
              <a:off x="0" y="0"/>
              <a:ext cx="359410" cy="359410"/>
            </a:xfrm>
            <a:custGeom>
              <a:avLst/>
              <a:gdLst/>
              <a:ahLst/>
              <a:cxnLst/>
              <a:rect r="r" b="b" t="t" l="l"/>
              <a:pathLst>
                <a:path h="359410" w="359410">
                  <a:moveTo>
                    <a:pt x="0" y="0"/>
                  </a:moveTo>
                  <a:lnTo>
                    <a:pt x="359410" y="0"/>
                  </a:lnTo>
                  <a:lnTo>
                    <a:pt x="359410" y="359410"/>
                  </a:lnTo>
                  <a:lnTo>
                    <a:pt x="0" y="359410"/>
                  </a:lnTo>
                  <a:lnTo>
                    <a:pt x="0" y="0"/>
                  </a:lnTo>
                  <a:close/>
                </a:path>
              </a:pathLst>
            </a:custGeom>
            <a:blipFill>
              <a:blip r:embed="rId14"/>
              <a:stretch>
                <a:fillRect l="0" t="0" r="0" b="0"/>
              </a:stretch>
            </a:blipFill>
          </p:spPr>
        </p:sp>
      </p:grpSp>
      <p:grpSp>
        <p:nvGrpSpPr>
          <p:cNvPr name="Group 29" id="29"/>
          <p:cNvGrpSpPr/>
          <p:nvPr/>
        </p:nvGrpSpPr>
        <p:grpSpPr>
          <a:xfrm rot="0">
            <a:off x="4837174" y="6890002"/>
            <a:ext cx="164592" cy="166877"/>
            <a:chOff x="0" y="0"/>
            <a:chExt cx="219456" cy="222502"/>
          </a:xfrm>
        </p:grpSpPr>
        <p:sp>
          <p:nvSpPr>
            <p:cNvPr name="Freeform 30" id="30"/>
            <p:cNvSpPr/>
            <p:nvPr/>
          </p:nvSpPr>
          <p:spPr>
            <a:xfrm flipH="false" flipV="false" rot="0">
              <a:off x="0" y="0"/>
              <a:ext cx="219456" cy="222504"/>
            </a:xfrm>
            <a:custGeom>
              <a:avLst/>
              <a:gdLst/>
              <a:ahLst/>
              <a:cxnLst/>
              <a:rect r="r" b="b" t="t" l="l"/>
              <a:pathLst>
                <a:path h="222504" w="219456">
                  <a:moveTo>
                    <a:pt x="0" y="0"/>
                  </a:moveTo>
                  <a:lnTo>
                    <a:pt x="219456" y="0"/>
                  </a:lnTo>
                  <a:lnTo>
                    <a:pt x="219456" y="222504"/>
                  </a:lnTo>
                  <a:lnTo>
                    <a:pt x="0" y="222504"/>
                  </a:lnTo>
                  <a:lnTo>
                    <a:pt x="0" y="0"/>
                  </a:lnTo>
                  <a:close/>
                </a:path>
              </a:pathLst>
            </a:custGeom>
            <a:blipFill>
              <a:blip r:embed="rId15"/>
              <a:stretch>
                <a:fillRect l="0" t="0" r="0" b="-2918"/>
              </a:stretch>
            </a:blipFill>
          </p:spPr>
        </p:sp>
      </p:grpSp>
      <p:grpSp>
        <p:nvGrpSpPr>
          <p:cNvPr name="Group 31" id="31"/>
          <p:cNvGrpSpPr/>
          <p:nvPr/>
        </p:nvGrpSpPr>
        <p:grpSpPr>
          <a:xfrm rot="0">
            <a:off x="5010910" y="6890135"/>
            <a:ext cx="1209675" cy="167640"/>
            <a:chOff x="0" y="0"/>
            <a:chExt cx="1612900" cy="223520"/>
          </a:xfrm>
        </p:grpSpPr>
        <p:sp>
          <p:nvSpPr>
            <p:cNvPr name="Freeform 32" id="32"/>
            <p:cNvSpPr/>
            <p:nvPr/>
          </p:nvSpPr>
          <p:spPr>
            <a:xfrm flipH="false" flipV="false" rot="0">
              <a:off x="0" y="0"/>
              <a:ext cx="1612392" cy="222377"/>
            </a:xfrm>
            <a:custGeom>
              <a:avLst/>
              <a:gdLst/>
              <a:ahLst/>
              <a:cxnLst/>
              <a:rect r="r" b="b" t="t" l="l"/>
              <a:pathLst>
                <a:path h="222377" w="1612392">
                  <a:moveTo>
                    <a:pt x="1612392" y="0"/>
                  </a:moveTo>
                  <a:lnTo>
                    <a:pt x="0" y="0"/>
                  </a:lnTo>
                  <a:lnTo>
                    <a:pt x="0" y="222377"/>
                  </a:lnTo>
                  <a:lnTo>
                    <a:pt x="1612392" y="222377"/>
                  </a:lnTo>
                  <a:lnTo>
                    <a:pt x="1612392" y="0"/>
                  </a:lnTo>
                  <a:close/>
                </a:path>
              </a:pathLst>
            </a:custGeom>
            <a:solidFill>
              <a:srgbClr val="095B6E"/>
            </a:solidFill>
            <a:ln w="12700">
              <a:solidFill>
                <a:srgbClr val="000000"/>
              </a:solidFill>
            </a:ln>
          </p:spPr>
        </p:sp>
      </p:grpSp>
      <p:grpSp>
        <p:nvGrpSpPr>
          <p:cNvPr name="Group 33" id="33"/>
          <p:cNvGrpSpPr/>
          <p:nvPr/>
        </p:nvGrpSpPr>
        <p:grpSpPr>
          <a:xfrm rot="0">
            <a:off x="4919470" y="6890135"/>
            <a:ext cx="91440" cy="167640"/>
            <a:chOff x="0" y="0"/>
            <a:chExt cx="121920" cy="223520"/>
          </a:xfrm>
        </p:grpSpPr>
        <p:sp>
          <p:nvSpPr>
            <p:cNvPr name="Freeform 34" id="34"/>
            <p:cNvSpPr/>
            <p:nvPr/>
          </p:nvSpPr>
          <p:spPr>
            <a:xfrm flipH="false" flipV="false" rot="0">
              <a:off x="0" y="0"/>
              <a:ext cx="121793" cy="222377"/>
            </a:xfrm>
            <a:custGeom>
              <a:avLst/>
              <a:gdLst/>
              <a:ahLst/>
              <a:cxnLst/>
              <a:rect r="r" b="b" t="t" l="l"/>
              <a:pathLst>
                <a:path h="222377" w="121793">
                  <a:moveTo>
                    <a:pt x="121793" y="0"/>
                  </a:moveTo>
                  <a:lnTo>
                    <a:pt x="0" y="0"/>
                  </a:lnTo>
                  <a:lnTo>
                    <a:pt x="0" y="222377"/>
                  </a:lnTo>
                  <a:lnTo>
                    <a:pt x="121793" y="222377"/>
                  </a:lnTo>
                  <a:lnTo>
                    <a:pt x="121793" y="0"/>
                  </a:lnTo>
                  <a:close/>
                </a:path>
              </a:pathLst>
            </a:custGeom>
            <a:solidFill>
              <a:srgbClr val="00BCC3"/>
            </a:solidFill>
            <a:ln w="12700">
              <a:solidFill>
                <a:srgbClr val="000000"/>
              </a:solidFill>
            </a:ln>
          </p:spPr>
        </p:sp>
      </p:grpSp>
      <p:grpSp>
        <p:nvGrpSpPr>
          <p:cNvPr name="Group 35" id="35"/>
          <p:cNvGrpSpPr/>
          <p:nvPr/>
        </p:nvGrpSpPr>
        <p:grpSpPr>
          <a:xfrm rot="0">
            <a:off x="6220395" y="6890193"/>
            <a:ext cx="232982" cy="166688"/>
            <a:chOff x="0" y="0"/>
            <a:chExt cx="310642" cy="222250"/>
          </a:xfrm>
        </p:grpSpPr>
        <p:sp>
          <p:nvSpPr>
            <p:cNvPr name="Freeform 36" id="36"/>
            <p:cNvSpPr/>
            <p:nvPr/>
          </p:nvSpPr>
          <p:spPr>
            <a:xfrm flipH="false" flipV="false" rot="0">
              <a:off x="0" y="0"/>
              <a:ext cx="310642" cy="222250"/>
            </a:xfrm>
            <a:custGeom>
              <a:avLst/>
              <a:gdLst/>
              <a:ahLst/>
              <a:cxnLst/>
              <a:rect r="r" b="b" t="t" l="l"/>
              <a:pathLst>
                <a:path h="222250" w="310642">
                  <a:moveTo>
                    <a:pt x="0" y="0"/>
                  </a:moveTo>
                  <a:lnTo>
                    <a:pt x="310642" y="0"/>
                  </a:lnTo>
                  <a:lnTo>
                    <a:pt x="310642" y="222250"/>
                  </a:lnTo>
                  <a:lnTo>
                    <a:pt x="0" y="222250"/>
                  </a:lnTo>
                  <a:lnTo>
                    <a:pt x="0" y="0"/>
                  </a:lnTo>
                  <a:close/>
                </a:path>
              </a:pathLst>
            </a:custGeom>
            <a:blipFill>
              <a:blip r:embed="rId16"/>
              <a:stretch>
                <a:fillRect l="0" t="0" r="0" b="-460"/>
              </a:stretch>
            </a:blipFill>
          </p:spPr>
        </p:sp>
      </p:grpSp>
      <p:grpSp>
        <p:nvGrpSpPr>
          <p:cNvPr name="Group 37" id="37"/>
          <p:cNvGrpSpPr/>
          <p:nvPr/>
        </p:nvGrpSpPr>
        <p:grpSpPr>
          <a:xfrm rot="0">
            <a:off x="5251132" y="7591995"/>
            <a:ext cx="258128" cy="354139"/>
            <a:chOff x="0" y="0"/>
            <a:chExt cx="344170" cy="472186"/>
          </a:xfrm>
        </p:grpSpPr>
        <p:sp>
          <p:nvSpPr>
            <p:cNvPr name="Freeform 38" id="38"/>
            <p:cNvSpPr/>
            <p:nvPr/>
          </p:nvSpPr>
          <p:spPr>
            <a:xfrm flipH="false" flipV="false" rot="0">
              <a:off x="0" y="0"/>
              <a:ext cx="344170" cy="472186"/>
            </a:xfrm>
            <a:custGeom>
              <a:avLst/>
              <a:gdLst/>
              <a:ahLst/>
              <a:cxnLst/>
              <a:rect r="r" b="b" t="t" l="l"/>
              <a:pathLst>
                <a:path h="472186" w="344170">
                  <a:moveTo>
                    <a:pt x="0" y="0"/>
                  </a:moveTo>
                  <a:lnTo>
                    <a:pt x="344170" y="0"/>
                  </a:lnTo>
                  <a:lnTo>
                    <a:pt x="344170" y="472186"/>
                  </a:lnTo>
                  <a:lnTo>
                    <a:pt x="0" y="472186"/>
                  </a:lnTo>
                  <a:lnTo>
                    <a:pt x="0" y="0"/>
                  </a:lnTo>
                  <a:close/>
                </a:path>
              </a:pathLst>
            </a:custGeom>
            <a:blipFill>
              <a:blip r:embed="rId17"/>
              <a:stretch>
                <a:fillRect l="0" t="0" r="-796" b="0"/>
              </a:stretch>
            </a:blipFill>
          </p:spPr>
        </p:sp>
      </p:grpSp>
      <p:grpSp>
        <p:nvGrpSpPr>
          <p:cNvPr name="Group 39" id="39"/>
          <p:cNvGrpSpPr/>
          <p:nvPr/>
        </p:nvGrpSpPr>
        <p:grpSpPr>
          <a:xfrm rot="0">
            <a:off x="4256532" y="7623999"/>
            <a:ext cx="1230628" cy="290512"/>
            <a:chOff x="0" y="0"/>
            <a:chExt cx="1640838" cy="387350"/>
          </a:xfrm>
        </p:grpSpPr>
        <p:sp>
          <p:nvSpPr>
            <p:cNvPr name="Freeform 40" id="40"/>
            <p:cNvSpPr/>
            <p:nvPr/>
          </p:nvSpPr>
          <p:spPr>
            <a:xfrm flipH="false" flipV="false" rot="0">
              <a:off x="0" y="0"/>
              <a:ext cx="1640078" cy="386715"/>
            </a:xfrm>
            <a:custGeom>
              <a:avLst/>
              <a:gdLst/>
              <a:ahLst/>
              <a:cxnLst/>
              <a:rect r="r" b="b" t="t" l="l"/>
              <a:pathLst>
                <a:path h="386715" w="1640078">
                  <a:moveTo>
                    <a:pt x="1449832" y="0"/>
                  </a:moveTo>
                  <a:lnTo>
                    <a:pt x="189992" y="0"/>
                  </a:lnTo>
                  <a:lnTo>
                    <a:pt x="116205" y="14859"/>
                  </a:lnTo>
                  <a:lnTo>
                    <a:pt x="55880" y="55499"/>
                  </a:lnTo>
                  <a:lnTo>
                    <a:pt x="14986" y="115570"/>
                  </a:lnTo>
                  <a:lnTo>
                    <a:pt x="0" y="188976"/>
                  </a:lnTo>
                  <a:lnTo>
                    <a:pt x="0" y="197612"/>
                  </a:lnTo>
                  <a:lnTo>
                    <a:pt x="14986" y="271145"/>
                  </a:lnTo>
                  <a:lnTo>
                    <a:pt x="55880" y="331216"/>
                  </a:lnTo>
                  <a:lnTo>
                    <a:pt x="116332" y="371856"/>
                  </a:lnTo>
                  <a:lnTo>
                    <a:pt x="190119" y="386715"/>
                  </a:lnTo>
                  <a:lnTo>
                    <a:pt x="1449959" y="386715"/>
                  </a:lnTo>
                  <a:lnTo>
                    <a:pt x="1523746" y="371856"/>
                  </a:lnTo>
                  <a:lnTo>
                    <a:pt x="1584198" y="331216"/>
                  </a:lnTo>
                  <a:lnTo>
                    <a:pt x="1625092" y="271018"/>
                  </a:lnTo>
                  <a:lnTo>
                    <a:pt x="1640078" y="197485"/>
                  </a:lnTo>
                  <a:lnTo>
                    <a:pt x="1640078" y="188849"/>
                  </a:lnTo>
                  <a:lnTo>
                    <a:pt x="1624838" y="115570"/>
                  </a:lnTo>
                  <a:lnTo>
                    <a:pt x="1583944" y="55499"/>
                  </a:lnTo>
                  <a:lnTo>
                    <a:pt x="1523492" y="14859"/>
                  </a:lnTo>
                  <a:lnTo>
                    <a:pt x="1449832" y="0"/>
                  </a:lnTo>
                  <a:close/>
                </a:path>
              </a:pathLst>
            </a:custGeom>
            <a:solidFill>
              <a:srgbClr val="FF544F"/>
            </a:solidFill>
            <a:ln w="12700">
              <a:solidFill>
                <a:srgbClr val="000000"/>
              </a:solidFill>
            </a:ln>
          </p:spPr>
        </p:sp>
      </p:grpSp>
      <p:grpSp>
        <p:nvGrpSpPr>
          <p:cNvPr name="Group 41" id="41"/>
          <p:cNvGrpSpPr/>
          <p:nvPr/>
        </p:nvGrpSpPr>
        <p:grpSpPr>
          <a:xfrm rot="0">
            <a:off x="5607558" y="7591995"/>
            <a:ext cx="260412" cy="354139"/>
            <a:chOff x="0" y="0"/>
            <a:chExt cx="347216" cy="472186"/>
          </a:xfrm>
        </p:grpSpPr>
        <p:sp>
          <p:nvSpPr>
            <p:cNvPr name="Freeform 42" id="42"/>
            <p:cNvSpPr/>
            <p:nvPr/>
          </p:nvSpPr>
          <p:spPr>
            <a:xfrm flipH="false" flipV="false" rot="0">
              <a:off x="0" y="0"/>
              <a:ext cx="347218" cy="472186"/>
            </a:xfrm>
            <a:custGeom>
              <a:avLst/>
              <a:gdLst/>
              <a:ahLst/>
              <a:cxnLst/>
              <a:rect r="r" b="b" t="t" l="l"/>
              <a:pathLst>
                <a:path h="472186" w="347218">
                  <a:moveTo>
                    <a:pt x="0" y="0"/>
                  </a:moveTo>
                  <a:lnTo>
                    <a:pt x="347218" y="0"/>
                  </a:lnTo>
                  <a:lnTo>
                    <a:pt x="347218" y="472186"/>
                  </a:lnTo>
                  <a:lnTo>
                    <a:pt x="0" y="472186"/>
                  </a:lnTo>
                  <a:lnTo>
                    <a:pt x="0" y="0"/>
                  </a:lnTo>
                  <a:close/>
                </a:path>
              </a:pathLst>
            </a:custGeom>
            <a:blipFill>
              <a:blip r:embed="rId18"/>
              <a:stretch>
                <a:fillRect l="0" t="0" r="0" b="-87"/>
              </a:stretch>
            </a:blipFill>
          </p:spPr>
        </p:sp>
      </p:grpSp>
      <p:grpSp>
        <p:nvGrpSpPr>
          <p:cNvPr name="Group 43" id="43"/>
          <p:cNvGrpSpPr/>
          <p:nvPr/>
        </p:nvGrpSpPr>
        <p:grpSpPr>
          <a:xfrm rot="0">
            <a:off x="6732460" y="7591995"/>
            <a:ext cx="301560" cy="354139"/>
            <a:chOff x="0" y="0"/>
            <a:chExt cx="402080" cy="472186"/>
          </a:xfrm>
        </p:grpSpPr>
        <p:sp>
          <p:nvSpPr>
            <p:cNvPr name="Freeform 44" id="44"/>
            <p:cNvSpPr/>
            <p:nvPr/>
          </p:nvSpPr>
          <p:spPr>
            <a:xfrm flipH="false" flipV="false" rot="0">
              <a:off x="0" y="0"/>
              <a:ext cx="402082" cy="472186"/>
            </a:xfrm>
            <a:custGeom>
              <a:avLst/>
              <a:gdLst/>
              <a:ahLst/>
              <a:cxnLst/>
              <a:rect r="r" b="b" t="t" l="l"/>
              <a:pathLst>
                <a:path h="472186" w="402082">
                  <a:moveTo>
                    <a:pt x="0" y="0"/>
                  </a:moveTo>
                  <a:lnTo>
                    <a:pt x="402082" y="0"/>
                  </a:lnTo>
                  <a:lnTo>
                    <a:pt x="402082" y="472186"/>
                  </a:lnTo>
                  <a:lnTo>
                    <a:pt x="0" y="472186"/>
                  </a:lnTo>
                  <a:lnTo>
                    <a:pt x="0" y="0"/>
                  </a:lnTo>
                  <a:close/>
                </a:path>
              </a:pathLst>
            </a:custGeom>
            <a:blipFill>
              <a:blip r:embed="rId19"/>
              <a:stretch>
                <a:fillRect l="0" t="0" r="-3055" b="0"/>
              </a:stretch>
            </a:blipFill>
          </p:spPr>
        </p:sp>
      </p:grpSp>
      <p:grpSp>
        <p:nvGrpSpPr>
          <p:cNvPr name="Group 45" id="45"/>
          <p:cNvGrpSpPr/>
          <p:nvPr/>
        </p:nvGrpSpPr>
        <p:grpSpPr>
          <a:xfrm rot="0">
            <a:off x="5632894" y="7623999"/>
            <a:ext cx="1229678" cy="290512"/>
            <a:chOff x="0" y="0"/>
            <a:chExt cx="1639570" cy="387350"/>
          </a:xfrm>
        </p:grpSpPr>
        <p:sp>
          <p:nvSpPr>
            <p:cNvPr name="Freeform 46" id="46"/>
            <p:cNvSpPr/>
            <p:nvPr/>
          </p:nvSpPr>
          <p:spPr>
            <a:xfrm flipH="false" flipV="false" rot="0">
              <a:off x="0" y="0"/>
              <a:ext cx="1639316" cy="386842"/>
            </a:xfrm>
            <a:custGeom>
              <a:avLst/>
              <a:gdLst/>
              <a:ahLst/>
              <a:cxnLst/>
              <a:rect r="r" b="b" t="t" l="l"/>
              <a:pathLst>
                <a:path h="386842" w="1639316">
                  <a:moveTo>
                    <a:pt x="1449578" y="0"/>
                  </a:moveTo>
                  <a:lnTo>
                    <a:pt x="189738" y="0"/>
                  </a:lnTo>
                  <a:lnTo>
                    <a:pt x="116078" y="14859"/>
                  </a:lnTo>
                  <a:lnTo>
                    <a:pt x="55753" y="55499"/>
                  </a:lnTo>
                  <a:lnTo>
                    <a:pt x="14986" y="115570"/>
                  </a:lnTo>
                  <a:lnTo>
                    <a:pt x="0" y="188976"/>
                  </a:lnTo>
                  <a:lnTo>
                    <a:pt x="0" y="197612"/>
                  </a:lnTo>
                  <a:lnTo>
                    <a:pt x="14986" y="271145"/>
                  </a:lnTo>
                  <a:lnTo>
                    <a:pt x="55753" y="331343"/>
                  </a:lnTo>
                  <a:lnTo>
                    <a:pt x="116078" y="371983"/>
                  </a:lnTo>
                  <a:lnTo>
                    <a:pt x="189738" y="386842"/>
                  </a:lnTo>
                  <a:lnTo>
                    <a:pt x="1449578" y="386842"/>
                  </a:lnTo>
                  <a:lnTo>
                    <a:pt x="1523238" y="371983"/>
                  </a:lnTo>
                  <a:lnTo>
                    <a:pt x="1583563" y="331343"/>
                  </a:lnTo>
                  <a:lnTo>
                    <a:pt x="1624330" y="271145"/>
                  </a:lnTo>
                  <a:lnTo>
                    <a:pt x="1639316" y="197612"/>
                  </a:lnTo>
                  <a:lnTo>
                    <a:pt x="1639316" y="188976"/>
                  </a:lnTo>
                  <a:lnTo>
                    <a:pt x="1624330" y="115570"/>
                  </a:lnTo>
                  <a:lnTo>
                    <a:pt x="1583563" y="55499"/>
                  </a:lnTo>
                  <a:lnTo>
                    <a:pt x="1523238" y="14859"/>
                  </a:lnTo>
                  <a:lnTo>
                    <a:pt x="1449578" y="0"/>
                  </a:lnTo>
                  <a:close/>
                </a:path>
              </a:pathLst>
            </a:custGeom>
            <a:solidFill>
              <a:srgbClr val="FF544F"/>
            </a:solidFill>
            <a:ln w="12700">
              <a:solidFill>
                <a:srgbClr val="000000"/>
              </a:solidFill>
            </a:ln>
          </p:spPr>
        </p:sp>
      </p:grpSp>
      <p:grpSp>
        <p:nvGrpSpPr>
          <p:cNvPr name="Group 47" id="47"/>
          <p:cNvGrpSpPr/>
          <p:nvPr/>
        </p:nvGrpSpPr>
        <p:grpSpPr>
          <a:xfrm rot="0">
            <a:off x="5314950" y="7523415"/>
            <a:ext cx="489585" cy="489585"/>
            <a:chOff x="0" y="0"/>
            <a:chExt cx="652780" cy="652780"/>
          </a:xfrm>
        </p:grpSpPr>
        <p:sp>
          <p:nvSpPr>
            <p:cNvPr name="Freeform 48" id="48"/>
            <p:cNvSpPr/>
            <p:nvPr/>
          </p:nvSpPr>
          <p:spPr>
            <a:xfrm flipH="false" flipV="false" rot="0">
              <a:off x="0" y="0"/>
              <a:ext cx="652145" cy="651891"/>
            </a:xfrm>
            <a:custGeom>
              <a:avLst/>
              <a:gdLst/>
              <a:ahLst/>
              <a:cxnLst/>
              <a:rect r="r" b="b" t="t" l="l"/>
              <a:pathLst>
                <a:path h="651891" w="652145">
                  <a:moveTo>
                    <a:pt x="326136" y="0"/>
                  </a:moveTo>
                  <a:lnTo>
                    <a:pt x="239776" y="11684"/>
                  </a:lnTo>
                  <a:lnTo>
                    <a:pt x="161925" y="44577"/>
                  </a:lnTo>
                  <a:lnTo>
                    <a:pt x="95885" y="95631"/>
                  </a:lnTo>
                  <a:lnTo>
                    <a:pt x="44704" y="161671"/>
                  </a:lnTo>
                  <a:lnTo>
                    <a:pt x="11684" y="239395"/>
                  </a:lnTo>
                  <a:lnTo>
                    <a:pt x="0" y="325882"/>
                  </a:lnTo>
                  <a:lnTo>
                    <a:pt x="11684" y="412877"/>
                  </a:lnTo>
                  <a:lnTo>
                    <a:pt x="44704" y="490855"/>
                  </a:lnTo>
                  <a:lnTo>
                    <a:pt x="95885" y="556768"/>
                  </a:lnTo>
                  <a:lnTo>
                    <a:pt x="161925" y="607568"/>
                  </a:lnTo>
                  <a:lnTo>
                    <a:pt x="239776" y="640334"/>
                  </a:lnTo>
                  <a:lnTo>
                    <a:pt x="326136" y="651891"/>
                  </a:lnTo>
                  <a:lnTo>
                    <a:pt x="413131" y="640334"/>
                  </a:lnTo>
                  <a:lnTo>
                    <a:pt x="491109" y="607568"/>
                  </a:lnTo>
                  <a:lnTo>
                    <a:pt x="557022" y="556768"/>
                  </a:lnTo>
                  <a:lnTo>
                    <a:pt x="607822" y="490855"/>
                  </a:lnTo>
                  <a:lnTo>
                    <a:pt x="640588" y="412877"/>
                  </a:lnTo>
                  <a:lnTo>
                    <a:pt x="652145" y="325882"/>
                  </a:lnTo>
                  <a:lnTo>
                    <a:pt x="640588" y="239522"/>
                  </a:lnTo>
                  <a:lnTo>
                    <a:pt x="607822" y="161798"/>
                  </a:lnTo>
                  <a:lnTo>
                    <a:pt x="557022" y="95758"/>
                  </a:lnTo>
                  <a:lnTo>
                    <a:pt x="491109" y="44704"/>
                  </a:lnTo>
                  <a:lnTo>
                    <a:pt x="413131" y="11684"/>
                  </a:lnTo>
                  <a:lnTo>
                    <a:pt x="326136" y="0"/>
                  </a:lnTo>
                  <a:close/>
                </a:path>
              </a:pathLst>
            </a:custGeom>
            <a:solidFill>
              <a:srgbClr val="095B6E"/>
            </a:solidFill>
            <a:ln w="12700">
              <a:solidFill>
                <a:srgbClr val="000000"/>
              </a:solidFill>
            </a:ln>
          </p:spPr>
        </p:sp>
      </p:grpSp>
      <p:grpSp>
        <p:nvGrpSpPr>
          <p:cNvPr name="Group 49" id="49"/>
          <p:cNvGrpSpPr/>
          <p:nvPr/>
        </p:nvGrpSpPr>
        <p:grpSpPr>
          <a:xfrm rot="0">
            <a:off x="5351716" y="7559991"/>
            <a:ext cx="416243" cy="418147"/>
            <a:chOff x="0" y="0"/>
            <a:chExt cx="554990" cy="557530"/>
          </a:xfrm>
        </p:grpSpPr>
        <p:sp>
          <p:nvSpPr>
            <p:cNvPr name="Freeform 50" id="50"/>
            <p:cNvSpPr/>
            <p:nvPr/>
          </p:nvSpPr>
          <p:spPr>
            <a:xfrm flipH="false" flipV="false" rot="0">
              <a:off x="0" y="0"/>
              <a:ext cx="554355" cy="557530"/>
            </a:xfrm>
            <a:custGeom>
              <a:avLst/>
              <a:gdLst/>
              <a:ahLst/>
              <a:cxnLst/>
              <a:rect r="r" b="b" t="t" l="l"/>
              <a:pathLst>
                <a:path h="557530" w="554355">
                  <a:moveTo>
                    <a:pt x="276352" y="0"/>
                  </a:moveTo>
                  <a:lnTo>
                    <a:pt x="188595" y="14224"/>
                  </a:lnTo>
                  <a:lnTo>
                    <a:pt x="112649" y="53721"/>
                  </a:lnTo>
                  <a:lnTo>
                    <a:pt x="52959" y="114046"/>
                  </a:lnTo>
                  <a:lnTo>
                    <a:pt x="13970" y="190246"/>
                  </a:lnTo>
                  <a:lnTo>
                    <a:pt x="0" y="277876"/>
                  </a:lnTo>
                  <a:lnTo>
                    <a:pt x="13970" y="366268"/>
                  </a:lnTo>
                  <a:lnTo>
                    <a:pt x="52959" y="442976"/>
                  </a:lnTo>
                  <a:lnTo>
                    <a:pt x="112649" y="503555"/>
                  </a:lnTo>
                  <a:lnTo>
                    <a:pt x="188595" y="543306"/>
                  </a:lnTo>
                  <a:lnTo>
                    <a:pt x="276352" y="557530"/>
                  </a:lnTo>
                  <a:lnTo>
                    <a:pt x="364109" y="543306"/>
                  </a:lnTo>
                  <a:lnTo>
                    <a:pt x="440436" y="503555"/>
                  </a:lnTo>
                  <a:lnTo>
                    <a:pt x="500634" y="442976"/>
                  </a:lnTo>
                  <a:lnTo>
                    <a:pt x="540131" y="366268"/>
                  </a:lnTo>
                  <a:lnTo>
                    <a:pt x="554355" y="277876"/>
                  </a:lnTo>
                  <a:lnTo>
                    <a:pt x="540131" y="190246"/>
                  </a:lnTo>
                  <a:lnTo>
                    <a:pt x="500634" y="114046"/>
                  </a:lnTo>
                  <a:lnTo>
                    <a:pt x="440436" y="53848"/>
                  </a:lnTo>
                  <a:lnTo>
                    <a:pt x="364109" y="14351"/>
                  </a:lnTo>
                  <a:lnTo>
                    <a:pt x="276352" y="0"/>
                  </a:lnTo>
                  <a:close/>
                </a:path>
              </a:pathLst>
            </a:custGeom>
            <a:solidFill>
              <a:srgbClr val="FFFFFF"/>
            </a:solidFill>
            <a:ln w="12700">
              <a:solidFill>
                <a:srgbClr val="000000"/>
              </a:solidFill>
            </a:ln>
          </p:spPr>
        </p:sp>
      </p:grpSp>
      <p:sp>
        <p:nvSpPr>
          <p:cNvPr name="Freeform 51" id="51"/>
          <p:cNvSpPr/>
          <p:nvPr/>
        </p:nvSpPr>
        <p:spPr>
          <a:xfrm flipH="false" flipV="false" rot="0">
            <a:off x="5381244" y="7589518"/>
            <a:ext cx="357188" cy="357188"/>
          </a:xfrm>
          <a:custGeom>
            <a:avLst/>
            <a:gdLst/>
            <a:ahLst/>
            <a:cxnLst/>
            <a:rect r="r" b="b" t="t" l="l"/>
            <a:pathLst>
              <a:path h="357188" w="357188">
                <a:moveTo>
                  <a:pt x="0" y="0"/>
                </a:moveTo>
                <a:lnTo>
                  <a:pt x="357188" y="0"/>
                </a:lnTo>
                <a:lnTo>
                  <a:pt x="357188" y="357188"/>
                </a:lnTo>
                <a:lnTo>
                  <a:pt x="0" y="35718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52" id="52"/>
          <p:cNvGrpSpPr/>
          <p:nvPr/>
        </p:nvGrpSpPr>
        <p:grpSpPr>
          <a:xfrm rot="0">
            <a:off x="5484114" y="7637715"/>
            <a:ext cx="203454" cy="141542"/>
            <a:chOff x="0" y="0"/>
            <a:chExt cx="271272" cy="188722"/>
          </a:xfrm>
        </p:grpSpPr>
        <p:sp>
          <p:nvSpPr>
            <p:cNvPr name="Freeform 53" id="53"/>
            <p:cNvSpPr/>
            <p:nvPr/>
          </p:nvSpPr>
          <p:spPr>
            <a:xfrm flipH="false" flipV="false" rot="0">
              <a:off x="0" y="0"/>
              <a:ext cx="271272" cy="188722"/>
            </a:xfrm>
            <a:custGeom>
              <a:avLst/>
              <a:gdLst/>
              <a:ahLst/>
              <a:cxnLst/>
              <a:rect r="r" b="b" t="t" l="l"/>
              <a:pathLst>
                <a:path h="188722" w="271272">
                  <a:moveTo>
                    <a:pt x="0" y="0"/>
                  </a:moveTo>
                  <a:lnTo>
                    <a:pt x="271272" y="0"/>
                  </a:lnTo>
                  <a:lnTo>
                    <a:pt x="271272" y="188722"/>
                  </a:lnTo>
                  <a:lnTo>
                    <a:pt x="0" y="188722"/>
                  </a:lnTo>
                  <a:lnTo>
                    <a:pt x="0" y="0"/>
                  </a:lnTo>
                  <a:close/>
                </a:path>
              </a:pathLst>
            </a:custGeom>
            <a:blipFill>
              <a:blip r:embed="rId22"/>
              <a:stretch>
                <a:fillRect l="0" t="0" r="0" b="-2672"/>
              </a:stretch>
            </a:blipFill>
          </p:spPr>
        </p:sp>
      </p:grpSp>
      <p:grpSp>
        <p:nvGrpSpPr>
          <p:cNvPr name="Group 54" id="54"/>
          <p:cNvGrpSpPr/>
          <p:nvPr/>
        </p:nvGrpSpPr>
        <p:grpSpPr>
          <a:xfrm rot="0">
            <a:off x="6320790" y="7616951"/>
            <a:ext cx="610551" cy="301943"/>
            <a:chOff x="0" y="0"/>
            <a:chExt cx="814068" cy="402590"/>
          </a:xfrm>
        </p:grpSpPr>
        <p:sp>
          <p:nvSpPr>
            <p:cNvPr name="Freeform 55" id="55"/>
            <p:cNvSpPr/>
            <p:nvPr/>
          </p:nvSpPr>
          <p:spPr>
            <a:xfrm flipH="false" flipV="false" rot="0">
              <a:off x="0" y="0"/>
              <a:ext cx="164338" cy="402336"/>
            </a:xfrm>
            <a:custGeom>
              <a:avLst/>
              <a:gdLst/>
              <a:ahLst/>
              <a:cxnLst/>
              <a:rect r="r" b="b" t="t" l="l"/>
              <a:pathLst>
                <a:path h="402336" w="164338">
                  <a:moveTo>
                    <a:pt x="164338" y="11684"/>
                  </a:moveTo>
                  <a:lnTo>
                    <a:pt x="152400" y="0"/>
                  </a:lnTo>
                  <a:lnTo>
                    <a:pt x="10160" y="0"/>
                  </a:lnTo>
                  <a:lnTo>
                    <a:pt x="0" y="11684"/>
                  </a:lnTo>
                  <a:lnTo>
                    <a:pt x="0" y="392176"/>
                  </a:lnTo>
                  <a:lnTo>
                    <a:pt x="10160" y="402336"/>
                  </a:lnTo>
                  <a:lnTo>
                    <a:pt x="152400" y="402336"/>
                  </a:lnTo>
                  <a:lnTo>
                    <a:pt x="164338" y="392176"/>
                  </a:lnTo>
                  <a:lnTo>
                    <a:pt x="164338" y="25400"/>
                  </a:lnTo>
                  <a:lnTo>
                    <a:pt x="164338" y="11684"/>
                  </a:lnTo>
                  <a:close/>
                </a:path>
              </a:pathLst>
            </a:custGeom>
            <a:solidFill>
              <a:srgbClr val="095B6E"/>
            </a:solidFill>
            <a:ln w="12700">
              <a:solidFill>
                <a:srgbClr val="000000"/>
              </a:solidFill>
            </a:ln>
          </p:spPr>
        </p:sp>
        <p:sp>
          <p:nvSpPr>
            <p:cNvPr name="Freeform 56" id="56"/>
            <p:cNvSpPr/>
            <p:nvPr/>
          </p:nvSpPr>
          <p:spPr>
            <a:xfrm flipH="false" flipV="false" rot="0">
              <a:off x="624840" y="179832"/>
              <a:ext cx="188976" cy="42418"/>
            </a:xfrm>
            <a:custGeom>
              <a:avLst/>
              <a:gdLst/>
              <a:ahLst/>
              <a:cxnLst/>
              <a:rect r="r" b="b" t="t" l="l"/>
              <a:pathLst>
                <a:path h="42418" w="188976">
                  <a:moveTo>
                    <a:pt x="188976" y="8382"/>
                  </a:moveTo>
                  <a:lnTo>
                    <a:pt x="180594" y="0"/>
                  </a:lnTo>
                  <a:lnTo>
                    <a:pt x="10160" y="0"/>
                  </a:lnTo>
                  <a:lnTo>
                    <a:pt x="0" y="8382"/>
                  </a:lnTo>
                  <a:lnTo>
                    <a:pt x="0" y="32258"/>
                  </a:lnTo>
                  <a:lnTo>
                    <a:pt x="10160" y="42418"/>
                  </a:lnTo>
                  <a:lnTo>
                    <a:pt x="180594" y="42418"/>
                  </a:lnTo>
                  <a:lnTo>
                    <a:pt x="188976" y="32258"/>
                  </a:lnTo>
                  <a:lnTo>
                    <a:pt x="188976" y="20574"/>
                  </a:lnTo>
                  <a:lnTo>
                    <a:pt x="188976" y="8382"/>
                  </a:lnTo>
                  <a:close/>
                </a:path>
              </a:pathLst>
            </a:custGeom>
            <a:solidFill>
              <a:srgbClr val="095B6E"/>
            </a:solidFill>
            <a:ln w="12700">
              <a:solidFill>
                <a:srgbClr val="000000"/>
              </a:solidFill>
            </a:ln>
          </p:spPr>
        </p:sp>
      </p:grpSp>
      <p:sp>
        <p:nvSpPr>
          <p:cNvPr name="Freeform 57" id="57"/>
          <p:cNvSpPr/>
          <p:nvPr/>
        </p:nvSpPr>
        <p:spPr>
          <a:xfrm flipH="false" flipV="false" rot="0">
            <a:off x="4343590" y="7744966"/>
            <a:ext cx="548640" cy="52388"/>
          </a:xfrm>
          <a:custGeom>
            <a:avLst/>
            <a:gdLst/>
            <a:ahLst/>
            <a:cxnLst/>
            <a:rect r="r" b="b" t="t" l="l"/>
            <a:pathLst>
              <a:path h="52388" w="548640">
                <a:moveTo>
                  <a:pt x="0" y="0"/>
                </a:moveTo>
                <a:lnTo>
                  <a:pt x="548640" y="0"/>
                </a:lnTo>
                <a:lnTo>
                  <a:pt x="548640" y="52388"/>
                </a:lnTo>
                <a:lnTo>
                  <a:pt x="0" y="52388"/>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58" id="58"/>
          <p:cNvSpPr/>
          <p:nvPr/>
        </p:nvSpPr>
        <p:spPr>
          <a:xfrm flipH="false" flipV="false" rot="0">
            <a:off x="5326380" y="1819845"/>
            <a:ext cx="1900238" cy="1404176"/>
          </a:xfrm>
          <a:custGeom>
            <a:avLst/>
            <a:gdLst/>
            <a:ahLst/>
            <a:cxnLst/>
            <a:rect r="r" b="b" t="t" l="l"/>
            <a:pathLst>
              <a:path h="1404176" w="1900238">
                <a:moveTo>
                  <a:pt x="0" y="0"/>
                </a:moveTo>
                <a:lnTo>
                  <a:pt x="1900238" y="0"/>
                </a:lnTo>
                <a:lnTo>
                  <a:pt x="1900238" y="1404176"/>
                </a:lnTo>
                <a:lnTo>
                  <a:pt x="0" y="140417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11121336" y="4769303"/>
            <a:ext cx="5985329" cy="4488997"/>
          </a:xfrm>
          <a:custGeom>
            <a:avLst/>
            <a:gdLst/>
            <a:ahLst/>
            <a:cxnLst/>
            <a:rect r="r" b="b" t="t" l="l"/>
            <a:pathLst>
              <a:path h="4488997" w="5985329">
                <a:moveTo>
                  <a:pt x="0" y="0"/>
                </a:moveTo>
                <a:lnTo>
                  <a:pt x="5985329" y="0"/>
                </a:lnTo>
                <a:lnTo>
                  <a:pt x="5985329" y="4488997"/>
                </a:lnTo>
                <a:lnTo>
                  <a:pt x="0" y="4488997"/>
                </a:lnTo>
                <a:lnTo>
                  <a:pt x="0" y="0"/>
                </a:lnTo>
                <a:close/>
              </a:path>
            </a:pathLst>
          </a:custGeom>
          <a:blipFill>
            <a:blip r:embed="rId4"/>
            <a:stretch>
              <a:fillRect l="0" t="0" r="0" b="0"/>
            </a:stretch>
          </a:blipFill>
        </p:spPr>
      </p:sp>
      <p:sp>
        <p:nvSpPr>
          <p:cNvPr name="Freeform 9" id="9"/>
          <p:cNvSpPr/>
          <p:nvPr/>
        </p:nvSpPr>
        <p:spPr>
          <a:xfrm flipH="false" flipV="false" rot="0">
            <a:off x="11527372" y="1719757"/>
            <a:ext cx="5173256" cy="2753334"/>
          </a:xfrm>
          <a:custGeom>
            <a:avLst/>
            <a:gdLst/>
            <a:ahLst/>
            <a:cxnLst/>
            <a:rect r="r" b="b" t="t" l="l"/>
            <a:pathLst>
              <a:path h="2753334" w="5173256">
                <a:moveTo>
                  <a:pt x="0" y="0"/>
                </a:moveTo>
                <a:lnTo>
                  <a:pt x="5173256" y="0"/>
                </a:lnTo>
                <a:lnTo>
                  <a:pt x="5173256" y="2753334"/>
                </a:lnTo>
                <a:lnTo>
                  <a:pt x="0" y="2753334"/>
                </a:lnTo>
                <a:lnTo>
                  <a:pt x="0" y="0"/>
                </a:lnTo>
                <a:close/>
              </a:path>
            </a:pathLst>
          </a:custGeom>
          <a:blipFill>
            <a:blip r:embed="rId5"/>
            <a:stretch>
              <a:fillRect l="0" t="0" r="0" b="0"/>
            </a:stretch>
          </a:blipFill>
        </p:spPr>
      </p:sp>
      <p:sp>
        <p:nvSpPr>
          <p:cNvPr name="TextBox 10" id="10"/>
          <p:cNvSpPr txBox="true"/>
          <p:nvPr/>
        </p:nvSpPr>
        <p:spPr>
          <a:xfrm rot="0">
            <a:off x="1665618" y="468762"/>
            <a:ext cx="4474171"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ỨNG DỤNG Y TẾ - VLSP</a:t>
            </a:r>
          </a:p>
        </p:txBody>
      </p:sp>
      <p:sp>
        <p:nvSpPr>
          <p:cNvPr name="TextBox 11" id="11"/>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03</a:t>
            </a:r>
          </a:p>
        </p:txBody>
      </p:sp>
      <p:sp>
        <p:nvSpPr>
          <p:cNvPr name="TextBox 12" id="12"/>
          <p:cNvSpPr txBox="true"/>
          <p:nvPr/>
        </p:nvSpPr>
        <p:spPr>
          <a:xfrm rot="0">
            <a:off x="491966" y="1643557"/>
            <a:ext cx="8652034" cy="1136333"/>
          </a:xfrm>
          <a:prstGeom prst="rect">
            <a:avLst/>
          </a:prstGeom>
        </p:spPr>
        <p:txBody>
          <a:bodyPr anchor="t" rtlCol="false" tIns="0" lIns="0" bIns="0" rIns="0">
            <a:spAutoFit/>
          </a:bodyPr>
          <a:lstStyle/>
          <a:p>
            <a:pPr algn="ctr">
              <a:lnSpc>
                <a:spcPts val="4252"/>
              </a:lnSpc>
              <a:spcBef>
                <a:spcPct val="0"/>
              </a:spcBef>
            </a:pPr>
            <a:r>
              <a:rPr lang="en-US" b="true" sz="3499">
                <a:solidFill>
                  <a:srgbClr val="000000"/>
                </a:solidFill>
                <a:latin typeface="Calibri (MS) Bold"/>
                <a:ea typeface="Calibri (MS) Bold"/>
                <a:cs typeface="Calibri (MS) Bold"/>
                <a:sym typeface="Calibri (MS) Bold"/>
              </a:rPr>
              <a:t>Thách </a:t>
            </a:r>
            <a:r>
              <a:rPr lang="en-US" b="true" sz="3499">
                <a:solidFill>
                  <a:srgbClr val="000000"/>
                </a:solidFill>
                <a:latin typeface="Calibri (MS) Bold"/>
                <a:ea typeface="Calibri (MS) Bold"/>
                <a:cs typeface="Calibri (MS) Bold"/>
                <a:sym typeface="Calibri (MS) Bold"/>
              </a:rPr>
              <a:t>thức &amp; Giải pháp (Domain Adaptation)</a:t>
            </a:r>
          </a:p>
          <a:p>
            <a:pPr algn="l">
              <a:lnSpc>
                <a:spcPts val="4252"/>
              </a:lnSpc>
              <a:spcBef>
                <a:spcPct val="0"/>
              </a:spcBef>
            </a:pPr>
          </a:p>
        </p:txBody>
      </p:sp>
      <p:sp>
        <p:nvSpPr>
          <p:cNvPr name="TextBox 13" id="13"/>
          <p:cNvSpPr txBox="true"/>
          <p:nvPr/>
        </p:nvSpPr>
        <p:spPr>
          <a:xfrm rot="0">
            <a:off x="885953" y="2882599"/>
            <a:ext cx="10235382" cy="4613339"/>
          </a:xfrm>
          <a:prstGeom prst="rect">
            <a:avLst/>
          </a:prstGeom>
        </p:spPr>
        <p:txBody>
          <a:bodyPr anchor="t" rtlCol="false" tIns="0" lIns="0" bIns="0" rIns="0">
            <a:spAutoFit/>
          </a:bodyPr>
          <a:lstStyle/>
          <a:p>
            <a:pPr algn="l" marL="712465" indent="-356233" lvl="1">
              <a:lnSpc>
                <a:spcPts val="4009"/>
              </a:lnSpc>
              <a:spcBef>
                <a:spcPct val="0"/>
              </a:spcBef>
              <a:buAutoNum type="arabicPeriod" startAt="1"/>
            </a:pPr>
            <a:r>
              <a:rPr lang="en-US" sz="3299">
                <a:solidFill>
                  <a:srgbClr val="000000"/>
                </a:solidFill>
                <a:latin typeface="Calibri (MS)"/>
                <a:ea typeface="Calibri (MS)"/>
                <a:cs typeface="Calibri (MS)"/>
                <a:sym typeface="Calibri (MS)"/>
              </a:rPr>
              <a:t>Thác</a:t>
            </a:r>
            <a:r>
              <a:rPr lang="en-US" sz="3299">
                <a:solidFill>
                  <a:srgbClr val="000000"/>
                </a:solidFill>
                <a:latin typeface="Calibri (MS)"/>
                <a:ea typeface="Calibri (MS)"/>
                <a:cs typeface="Calibri (MS)"/>
                <a:sym typeface="Calibri (MS)"/>
              </a:rPr>
              <a:t>h thức VLSP: Dữ liệu ít, thuật ngữ khó</a:t>
            </a:r>
          </a:p>
          <a:p>
            <a:pPr algn="l" marL="712465" indent="-356233" lvl="1">
              <a:lnSpc>
                <a:spcPts val="4009"/>
              </a:lnSpc>
              <a:spcBef>
                <a:spcPct val="0"/>
              </a:spcBef>
              <a:buAutoNum type="arabicPeriod" startAt="1"/>
            </a:pPr>
            <a:r>
              <a:rPr lang="en-US" sz="3299">
                <a:solidFill>
                  <a:srgbClr val="000000"/>
                </a:solidFill>
                <a:latin typeface="Calibri (MS)"/>
                <a:ea typeface="Calibri (MS)"/>
                <a:cs typeface="Calibri (MS)"/>
                <a:sym typeface="Calibri (MS)"/>
              </a:rPr>
              <a:t>Giải pháp đề xuất: Intermediate Task Transfer Learning</a:t>
            </a:r>
          </a:p>
          <a:p>
            <a:pPr algn="l" marL="712465" indent="-356233" lvl="1">
              <a:lnSpc>
                <a:spcPts val="4009"/>
              </a:lnSpc>
              <a:spcBef>
                <a:spcPct val="0"/>
              </a:spcBef>
              <a:buAutoNum type="arabicPeriod" startAt="1"/>
            </a:pPr>
            <a:r>
              <a:rPr lang="en-US" sz="3299">
                <a:solidFill>
                  <a:srgbClr val="000000"/>
                </a:solidFill>
                <a:latin typeface="Calibri (MS)"/>
                <a:ea typeface="Calibri (MS)"/>
                <a:cs typeface="Calibri (MS)"/>
                <a:sym typeface="Calibri (MS)"/>
              </a:rPr>
              <a:t>Sơ đồ quy trình:</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Pre-trained Model: Helsinki-NLP.</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Stage 1 (Domain Adaptation): Train trên ViPubMed (Data: 300k - 700k câu) -&gt; Để học thuật ngữ.</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Stage 2 (Fine-tuning): Train trên VLSP -&gt; Để tối ưu hóa cho task cụ thể.</a:t>
            </a:r>
          </a:p>
          <a:p>
            <a:pPr algn="l">
              <a:lnSpc>
                <a:spcPts val="4009"/>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TextBox 8" id="8"/>
          <p:cNvSpPr txBox="true"/>
          <p:nvPr/>
        </p:nvSpPr>
        <p:spPr>
          <a:xfrm rot="0">
            <a:off x="1665618" y="468762"/>
            <a:ext cx="4474171"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ỨNG DỤNG Y TẾ - VLSP</a:t>
            </a:r>
          </a:p>
        </p:txBody>
      </p:sp>
      <p:sp>
        <p:nvSpPr>
          <p:cNvPr name="TextBox 9" id="9"/>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03</a:t>
            </a:r>
          </a:p>
        </p:txBody>
      </p:sp>
      <p:sp>
        <p:nvSpPr>
          <p:cNvPr name="TextBox 10" id="10"/>
          <p:cNvSpPr txBox="true"/>
          <p:nvPr/>
        </p:nvSpPr>
        <p:spPr>
          <a:xfrm rot="0">
            <a:off x="615582" y="1615601"/>
            <a:ext cx="8652034" cy="602933"/>
          </a:xfrm>
          <a:prstGeom prst="rect">
            <a:avLst/>
          </a:prstGeom>
        </p:spPr>
        <p:txBody>
          <a:bodyPr anchor="t" rtlCol="false" tIns="0" lIns="0" bIns="0" rIns="0">
            <a:spAutoFit/>
          </a:bodyPr>
          <a:lstStyle/>
          <a:p>
            <a:pPr algn="l">
              <a:lnSpc>
                <a:spcPts val="4252"/>
              </a:lnSpc>
              <a:spcBef>
                <a:spcPct val="0"/>
              </a:spcBef>
            </a:pPr>
            <a:r>
              <a:rPr lang="en-US" b="true" sz="3499">
                <a:solidFill>
                  <a:srgbClr val="000000"/>
                </a:solidFill>
                <a:latin typeface="Calibri (MS) Bold"/>
                <a:ea typeface="Calibri (MS) Bold"/>
                <a:cs typeface="Calibri (MS) Bold"/>
                <a:sym typeface="Calibri (MS) Bold"/>
              </a:rPr>
              <a:t>Thiế</a:t>
            </a:r>
            <a:r>
              <a:rPr lang="en-US" b="true" sz="3499">
                <a:solidFill>
                  <a:srgbClr val="000000"/>
                </a:solidFill>
                <a:latin typeface="Calibri (MS) Bold"/>
                <a:ea typeface="Calibri (MS) Bold"/>
                <a:cs typeface="Calibri (MS) Bold"/>
                <a:sym typeface="Calibri (MS) Bold"/>
              </a:rPr>
              <a:t>t kế thí nghiệm</a:t>
            </a:r>
          </a:p>
        </p:txBody>
      </p:sp>
      <p:sp>
        <p:nvSpPr>
          <p:cNvPr name="TextBox 11" id="11"/>
          <p:cNvSpPr txBox="true"/>
          <p:nvPr/>
        </p:nvSpPr>
        <p:spPr>
          <a:xfrm rot="0">
            <a:off x="1156324" y="2912241"/>
            <a:ext cx="10822458" cy="3098864"/>
          </a:xfrm>
          <a:prstGeom prst="rect">
            <a:avLst/>
          </a:prstGeom>
        </p:spPr>
        <p:txBody>
          <a:bodyPr anchor="t" rtlCol="false" tIns="0" lIns="0" bIns="0" rIns="0">
            <a:spAutoFit/>
          </a:bodyPr>
          <a:lstStyle/>
          <a:p>
            <a:pPr algn="l" marL="712465" indent="-356233" lvl="1">
              <a:lnSpc>
                <a:spcPts val="4009"/>
              </a:lnSpc>
              <a:spcBef>
                <a:spcPct val="0"/>
              </a:spcBef>
              <a:buAutoNum type="arabicPeriod" startAt="1"/>
            </a:pPr>
            <a:r>
              <a:rPr lang="en-US" sz="3299">
                <a:solidFill>
                  <a:srgbClr val="000000"/>
                </a:solidFill>
                <a:latin typeface="Calibri (MS)"/>
                <a:ea typeface="Calibri (MS)"/>
                <a:cs typeface="Calibri (MS)"/>
                <a:sym typeface="Calibri (MS)"/>
              </a:rPr>
              <a:t>Mục</a:t>
            </a:r>
            <a:r>
              <a:rPr lang="en-US" sz="3299">
                <a:solidFill>
                  <a:srgbClr val="000000"/>
                </a:solidFill>
                <a:latin typeface="Calibri (MS)"/>
                <a:ea typeface="Calibri (MS)"/>
                <a:cs typeface="Calibri (MS)"/>
                <a:sym typeface="Calibri (MS)"/>
              </a:rPr>
              <a:t> tiêu: Đo lường tác động của lượng dữ liệu miền</a:t>
            </a:r>
          </a:p>
          <a:p>
            <a:pPr algn="l" marL="712465" indent="-356233" lvl="1">
              <a:lnSpc>
                <a:spcPts val="4009"/>
              </a:lnSpc>
              <a:spcBef>
                <a:spcPct val="0"/>
              </a:spcBef>
              <a:buAutoNum type="arabicPeriod" startAt="1"/>
            </a:pPr>
            <a:r>
              <a:rPr lang="en-US" sz="3299">
                <a:solidFill>
                  <a:srgbClr val="000000"/>
                </a:solidFill>
                <a:latin typeface="Calibri (MS)"/>
                <a:ea typeface="Calibri (MS)"/>
                <a:cs typeface="Calibri (MS)"/>
                <a:sym typeface="Calibri (MS)"/>
              </a:rPr>
              <a:t>Các kịch bản thử nghiệm:</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Baseline: Chỉ fine-tune Helsinki trên VLSP</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Experiment A: Pre-train ViPubMed (300k) + Fine-tune VLSP</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Experiment B: Pre-train ViPubMed (500k) + Fine-tune VLSP</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Experiment C: Pre-train ViPubMed (700k) + Fine-tune VLSP</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9777211" y="2388638"/>
            <a:ext cx="8053266" cy="4570228"/>
          </a:xfrm>
          <a:custGeom>
            <a:avLst/>
            <a:gdLst/>
            <a:ahLst/>
            <a:cxnLst/>
            <a:rect r="r" b="b" t="t" l="l"/>
            <a:pathLst>
              <a:path h="4570228" w="8053266">
                <a:moveTo>
                  <a:pt x="0" y="0"/>
                </a:moveTo>
                <a:lnTo>
                  <a:pt x="8053266" y="0"/>
                </a:lnTo>
                <a:lnTo>
                  <a:pt x="8053266" y="4570229"/>
                </a:lnTo>
                <a:lnTo>
                  <a:pt x="0" y="4570229"/>
                </a:lnTo>
                <a:lnTo>
                  <a:pt x="0" y="0"/>
                </a:lnTo>
                <a:close/>
              </a:path>
            </a:pathLst>
          </a:custGeom>
          <a:blipFill>
            <a:blip r:embed="rId4"/>
            <a:stretch>
              <a:fillRect l="0" t="0" r="0" b="0"/>
            </a:stretch>
          </a:blipFill>
        </p:spPr>
      </p:sp>
      <p:sp>
        <p:nvSpPr>
          <p:cNvPr name="TextBox 9" id="9"/>
          <p:cNvSpPr txBox="true"/>
          <p:nvPr/>
        </p:nvSpPr>
        <p:spPr>
          <a:xfrm rot="0">
            <a:off x="1665618" y="468762"/>
            <a:ext cx="4474171"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ỨNG DỤNG Y TẾ - VLSP</a:t>
            </a:r>
          </a:p>
        </p:txBody>
      </p:sp>
      <p:sp>
        <p:nvSpPr>
          <p:cNvPr name="TextBox 10" id="10"/>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03</a:t>
            </a:r>
          </a:p>
        </p:txBody>
      </p:sp>
      <p:sp>
        <p:nvSpPr>
          <p:cNvPr name="TextBox 11" id="11"/>
          <p:cNvSpPr txBox="true"/>
          <p:nvPr/>
        </p:nvSpPr>
        <p:spPr>
          <a:xfrm rot="0">
            <a:off x="1028700" y="2312438"/>
            <a:ext cx="7647805" cy="4108514"/>
          </a:xfrm>
          <a:prstGeom prst="rect">
            <a:avLst/>
          </a:prstGeom>
        </p:spPr>
        <p:txBody>
          <a:bodyPr anchor="t" rtlCol="false" tIns="0" lIns="0" bIns="0" rIns="0">
            <a:spAutoFit/>
          </a:bodyPr>
          <a:lstStyle/>
          <a:p>
            <a:pPr algn="l">
              <a:lnSpc>
                <a:spcPts val="4009"/>
              </a:lnSpc>
            </a:pPr>
            <a:r>
              <a:rPr lang="en-US" sz="3299">
                <a:solidFill>
                  <a:srgbClr val="000000"/>
                </a:solidFill>
                <a:latin typeface="Calibri (MS)"/>
                <a:ea typeface="Calibri (MS)"/>
                <a:cs typeface="Calibri (MS)"/>
                <a:sym typeface="Calibri (MS)"/>
              </a:rPr>
              <a:t>Nhận xét:</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BLEU khá tốt trên tất cả các thí nghiệm với mức điểm cao nhất là 46.57</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Cho thấy được độ hiệu quả của phương pháp mà nhóm đề xuất với mức cải thiện từ 1-2 điểm BLEU</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Càng tăng bộ dữ liệu cho Pre-train, kết quả sau cùng sẽ càng tốt lên</a:t>
            </a:r>
          </a:p>
        </p:txBody>
      </p:sp>
      <p:sp>
        <p:nvSpPr>
          <p:cNvPr name="TextBox 12" id="12"/>
          <p:cNvSpPr txBox="true"/>
          <p:nvPr/>
        </p:nvSpPr>
        <p:spPr>
          <a:xfrm rot="0">
            <a:off x="491966" y="1308086"/>
            <a:ext cx="5891030" cy="602933"/>
          </a:xfrm>
          <a:prstGeom prst="rect">
            <a:avLst/>
          </a:prstGeom>
        </p:spPr>
        <p:txBody>
          <a:bodyPr anchor="t" rtlCol="false" tIns="0" lIns="0" bIns="0" rIns="0">
            <a:spAutoFit/>
          </a:bodyPr>
          <a:lstStyle/>
          <a:p>
            <a:pPr algn="ctr">
              <a:lnSpc>
                <a:spcPts val="4252"/>
              </a:lnSpc>
              <a:spcBef>
                <a:spcPct val="0"/>
              </a:spcBef>
            </a:pPr>
            <a:r>
              <a:rPr lang="en-US" b="true" sz="3499">
                <a:solidFill>
                  <a:srgbClr val="000000"/>
                </a:solidFill>
                <a:latin typeface="Calibri (MS) Bold"/>
                <a:ea typeface="Calibri (MS) Bold"/>
                <a:cs typeface="Calibri (MS) Bold"/>
                <a:sym typeface="Calibri (MS) Bold"/>
              </a:rPr>
              <a:t>Kết quả sau quá trình Finetune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8561656" y="2218107"/>
            <a:ext cx="9378926" cy="5310817"/>
          </a:xfrm>
          <a:custGeom>
            <a:avLst/>
            <a:gdLst/>
            <a:ahLst/>
            <a:cxnLst/>
            <a:rect r="r" b="b" t="t" l="l"/>
            <a:pathLst>
              <a:path h="5310817" w="9378926">
                <a:moveTo>
                  <a:pt x="0" y="0"/>
                </a:moveTo>
                <a:lnTo>
                  <a:pt x="9378926" y="0"/>
                </a:lnTo>
                <a:lnTo>
                  <a:pt x="9378926" y="5310816"/>
                </a:lnTo>
                <a:lnTo>
                  <a:pt x="0" y="5310816"/>
                </a:lnTo>
                <a:lnTo>
                  <a:pt x="0" y="0"/>
                </a:lnTo>
                <a:close/>
              </a:path>
            </a:pathLst>
          </a:custGeom>
          <a:blipFill>
            <a:blip r:embed="rId4"/>
            <a:stretch>
              <a:fillRect l="0" t="0" r="0" b="0"/>
            </a:stretch>
          </a:blipFill>
        </p:spPr>
      </p:sp>
      <p:sp>
        <p:nvSpPr>
          <p:cNvPr name="TextBox 9" id="9"/>
          <p:cNvSpPr txBox="true"/>
          <p:nvPr/>
        </p:nvSpPr>
        <p:spPr>
          <a:xfrm rot="0">
            <a:off x="1665618" y="468762"/>
            <a:ext cx="4474171"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ỨNG DỤNG Y TẾ - VLSP</a:t>
            </a:r>
          </a:p>
        </p:txBody>
      </p:sp>
      <p:sp>
        <p:nvSpPr>
          <p:cNvPr name="TextBox 10" id="10"/>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03</a:t>
            </a:r>
          </a:p>
        </p:txBody>
      </p:sp>
      <p:sp>
        <p:nvSpPr>
          <p:cNvPr name="TextBox 11" id="11"/>
          <p:cNvSpPr txBox="true"/>
          <p:nvPr/>
        </p:nvSpPr>
        <p:spPr>
          <a:xfrm rot="0">
            <a:off x="1028700" y="2494152"/>
            <a:ext cx="7647805" cy="3603689"/>
          </a:xfrm>
          <a:prstGeom prst="rect">
            <a:avLst/>
          </a:prstGeom>
        </p:spPr>
        <p:txBody>
          <a:bodyPr anchor="t" rtlCol="false" tIns="0" lIns="0" bIns="0" rIns="0">
            <a:spAutoFit/>
          </a:bodyPr>
          <a:lstStyle/>
          <a:p>
            <a:pPr algn="l">
              <a:lnSpc>
                <a:spcPts val="4009"/>
              </a:lnSpc>
            </a:pPr>
            <a:r>
              <a:rPr lang="en-US" sz="3299">
                <a:solidFill>
                  <a:srgbClr val="000000"/>
                </a:solidFill>
                <a:latin typeface="Calibri (MS)"/>
                <a:ea typeface="Calibri (MS)"/>
                <a:cs typeface="Calibri (MS)"/>
                <a:sym typeface="Calibri (MS)"/>
              </a:rPr>
              <a:t>Nhận xét:</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COMET tốt ở tất cả các thí nghiệm (loanh quanh 0.85-0.86)</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Điểm COMET chỉ nhích lên một chút hoặc không tăng → do tính theo ngữ nghĩa nên các câu dịch tốt hẳn thì có ngữ nghĩa tương đương nhau</a:t>
            </a:r>
          </a:p>
        </p:txBody>
      </p:sp>
      <p:sp>
        <p:nvSpPr>
          <p:cNvPr name="TextBox 12" id="12"/>
          <p:cNvSpPr txBox="true"/>
          <p:nvPr/>
        </p:nvSpPr>
        <p:spPr>
          <a:xfrm rot="0">
            <a:off x="491966" y="1308086"/>
            <a:ext cx="5891030" cy="602933"/>
          </a:xfrm>
          <a:prstGeom prst="rect">
            <a:avLst/>
          </a:prstGeom>
        </p:spPr>
        <p:txBody>
          <a:bodyPr anchor="t" rtlCol="false" tIns="0" lIns="0" bIns="0" rIns="0">
            <a:spAutoFit/>
          </a:bodyPr>
          <a:lstStyle/>
          <a:p>
            <a:pPr algn="ctr">
              <a:lnSpc>
                <a:spcPts val="4252"/>
              </a:lnSpc>
              <a:spcBef>
                <a:spcPct val="0"/>
              </a:spcBef>
            </a:pPr>
            <a:r>
              <a:rPr lang="en-US" b="true" sz="3499">
                <a:solidFill>
                  <a:srgbClr val="000000"/>
                </a:solidFill>
                <a:latin typeface="Calibri (MS) Bold"/>
                <a:ea typeface="Calibri (MS) Bold"/>
                <a:cs typeface="Calibri (MS) Bold"/>
                <a:sym typeface="Calibri (MS) Bold"/>
              </a:rPr>
              <a:t>Kết quả sau quá trình Finetune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Freeform 8" id="8"/>
          <p:cNvSpPr/>
          <p:nvPr/>
        </p:nvSpPr>
        <p:spPr>
          <a:xfrm flipH="false" flipV="false" rot="0">
            <a:off x="10208841" y="2072658"/>
            <a:ext cx="6844179" cy="5586821"/>
          </a:xfrm>
          <a:custGeom>
            <a:avLst/>
            <a:gdLst/>
            <a:ahLst/>
            <a:cxnLst/>
            <a:rect r="r" b="b" t="t" l="l"/>
            <a:pathLst>
              <a:path h="5586821" w="6844179">
                <a:moveTo>
                  <a:pt x="0" y="0"/>
                </a:moveTo>
                <a:lnTo>
                  <a:pt x="6844180" y="0"/>
                </a:lnTo>
                <a:lnTo>
                  <a:pt x="6844180" y="5586821"/>
                </a:lnTo>
                <a:lnTo>
                  <a:pt x="0" y="5586821"/>
                </a:lnTo>
                <a:lnTo>
                  <a:pt x="0" y="0"/>
                </a:lnTo>
                <a:close/>
              </a:path>
            </a:pathLst>
          </a:custGeom>
          <a:blipFill>
            <a:blip r:embed="rId4"/>
            <a:stretch>
              <a:fillRect l="0" t="0" r="0" b="0"/>
            </a:stretch>
          </a:blipFill>
        </p:spPr>
      </p:sp>
      <p:sp>
        <p:nvSpPr>
          <p:cNvPr name="TextBox 9" id="9"/>
          <p:cNvSpPr txBox="true"/>
          <p:nvPr/>
        </p:nvSpPr>
        <p:spPr>
          <a:xfrm rot="0">
            <a:off x="1665618" y="468762"/>
            <a:ext cx="4474171"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ỨNG DỤNG Y TẾ - VLSP</a:t>
            </a:r>
          </a:p>
        </p:txBody>
      </p:sp>
      <p:sp>
        <p:nvSpPr>
          <p:cNvPr name="TextBox 10" id="10"/>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03</a:t>
            </a:r>
          </a:p>
        </p:txBody>
      </p:sp>
      <p:sp>
        <p:nvSpPr>
          <p:cNvPr name="TextBox 11" id="11"/>
          <p:cNvSpPr txBox="true"/>
          <p:nvPr/>
        </p:nvSpPr>
        <p:spPr>
          <a:xfrm rot="0">
            <a:off x="491966" y="1308086"/>
            <a:ext cx="5891030" cy="602933"/>
          </a:xfrm>
          <a:prstGeom prst="rect">
            <a:avLst/>
          </a:prstGeom>
        </p:spPr>
        <p:txBody>
          <a:bodyPr anchor="t" rtlCol="false" tIns="0" lIns="0" bIns="0" rIns="0">
            <a:spAutoFit/>
          </a:bodyPr>
          <a:lstStyle/>
          <a:p>
            <a:pPr algn="ctr">
              <a:lnSpc>
                <a:spcPts val="4252"/>
              </a:lnSpc>
              <a:spcBef>
                <a:spcPct val="0"/>
              </a:spcBef>
            </a:pPr>
            <a:r>
              <a:rPr lang="en-US" b="true" sz="3499">
                <a:solidFill>
                  <a:srgbClr val="000000"/>
                </a:solidFill>
                <a:latin typeface="Calibri (MS) Bold"/>
                <a:ea typeface="Calibri (MS) Bold"/>
                <a:cs typeface="Calibri (MS) Bold"/>
                <a:sym typeface="Calibri (MS) Bold"/>
              </a:rPr>
              <a:t>Kết quả sau quá trình Finetune</a:t>
            </a:r>
          </a:p>
        </p:txBody>
      </p:sp>
      <p:sp>
        <p:nvSpPr>
          <p:cNvPr name="TextBox 12" id="12"/>
          <p:cNvSpPr txBox="true"/>
          <p:nvPr/>
        </p:nvSpPr>
        <p:spPr>
          <a:xfrm rot="0">
            <a:off x="1156324" y="2773712"/>
            <a:ext cx="7647805" cy="4108514"/>
          </a:xfrm>
          <a:prstGeom prst="rect">
            <a:avLst/>
          </a:prstGeom>
        </p:spPr>
        <p:txBody>
          <a:bodyPr anchor="t" rtlCol="false" tIns="0" lIns="0" bIns="0" rIns="0">
            <a:spAutoFit/>
          </a:bodyPr>
          <a:lstStyle/>
          <a:p>
            <a:pPr algn="l">
              <a:lnSpc>
                <a:spcPts val="4009"/>
              </a:lnSpc>
            </a:pPr>
            <a:r>
              <a:rPr lang="en-US" sz="3299">
                <a:solidFill>
                  <a:srgbClr val="000000"/>
                </a:solidFill>
                <a:latin typeface="Calibri (MS)"/>
                <a:ea typeface="Calibri (MS)"/>
                <a:cs typeface="Calibri (MS)"/>
                <a:sym typeface="Calibri (MS)"/>
              </a:rPr>
              <a:t>Nhận xét:</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Chất lượng dịch sau finetune vượt trội hơn hẳn so với trước finetune</a:t>
            </a:r>
          </a:p>
          <a:p>
            <a:pPr algn="l" marL="712465" indent="-356233" lvl="1">
              <a:lnSpc>
                <a:spcPts val="4009"/>
              </a:lnSpc>
              <a:buFont typeface="Arial"/>
              <a:buChar char="•"/>
            </a:pPr>
            <a:r>
              <a:rPr lang="en-US" sz="3299">
                <a:solidFill>
                  <a:srgbClr val="000000"/>
                </a:solidFill>
                <a:latin typeface="Calibri (MS)"/>
                <a:ea typeface="Calibri (MS)"/>
                <a:cs typeface="Calibri (MS)"/>
                <a:sym typeface="Calibri (MS)"/>
              </a:rPr>
              <a:t>Câu văn sử dụng thuật ngữ Y khoa chuẩn, sát với ngữ cảnh lâm sàng</a:t>
            </a:r>
          </a:p>
          <a:p>
            <a:pPr algn="l">
              <a:lnSpc>
                <a:spcPts val="4009"/>
              </a:lnSpc>
            </a:pPr>
            <a:r>
              <a:rPr lang="en-US" sz="3299">
                <a:solidFill>
                  <a:srgbClr val="000000"/>
                </a:solidFill>
                <a:latin typeface="Calibri (MS)"/>
                <a:ea typeface="Calibri (MS)"/>
                <a:cs typeface="Calibri (MS)"/>
                <a:sym typeface="Calibri (MS)"/>
              </a:rPr>
              <a:t>→ Finetune giúp mô hình học được thêm ngữ nghĩa về mặt y khoa mà Baseline không có được.</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sp>
        <p:nvSpPr>
          <p:cNvPr name="Freeform 6" id="6"/>
          <p:cNvSpPr/>
          <p:nvPr/>
        </p:nvSpPr>
        <p:spPr>
          <a:xfrm flipH="false" flipV="false" rot="0">
            <a:off x="9509760" y="4181092"/>
            <a:ext cx="5454967" cy="2974658"/>
          </a:xfrm>
          <a:custGeom>
            <a:avLst/>
            <a:gdLst/>
            <a:ahLst/>
            <a:cxnLst/>
            <a:rect r="r" b="b" t="t" l="l"/>
            <a:pathLst>
              <a:path h="2974658" w="5454967">
                <a:moveTo>
                  <a:pt x="0" y="0"/>
                </a:moveTo>
                <a:lnTo>
                  <a:pt x="5454967" y="0"/>
                </a:lnTo>
                <a:lnTo>
                  <a:pt x="5454967" y="2974658"/>
                </a:lnTo>
                <a:lnTo>
                  <a:pt x="0" y="29746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1070812" y="5124450"/>
            <a:ext cx="3548062" cy="933450"/>
          </a:xfrm>
          <a:prstGeom prst="rect">
            <a:avLst/>
          </a:prstGeom>
        </p:spPr>
        <p:txBody>
          <a:bodyPr anchor="t" rtlCol="false" tIns="0" lIns="0" bIns="0" rIns="0">
            <a:spAutoFit/>
          </a:bodyPr>
          <a:lstStyle/>
          <a:p>
            <a:pPr algn="l">
              <a:lnSpc>
                <a:spcPts val="6480"/>
              </a:lnSpc>
            </a:pPr>
            <a:r>
              <a:rPr lang="en-US" sz="5400" b="true">
                <a:solidFill>
                  <a:srgbClr val="FFFFFF"/>
                </a:solidFill>
                <a:latin typeface="Calibri (MS) Bold"/>
                <a:ea typeface="Calibri (MS) Bold"/>
                <a:cs typeface="Calibri (MS) Bold"/>
                <a:sym typeface="Calibri (MS) Bold"/>
              </a:rPr>
              <a:t>Kết luận</a:t>
            </a:r>
          </a:p>
        </p:txBody>
      </p:sp>
      <p:sp>
        <p:nvSpPr>
          <p:cNvPr name="TextBox 8" id="8"/>
          <p:cNvSpPr txBox="true"/>
          <p:nvPr/>
        </p:nvSpPr>
        <p:spPr>
          <a:xfrm rot="0">
            <a:off x="11639931" y="2268790"/>
            <a:ext cx="1195388" cy="1587500"/>
          </a:xfrm>
          <a:prstGeom prst="rect">
            <a:avLst/>
          </a:prstGeom>
        </p:spPr>
        <p:txBody>
          <a:bodyPr anchor="t" rtlCol="false" tIns="0" lIns="0" bIns="0" rIns="0">
            <a:spAutoFit/>
          </a:bodyPr>
          <a:lstStyle/>
          <a:p>
            <a:pPr algn="l">
              <a:lnSpc>
                <a:spcPts val="10800"/>
              </a:lnSpc>
            </a:pPr>
            <a:r>
              <a:rPr lang="en-US" sz="9000">
                <a:solidFill>
                  <a:srgbClr val="002C6B"/>
                </a:solidFill>
                <a:latin typeface="Calibri (MS)"/>
                <a:ea typeface="Calibri (MS)"/>
                <a:cs typeface="Calibri (MS)"/>
                <a:sym typeface="Calibri (MS)"/>
              </a:rPr>
              <a:t>04</a:t>
            </a:r>
          </a:p>
        </p:txBody>
      </p:sp>
      <p:sp>
        <p:nvSpPr>
          <p:cNvPr name="Freeform 9" id="9"/>
          <p:cNvSpPr/>
          <p:nvPr/>
        </p:nvSpPr>
        <p:spPr>
          <a:xfrm flipH="false" flipV="false" rot="0">
            <a:off x="4073842" y="4313871"/>
            <a:ext cx="3143250" cy="2267902"/>
          </a:xfrm>
          <a:custGeom>
            <a:avLst/>
            <a:gdLst/>
            <a:ahLst/>
            <a:cxnLst/>
            <a:rect r="r" b="b" t="t" l="l"/>
            <a:pathLst>
              <a:path h="2267902" w="3143250">
                <a:moveTo>
                  <a:pt x="0" y="0"/>
                </a:moveTo>
                <a:lnTo>
                  <a:pt x="3143251" y="0"/>
                </a:lnTo>
                <a:lnTo>
                  <a:pt x="3143251" y="2267902"/>
                </a:lnTo>
                <a:lnTo>
                  <a:pt x="0" y="22679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4066984" y="1975294"/>
            <a:ext cx="864489" cy="1177290"/>
          </a:xfrm>
          <a:custGeom>
            <a:avLst/>
            <a:gdLst/>
            <a:ahLst/>
            <a:cxnLst/>
            <a:rect r="r" b="b" t="t" l="l"/>
            <a:pathLst>
              <a:path h="1177290" w="864489">
                <a:moveTo>
                  <a:pt x="0" y="0"/>
                </a:moveTo>
                <a:lnTo>
                  <a:pt x="864490" y="0"/>
                </a:lnTo>
                <a:lnTo>
                  <a:pt x="864490" y="1177290"/>
                </a:lnTo>
                <a:lnTo>
                  <a:pt x="0" y="11772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5157216" y="3664590"/>
            <a:ext cx="197168" cy="224790"/>
            <a:chOff x="0" y="0"/>
            <a:chExt cx="262890" cy="299720"/>
          </a:xfrm>
        </p:grpSpPr>
        <p:sp>
          <p:nvSpPr>
            <p:cNvPr name="Freeform 12" id="12"/>
            <p:cNvSpPr/>
            <p:nvPr/>
          </p:nvSpPr>
          <p:spPr>
            <a:xfrm flipH="false" flipV="false" rot="0">
              <a:off x="0" y="0"/>
              <a:ext cx="262128" cy="298577"/>
            </a:xfrm>
            <a:custGeom>
              <a:avLst/>
              <a:gdLst/>
              <a:ahLst/>
              <a:cxnLst/>
              <a:rect r="r" b="b" t="t" l="l"/>
              <a:pathLst>
                <a:path h="298577" w="262128">
                  <a:moveTo>
                    <a:pt x="262128" y="0"/>
                  </a:moveTo>
                  <a:lnTo>
                    <a:pt x="0" y="0"/>
                  </a:lnTo>
                  <a:lnTo>
                    <a:pt x="0" y="298577"/>
                  </a:lnTo>
                  <a:lnTo>
                    <a:pt x="262128" y="298577"/>
                  </a:lnTo>
                  <a:lnTo>
                    <a:pt x="262128" y="0"/>
                  </a:lnTo>
                  <a:close/>
                </a:path>
              </a:pathLst>
            </a:custGeom>
            <a:solidFill>
              <a:srgbClr val="EC7C30"/>
            </a:solidFill>
            <a:ln w="12700">
              <a:solidFill>
                <a:srgbClr val="000000"/>
              </a:solidFill>
            </a:ln>
          </p:spPr>
        </p:sp>
      </p:grpSp>
      <p:grpSp>
        <p:nvGrpSpPr>
          <p:cNvPr name="Group 13" id="13"/>
          <p:cNvGrpSpPr/>
          <p:nvPr/>
        </p:nvGrpSpPr>
        <p:grpSpPr>
          <a:xfrm rot="0">
            <a:off x="5282945" y="3691828"/>
            <a:ext cx="41910" cy="169545"/>
            <a:chOff x="0" y="0"/>
            <a:chExt cx="55880" cy="226060"/>
          </a:xfrm>
        </p:grpSpPr>
        <p:sp>
          <p:nvSpPr>
            <p:cNvPr name="Freeform 14" id="14"/>
            <p:cNvSpPr/>
            <p:nvPr/>
          </p:nvSpPr>
          <p:spPr>
            <a:xfrm flipH="false" flipV="false" rot="0">
              <a:off x="0" y="0"/>
              <a:ext cx="54737" cy="225425"/>
            </a:xfrm>
            <a:custGeom>
              <a:avLst/>
              <a:gdLst/>
              <a:ahLst/>
              <a:cxnLst/>
              <a:rect r="r" b="b" t="t" l="l"/>
              <a:pathLst>
                <a:path h="225425" w="54737">
                  <a:moveTo>
                    <a:pt x="54737" y="0"/>
                  </a:moveTo>
                  <a:lnTo>
                    <a:pt x="0" y="0"/>
                  </a:lnTo>
                  <a:lnTo>
                    <a:pt x="0" y="225425"/>
                  </a:lnTo>
                  <a:lnTo>
                    <a:pt x="54737" y="225425"/>
                  </a:lnTo>
                  <a:lnTo>
                    <a:pt x="54737" y="0"/>
                  </a:lnTo>
                  <a:close/>
                </a:path>
              </a:pathLst>
            </a:custGeom>
            <a:solidFill>
              <a:srgbClr val="FFFFFF"/>
            </a:solidFill>
            <a:ln w="12700">
              <a:solidFill>
                <a:srgbClr val="000000"/>
              </a:solidFill>
            </a:ln>
          </p:spPr>
        </p:sp>
      </p:grpSp>
      <p:grpSp>
        <p:nvGrpSpPr>
          <p:cNvPr name="Group 15" id="15"/>
          <p:cNvGrpSpPr/>
          <p:nvPr/>
        </p:nvGrpSpPr>
        <p:grpSpPr>
          <a:xfrm rot="0">
            <a:off x="4398453" y="3621213"/>
            <a:ext cx="782001" cy="311467"/>
            <a:chOff x="0" y="0"/>
            <a:chExt cx="1042668" cy="415290"/>
          </a:xfrm>
        </p:grpSpPr>
        <p:sp>
          <p:nvSpPr>
            <p:cNvPr name="Freeform 16" id="16"/>
            <p:cNvSpPr/>
            <p:nvPr/>
          </p:nvSpPr>
          <p:spPr>
            <a:xfrm flipH="false" flipV="false" rot="0">
              <a:off x="0" y="0"/>
              <a:ext cx="1042162" cy="414274"/>
            </a:xfrm>
            <a:custGeom>
              <a:avLst/>
              <a:gdLst/>
              <a:ahLst/>
              <a:cxnLst/>
              <a:rect r="r" b="b" t="t" l="l"/>
              <a:pathLst>
                <a:path h="414274" w="1042162">
                  <a:moveTo>
                    <a:pt x="1042162" y="0"/>
                  </a:moveTo>
                  <a:lnTo>
                    <a:pt x="206502" y="0"/>
                  </a:lnTo>
                  <a:lnTo>
                    <a:pt x="125984" y="16129"/>
                  </a:lnTo>
                  <a:lnTo>
                    <a:pt x="60325" y="60198"/>
                  </a:lnTo>
                  <a:lnTo>
                    <a:pt x="16129" y="125857"/>
                  </a:lnTo>
                  <a:lnTo>
                    <a:pt x="0" y="206248"/>
                  </a:lnTo>
                  <a:lnTo>
                    <a:pt x="16129" y="287020"/>
                  </a:lnTo>
                  <a:lnTo>
                    <a:pt x="60325" y="353187"/>
                  </a:lnTo>
                  <a:lnTo>
                    <a:pt x="125984" y="397891"/>
                  </a:lnTo>
                  <a:lnTo>
                    <a:pt x="206502" y="414274"/>
                  </a:lnTo>
                  <a:lnTo>
                    <a:pt x="1042162" y="414274"/>
                  </a:lnTo>
                  <a:lnTo>
                    <a:pt x="1042162" y="0"/>
                  </a:lnTo>
                  <a:close/>
                </a:path>
              </a:pathLst>
            </a:custGeom>
            <a:solidFill>
              <a:srgbClr val="095B6E"/>
            </a:solidFill>
            <a:ln w="12700">
              <a:solidFill>
                <a:srgbClr val="000000"/>
              </a:solidFill>
            </a:ln>
          </p:spPr>
        </p:sp>
      </p:grpSp>
      <p:grpSp>
        <p:nvGrpSpPr>
          <p:cNvPr name="Group 17" id="17"/>
          <p:cNvGrpSpPr/>
          <p:nvPr/>
        </p:nvGrpSpPr>
        <p:grpSpPr>
          <a:xfrm rot="0">
            <a:off x="4441696" y="3664647"/>
            <a:ext cx="223838" cy="223838"/>
            <a:chOff x="0" y="0"/>
            <a:chExt cx="298450" cy="298450"/>
          </a:xfrm>
        </p:grpSpPr>
        <p:sp>
          <p:nvSpPr>
            <p:cNvPr name="Freeform 18" id="18"/>
            <p:cNvSpPr/>
            <p:nvPr/>
          </p:nvSpPr>
          <p:spPr>
            <a:xfrm flipH="false" flipV="false" rot="0">
              <a:off x="0" y="0"/>
              <a:ext cx="298450" cy="298450"/>
            </a:xfrm>
            <a:custGeom>
              <a:avLst/>
              <a:gdLst/>
              <a:ahLst/>
              <a:cxnLst/>
              <a:rect r="r" b="b" t="t" l="l"/>
              <a:pathLst>
                <a:path h="298450" w="298450">
                  <a:moveTo>
                    <a:pt x="0" y="0"/>
                  </a:moveTo>
                  <a:lnTo>
                    <a:pt x="298450" y="0"/>
                  </a:lnTo>
                  <a:lnTo>
                    <a:pt x="298450" y="298450"/>
                  </a:lnTo>
                  <a:lnTo>
                    <a:pt x="0" y="298450"/>
                  </a:lnTo>
                  <a:lnTo>
                    <a:pt x="0" y="0"/>
                  </a:lnTo>
                  <a:close/>
                </a:path>
              </a:pathLst>
            </a:custGeom>
            <a:blipFill>
              <a:blip r:embed="rId9"/>
              <a:stretch>
                <a:fillRect l="0" t="0" r="0" b="0"/>
              </a:stretch>
            </a:blipFill>
          </p:spPr>
        </p:sp>
      </p:grpSp>
      <p:grpSp>
        <p:nvGrpSpPr>
          <p:cNvPr name="Group 19" id="19"/>
          <p:cNvGrpSpPr/>
          <p:nvPr/>
        </p:nvGrpSpPr>
        <p:grpSpPr>
          <a:xfrm rot="0">
            <a:off x="5801798" y="3906847"/>
            <a:ext cx="759143" cy="102870"/>
            <a:chOff x="0" y="0"/>
            <a:chExt cx="1012190" cy="137160"/>
          </a:xfrm>
        </p:grpSpPr>
        <p:sp>
          <p:nvSpPr>
            <p:cNvPr name="Freeform 20" id="20"/>
            <p:cNvSpPr/>
            <p:nvPr/>
          </p:nvSpPr>
          <p:spPr>
            <a:xfrm flipH="false" flipV="false" rot="0">
              <a:off x="0" y="0"/>
              <a:ext cx="1012063" cy="136779"/>
            </a:xfrm>
            <a:custGeom>
              <a:avLst/>
              <a:gdLst/>
              <a:ahLst/>
              <a:cxnLst/>
              <a:rect r="r" b="b" t="t" l="l"/>
              <a:pathLst>
                <a:path h="136779" w="1012063">
                  <a:moveTo>
                    <a:pt x="0" y="136779"/>
                  </a:moveTo>
                  <a:lnTo>
                    <a:pt x="1012063" y="136779"/>
                  </a:lnTo>
                  <a:lnTo>
                    <a:pt x="1012063" y="0"/>
                  </a:lnTo>
                  <a:lnTo>
                    <a:pt x="0" y="0"/>
                  </a:lnTo>
                  <a:lnTo>
                    <a:pt x="0" y="136779"/>
                  </a:lnTo>
                  <a:close/>
                </a:path>
              </a:pathLst>
            </a:custGeom>
            <a:solidFill>
              <a:srgbClr val="EC7C30"/>
            </a:solidFill>
            <a:ln w="12700">
              <a:solidFill>
                <a:srgbClr val="000000"/>
              </a:solidFill>
            </a:ln>
          </p:spPr>
        </p:sp>
      </p:grpSp>
      <p:grpSp>
        <p:nvGrpSpPr>
          <p:cNvPr name="Group 21" id="21"/>
          <p:cNvGrpSpPr/>
          <p:nvPr/>
        </p:nvGrpSpPr>
        <p:grpSpPr>
          <a:xfrm rot="0">
            <a:off x="5717476" y="3906847"/>
            <a:ext cx="84772" cy="102870"/>
            <a:chOff x="0" y="0"/>
            <a:chExt cx="113030" cy="137160"/>
          </a:xfrm>
        </p:grpSpPr>
        <p:sp>
          <p:nvSpPr>
            <p:cNvPr name="Freeform 22" id="22"/>
            <p:cNvSpPr/>
            <p:nvPr/>
          </p:nvSpPr>
          <p:spPr>
            <a:xfrm flipH="false" flipV="false" rot="0">
              <a:off x="0" y="0"/>
              <a:ext cx="112395" cy="136779"/>
            </a:xfrm>
            <a:custGeom>
              <a:avLst/>
              <a:gdLst/>
              <a:ahLst/>
              <a:cxnLst/>
              <a:rect r="r" b="b" t="t" l="l"/>
              <a:pathLst>
                <a:path h="136779" w="112395">
                  <a:moveTo>
                    <a:pt x="112395" y="0"/>
                  </a:moveTo>
                  <a:lnTo>
                    <a:pt x="0" y="0"/>
                  </a:lnTo>
                  <a:lnTo>
                    <a:pt x="0" y="136779"/>
                  </a:lnTo>
                  <a:lnTo>
                    <a:pt x="112395" y="136779"/>
                  </a:lnTo>
                  <a:lnTo>
                    <a:pt x="112395" y="0"/>
                  </a:lnTo>
                  <a:close/>
                </a:path>
              </a:pathLst>
            </a:custGeom>
            <a:solidFill>
              <a:srgbClr val="FF544F"/>
            </a:solidFill>
            <a:ln w="12700">
              <a:solidFill>
                <a:srgbClr val="000000"/>
              </a:solidFill>
            </a:ln>
          </p:spPr>
        </p:sp>
      </p:grpSp>
      <p:sp>
        <p:nvSpPr>
          <p:cNvPr name="Freeform 23" id="23"/>
          <p:cNvSpPr/>
          <p:nvPr/>
        </p:nvSpPr>
        <p:spPr>
          <a:xfrm flipH="false" flipV="false" rot="0">
            <a:off x="6223304" y="3344416"/>
            <a:ext cx="669607" cy="665798"/>
          </a:xfrm>
          <a:custGeom>
            <a:avLst/>
            <a:gdLst/>
            <a:ahLst/>
            <a:cxnLst/>
            <a:rect r="r" b="b" t="t" l="l"/>
            <a:pathLst>
              <a:path h="665798" w="669607">
                <a:moveTo>
                  <a:pt x="0" y="0"/>
                </a:moveTo>
                <a:lnTo>
                  <a:pt x="669607" y="0"/>
                </a:lnTo>
                <a:lnTo>
                  <a:pt x="669607" y="665798"/>
                </a:lnTo>
                <a:lnTo>
                  <a:pt x="0" y="6657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6231826" y="3346893"/>
            <a:ext cx="658176" cy="661035"/>
          </a:xfrm>
          <a:custGeom>
            <a:avLst/>
            <a:gdLst/>
            <a:ahLst/>
            <a:cxnLst/>
            <a:rect r="r" b="b" t="t" l="l"/>
            <a:pathLst>
              <a:path h="661035" w="658176">
                <a:moveTo>
                  <a:pt x="0" y="0"/>
                </a:moveTo>
                <a:lnTo>
                  <a:pt x="658176" y="0"/>
                </a:lnTo>
                <a:lnTo>
                  <a:pt x="658176" y="661035"/>
                </a:lnTo>
                <a:lnTo>
                  <a:pt x="0" y="66103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25" id="25"/>
          <p:cNvGrpSpPr/>
          <p:nvPr/>
        </p:nvGrpSpPr>
        <p:grpSpPr>
          <a:xfrm rot="0">
            <a:off x="6330125" y="3445191"/>
            <a:ext cx="461962" cy="461962"/>
            <a:chOff x="0" y="0"/>
            <a:chExt cx="615950" cy="615950"/>
          </a:xfrm>
        </p:grpSpPr>
        <p:sp>
          <p:nvSpPr>
            <p:cNvPr name="Freeform 26" id="26"/>
            <p:cNvSpPr/>
            <p:nvPr/>
          </p:nvSpPr>
          <p:spPr>
            <a:xfrm flipH="false" flipV="false" rot="0">
              <a:off x="0" y="0"/>
              <a:ext cx="615442" cy="615442"/>
            </a:xfrm>
            <a:custGeom>
              <a:avLst/>
              <a:gdLst/>
              <a:ahLst/>
              <a:cxnLst/>
              <a:rect r="r" b="b" t="t" l="l"/>
              <a:pathLst>
                <a:path h="615442" w="615442">
                  <a:moveTo>
                    <a:pt x="306832" y="0"/>
                  </a:moveTo>
                  <a:lnTo>
                    <a:pt x="210185" y="15748"/>
                  </a:lnTo>
                  <a:lnTo>
                    <a:pt x="125984" y="59436"/>
                  </a:lnTo>
                  <a:lnTo>
                    <a:pt x="59436" y="125984"/>
                  </a:lnTo>
                  <a:lnTo>
                    <a:pt x="15748" y="210185"/>
                  </a:lnTo>
                  <a:lnTo>
                    <a:pt x="0" y="306832"/>
                  </a:lnTo>
                  <a:lnTo>
                    <a:pt x="15748" y="404368"/>
                  </a:lnTo>
                  <a:lnTo>
                    <a:pt x="59436" y="489077"/>
                  </a:lnTo>
                  <a:lnTo>
                    <a:pt x="125984" y="555879"/>
                  </a:lnTo>
                  <a:lnTo>
                    <a:pt x="210185" y="599694"/>
                  </a:lnTo>
                  <a:lnTo>
                    <a:pt x="306832" y="615442"/>
                  </a:lnTo>
                  <a:lnTo>
                    <a:pt x="404368" y="599694"/>
                  </a:lnTo>
                  <a:lnTo>
                    <a:pt x="489077" y="555879"/>
                  </a:lnTo>
                  <a:lnTo>
                    <a:pt x="555879" y="489077"/>
                  </a:lnTo>
                  <a:lnTo>
                    <a:pt x="599694" y="404368"/>
                  </a:lnTo>
                  <a:lnTo>
                    <a:pt x="615442" y="306832"/>
                  </a:lnTo>
                  <a:lnTo>
                    <a:pt x="599694" y="210185"/>
                  </a:lnTo>
                  <a:lnTo>
                    <a:pt x="555879" y="125984"/>
                  </a:lnTo>
                  <a:lnTo>
                    <a:pt x="489077" y="59436"/>
                  </a:lnTo>
                  <a:lnTo>
                    <a:pt x="404368" y="15748"/>
                  </a:lnTo>
                  <a:lnTo>
                    <a:pt x="306832" y="0"/>
                  </a:lnTo>
                  <a:close/>
                </a:path>
              </a:pathLst>
            </a:custGeom>
            <a:solidFill>
              <a:srgbClr val="ECECEC"/>
            </a:solidFill>
            <a:ln w="12700">
              <a:solidFill>
                <a:srgbClr val="000000"/>
              </a:solidFill>
            </a:ln>
          </p:spPr>
        </p:sp>
      </p:grpSp>
      <p:grpSp>
        <p:nvGrpSpPr>
          <p:cNvPr name="Group 27" id="27"/>
          <p:cNvGrpSpPr/>
          <p:nvPr/>
        </p:nvGrpSpPr>
        <p:grpSpPr>
          <a:xfrm rot="0">
            <a:off x="6426136" y="3541203"/>
            <a:ext cx="269557" cy="269558"/>
            <a:chOff x="0" y="0"/>
            <a:chExt cx="359410" cy="359410"/>
          </a:xfrm>
        </p:grpSpPr>
        <p:sp>
          <p:nvSpPr>
            <p:cNvPr name="Freeform 28" id="28"/>
            <p:cNvSpPr/>
            <p:nvPr/>
          </p:nvSpPr>
          <p:spPr>
            <a:xfrm flipH="false" flipV="false" rot="0">
              <a:off x="0" y="0"/>
              <a:ext cx="359410" cy="359410"/>
            </a:xfrm>
            <a:custGeom>
              <a:avLst/>
              <a:gdLst/>
              <a:ahLst/>
              <a:cxnLst/>
              <a:rect r="r" b="b" t="t" l="l"/>
              <a:pathLst>
                <a:path h="359410" w="359410">
                  <a:moveTo>
                    <a:pt x="0" y="0"/>
                  </a:moveTo>
                  <a:lnTo>
                    <a:pt x="359410" y="0"/>
                  </a:lnTo>
                  <a:lnTo>
                    <a:pt x="359410" y="359410"/>
                  </a:lnTo>
                  <a:lnTo>
                    <a:pt x="0" y="359410"/>
                  </a:lnTo>
                  <a:lnTo>
                    <a:pt x="0" y="0"/>
                  </a:lnTo>
                  <a:close/>
                </a:path>
              </a:pathLst>
            </a:custGeom>
            <a:blipFill>
              <a:blip r:embed="rId14"/>
              <a:stretch>
                <a:fillRect l="0" t="0" r="0" b="0"/>
              </a:stretch>
            </a:blipFill>
          </p:spPr>
        </p:sp>
      </p:grpSp>
      <p:grpSp>
        <p:nvGrpSpPr>
          <p:cNvPr name="Group 29" id="29"/>
          <p:cNvGrpSpPr/>
          <p:nvPr/>
        </p:nvGrpSpPr>
        <p:grpSpPr>
          <a:xfrm rot="0">
            <a:off x="4837174" y="6890002"/>
            <a:ext cx="164592" cy="166877"/>
            <a:chOff x="0" y="0"/>
            <a:chExt cx="219456" cy="222502"/>
          </a:xfrm>
        </p:grpSpPr>
        <p:sp>
          <p:nvSpPr>
            <p:cNvPr name="Freeform 30" id="30"/>
            <p:cNvSpPr/>
            <p:nvPr/>
          </p:nvSpPr>
          <p:spPr>
            <a:xfrm flipH="false" flipV="false" rot="0">
              <a:off x="0" y="0"/>
              <a:ext cx="219456" cy="222504"/>
            </a:xfrm>
            <a:custGeom>
              <a:avLst/>
              <a:gdLst/>
              <a:ahLst/>
              <a:cxnLst/>
              <a:rect r="r" b="b" t="t" l="l"/>
              <a:pathLst>
                <a:path h="222504" w="219456">
                  <a:moveTo>
                    <a:pt x="0" y="0"/>
                  </a:moveTo>
                  <a:lnTo>
                    <a:pt x="219456" y="0"/>
                  </a:lnTo>
                  <a:lnTo>
                    <a:pt x="219456" y="222504"/>
                  </a:lnTo>
                  <a:lnTo>
                    <a:pt x="0" y="222504"/>
                  </a:lnTo>
                  <a:lnTo>
                    <a:pt x="0" y="0"/>
                  </a:lnTo>
                  <a:close/>
                </a:path>
              </a:pathLst>
            </a:custGeom>
            <a:blipFill>
              <a:blip r:embed="rId15"/>
              <a:stretch>
                <a:fillRect l="0" t="0" r="0" b="-2918"/>
              </a:stretch>
            </a:blipFill>
          </p:spPr>
        </p:sp>
      </p:grpSp>
      <p:grpSp>
        <p:nvGrpSpPr>
          <p:cNvPr name="Group 31" id="31"/>
          <p:cNvGrpSpPr/>
          <p:nvPr/>
        </p:nvGrpSpPr>
        <p:grpSpPr>
          <a:xfrm rot="0">
            <a:off x="5010910" y="6890135"/>
            <a:ext cx="1209675" cy="167640"/>
            <a:chOff x="0" y="0"/>
            <a:chExt cx="1612900" cy="223520"/>
          </a:xfrm>
        </p:grpSpPr>
        <p:sp>
          <p:nvSpPr>
            <p:cNvPr name="Freeform 32" id="32"/>
            <p:cNvSpPr/>
            <p:nvPr/>
          </p:nvSpPr>
          <p:spPr>
            <a:xfrm flipH="false" flipV="false" rot="0">
              <a:off x="0" y="0"/>
              <a:ext cx="1612392" cy="222377"/>
            </a:xfrm>
            <a:custGeom>
              <a:avLst/>
              <a:gdLst/>
              <a:ahLst/>
              <a:cxnLst/>
              <a:rect r="r" b="b" t="t" l="l"/>
              <a:pathLst>
                <a:path h="222377" w="1612392">
                  <a:moveTo>
                    <a:pt x="1612392" y="0"/>
                  </a:moveTo>
                  <a:lnTo>
                    <a:pt x="0" y="0"/>
                  </a:lnTo>
                  <a:lnTo>
                    <a:pt x="0" y="222377"/>
                  </a:lnTo>
                  <a:lnTo>
                    <a:pt x="1612392" y="222377"/>
                  </a:lnTo>
                  <a:lnTo>
                    <a:pt x="1612392" y="0"/>
                  </a:lnTo>
                  <a:close/>
                </a:path>
              </a:pathLst>
            </a:custGeom>
            <a:solidFill>
              <a:srgbClr val="095B6E"/>
            </a:solidFill>
            <a:ln w="12700">
              <a:solidFill>
                <a:srgbClr val="000000"/>
              </a:solidFill>
            </a:ln>
          </p:spPr>
        </p:sp>
      </p:grpSp>
      <p:grpSp>
        <p:nvGrpSpPr>
          <p:cNvPr name="Group 33" id="33"/>
          <p:cNvGrpSpPr/>
          <p:nvPr/>
        </p:nvGrpSpPr>
        <p:grpSpPr>
          <a:xfrm rot="0">
            <a:off x="4919470" y="6890135"/>
            <a:ext cx="91440" cy="167640"/>
            <a:chOff x="0" y="0"/>
            <a:chExt cx="121920" cy="223520"/>
          </a:xfrm>
        </p:grpSpPr>
        <p:sp>
          <p:nvSpPr>
            <p:cNvPr name="Freeform 34" id="34"/>
            <p:cNvSpPr/>
            <p:nvPr/>
          </p:nvSpPr>
          <p:spPr>
            <a:xfrm flipH="false" flipV="false" rot="0">
              <a:off x="0" y="0"/>
              <a:ext cx="121793" cy="222377"/>
            </a:xfrm>
            <a:custGeom>
              <a:avLst/>
              <a:gdLst/>
              <a:ahLst/>
              <a:cxnLst/>
              <a:rect r="r" b="b" t="t" l="l"/>
              <a:pathLst>
                <a:path h="222377" w="121793">
                  <a:moveTo>
                    <a:pt x="121793" y="0"/>
                  </a:moveTo>
                  <a:lnTo>
                    <a:pt x="0" y="0"/>
                  </a:lnTo>
                  <a:lnTo>
                    <a:pt x="0" y="222377"/>
                  </a:lnTo>
                  <a:lnTo>
                    <a:pt x="121793" y="222377"/>
                  </a:lnTo>
                  <a:lnTo>
                    <a:pt x="121793" y="0"/>
                  </a:lnTo>
                  <a:close/>
                </a:path>
              </a:pathLst>
            </a:custGeom>
            <a:solidFill>
              <a:srgbClr val="00BCC3"/>
            </a:solidFill>
            <a:ln w="12700">
              <a:solidFill>
                <a:srgbClr val="000000"/>
              </a:solidFill>
            </a:ln>
          </p:spPr>
        </p:sp>
      </p:grpSp>
      <p:grpSp>
        <p:nvGrpSpPr>
          <p:cNvPr name="Group 35" id="35"/>
          <p:cNvGrpSpPr/>
          <p:nvPr/>
        </p:nvGrpSpPr>
        <p:grpSpPr>
          <a:xfrm rot="0">
            <a:off x="6220395" y="6890193"/>
            <a:ext cx="232982" cy="166688"/>
            <a:chOff x="0" y="0"/>
            <a:chExt cx="310642" cy="222250"/>
          </a:xfrm>
        </p:grpSpPr>
        <p:sp>
          <p:nvSpPr>
            <p:cNvPr name="Freeform 36" id="36"/>
            <p:cNvSpPr/>
            <p:nvPr/>
          </p:nvSpPr>
          <p:spPr>
            <a:xfrm flipH="false" flipV="false" rot="0">
              <a:off x="0" y="0"/>
              <a:ext cx="310642" cy="222250"/>
            </a:xfrm>
            <a:custGeom>
              <a:avLst/>
              <a:gdLst/>
              <a:ahLst/>
              <a:cxnLst/>
              <a:rect r="r" b="b" t="t" l="l"/>
              <a:pathLst>
                <a:path h="222250" w="310642">
                  <a:moveTo>
                    <a:pt x="0" y="0"/>
                  </a:moveTo>
                  <a:lnTo>
                    <a:pt x="310642" y="0"/>
                  </a:lnTo>
                  <a:lnTo>
                    <a:pt x="310642" y="222250"/>
                  </a:lnTo>
                  <a:lnTo>
                    <a:pt x="0" y="222250"/>
                  </a:lnTo>
                  <a:lnTo>
                    <a:pt x="0" y="0"/>
                  </a:lnTo>
                  <a:close/>
                </a:path>
              </a:pathLst>
            </a:custGeom>
            <a:blipFill>
              <a:blip r:embed="rId16"/>
              <a:stretch>
                <a:fillRect l="0" t="0" r="0" b="-460"/>
              </a:stretch>
            </a:blipFill>
          </p:spPr>
        </p:sp>
      </p:grpSp>
      <p:grpSp>
        <p:nvGrpSpPr>
          <p:cNvPr name="Group 37" id="37"/>
          <p:cNvGrpSpPr/>
          <p:nvPr/>
        </p:nvGrpSpPr>
        <p:grpSpPr>
          <a:xfrm rot="0">
            <a:off x="5251132" y="7591995"/>
            <a:ext cx="258128" cy="354139"/>
            <a:chOff x="0" y="0"/>
            <a:chExt cx="344170" cy="472186"/>
          </a:xfrm>
        </p:grpSpPr>
        <p:sp>
          <p:nvSpPr>
            <p:cNvPr name="Freeform 38" id="38"/>
            <p:cNvSpPr/>
            <p:nvPr/>
          </p:nvSpPr>
          <p:spPr>
            <a:xfrm flipH="false" flipV="false" rot="0">
              <a:off x="0" y="0"/>
              <a:ext cx="344170" cy="472186"/>
            </a:xfrm>
            <a:custGeom>
              <a:avLst/>
              <a:gdLst/>
              <a:ahLst/>
              <a:cxnLst/>
              <a:rect r="r" b="b" t="t" l="l"/>
              <a:pathLst>
                <a:path h="472186" w="344170">
                  <a:moveTo>
                    <a:pt x="0" y="0"/>
                  </a:moveTo>
                  <a:lnTo>
                    <a:pt x="344170" y="0"/>
                  </a:lnTo>
                  <a:lnTo>
                    <a:pt x="344170" y="472186"/>
                  </a:lnTo>
                  <a:lnTo>
                    <a:pt x="0" y="472186"/>
                  </a:lnTo>
                  <a:lnTo>
                    <a:pt x="0" y="0"/>
                  </a:lnTo>
                  <a:close/>
                </a:path>
              </a:pathLst>
            </a:custGeom>
            <a:blipFill>
              <a:blip r:embed="rId17"/>
              <a:stretch>
                <a:fillRect l="0" t="0" r="-796" b="0"/>
              </a:stretch>
            </a:blipFill>
          </p:spPr>
        </p:sp>
      </p:grpSp>
      <p:grpSp>
        <p:nvGrpSpPr>
          <p:cNvPr name="Group 39" id="39"/>
          <p:cNvGrpSpPr/>
          <p:nvPr/>
        </p:nvGrpSpPr>
        <p:grpSpPr>
          <a:xfrm rot="0">
            <a:off x="4256532" y="7623999"/>
            <a:ext cx="1230628" cy="290512"/>
            <a:chOff x="0" y="0"/>
            <a:chExt cx="1640838" cy="387350"/>
          </a:xfrm>
        </p:grpSpPr>
        <p:sp>
          <p:nvSpPr>
            <p:cNvPr name="Freeform 40" id="40"/>
            <p:cNvSpPr/>
            <p:nvPr/>
          </p:nvSpPr>
          <p:spPr>
            <a:xfrm flipH="false" flipV="false" rot="0">
              <a:off x="0" y="0"/>
              <a:ext cx="1640078" cy="386715"/>
            </a:xfrm>
            <a:custGeom>
              <a:avLst/>
              <a:gdLst/>
              <a:ahLst/>
              <a:cxnLst/>
              <a:rect r="r" b="b" t="t" l="l"/>
              <a:pathLst>
                <a:path h="386715" w="1640078">
                  <a:moveTo>
                    <a:pt x="1449832" y="0"/>
                  </a:moveTo>
                  <a:lnTo>
                    <a:pt x="189992" y="0"/>
                  </a:lnTo>
                  <a:lnTo>
                    <a:pt x="116205" y="14859"/>
                  </a:lnTo>
                  <a:lnTo>
                    <a:pt x="55880" y="55499"/>
                  </a:lnTo>
                  <a:lnTo>
                    <a:pt x="14986" y="115570"/>
                  </a:lnTo>
                  <a:lnTo>
                    <a:pt x="0" y="188976"/>
                  </a:lnTo>
                  <a:lnTo>
                    <a:pt x="0" y="197612"/>
                  </a:lnTo>
                  <a:lnTo>
                    <a:pt x="14986" y="271145"/>
                  </a:lnTo>
                  <a:lnTo>
                    <a:pt x="55880" y="331216"/>
                  </a:lnTo>
                  <a:lnTo>
                    <a:pt x="116332" y="371856"/>
                  </a:lnTo>
                  <a:lnTo>
                    <a:pt x="190119" y="386715"/>
                  </a:lnTo>
                  <a:lnTo>
                    <a:pt x="1449959" y="386715"/>
                  </a:lnTo>
                  <a:lnTo>
                    <a:pt x="1523746" y="371856"/>
                  </a:lnTo>
                  <a:lnTo>
                    <a:pt x="1584198" y="331216"/>
                  </a:lnTo>
                  <a:lnTo>
                    <a:pt x="1625092" y="271018"/>
                  </a:lnTo>
                  <a:lnTo>
                    <a:pt x="1640078" y="197485"/>
                  </a:lnTo>
                  <a:lnTo>
                    <a:pt x="1640078" y="188849"/>
                  </a:lnTo>
                  <a:lnTo>
                    <a:pt x="1624838" y="115570"/>
                  </a:lnTo>
                  <a:lnTo>
                    <a:pt x="1583944" y="55499"/>
                  </a:lnTo>
                  <a:lnTo>
                    <a:pt x="1523492" y="14859"/>
                  </a:lnTo>
                  <a:lnTo>
                    <a:pt x="1449832" y="0"/>
                  </a:lnTo>
                  <a:close/>
                </a:path>
              </a:pathLst>
            </a:custGeom>
            <a:solidFill>
              <a:srgbClr val="FF544F"/>
            </a:solidFill>
            <a:ln w="12700">
              <a:solidFill>
                <a:srgbClr val="000000"/>
              </a:solidFill>
            </a:ln>
          </p:spPr>
        </p:sp>
      </p:grpSp>
      <p:grpSp>
        <p:nvGrpSpPr>
          <p:cNvPr name="Group 41" id="41"/>
          <p:cNvGrpSpPr/>
          <p:nvPr/>
        </p:nvGrpSpPr>
        <p:grpSpPr>
          <a:xfrm rot="0">
            <a:off x="5607558" y="7591995"/>
            <a:ext cx="260412" cy="354139"/>
            <a:chOff x="0" y="0"/>
            <a:chExt cx="347216" cy="472186"/>
          </a:xfrm>
        </p:grpSpPr>
        <p:sp>
          <p:nvSpPr>
            <p:cNvPr name="Freeform 42" id="42"/>
            <p:cNvSpPr/>
            <p:nvPr/>
          </p:nvSpPr>
          <p:spPr>
            <a:xfrm flipH="false" flipV="false" rot="0">
              <a:off x="0" y="0"/>
              <a:ext cx="347218" cy="472186"/>
            </a:xfrm>
            <a:custGeom>
              <a:avLst/>
              <a:gdLst/>
              <a:ahLst/>
              <a:cxnLst/>
              <a:rect r="r" b="b" t="t" l="l"/>
              <a:pathLst>
                <a:path h="472186" w="347218">
                  <a:moveTo>
                    <a:pt x="0" y="0"/>
                  </a:moveTo>
                  <a:lnTo>
                    <a:pt x="347218" y="0"/>
                  </a:lnTo>
                  <a:lnTo>
                    <a:pt x="347218" y="472186"/>
                  </a:lnTo>
                  <a:lnTo>
                    <a:pt x="0" y="472186"/>
                  </a:lnTo>
                  <a:lnTo>
                    <a:pt x="0" y="0"/>
                  </a:lnTo>
                  <a:close/>
                </a:path>
              </a:pathLst>
            </a:custGeom>
            <a:blipFill>
              <a:blip r:embed="rId18"/>
              <a:stretch>
                <a:fillRect l="0" t="0" r="0" b="-87"/>
              </a:stretch>
            </a:blipFill>
          </p:spPr>
        </p:sp>
      </p:grpSp>
      <p:grpSp>
        <p:nvGrpSpPr>
          <p:cNvPr name="Group 43" id="43"/>
          <p:cNvGrpSpPr/>
          <p:nvPr/>
        </p:nvGrpSpPr>
        <p:grpSpPr>
          <a:xfrm rot="0">
            <a:off x="6732460" y="7591995"/>
            <a:ext cx="301560" cy="354139"/>
            <a:chOff x="0" y="0"/>
            <a:chExt cx="402080" cy="472186"/>
          </a:xfrm>
        </p:grpSpPr>
        <p:sp>
          <p:nvSpPr>
            <p:cNvPr name="Freeform 44" id="44"/>
            <p:cNvSpPr/>
            <p:nvPr/>
          </p:nvSpPr>
          <p:spPr>
            <a:xfrm flipH="false" flipV="false" rot="0">
              <a:off x="0" y="0"/>
              <a:ext cx="402082" cy="472186"/>
            </a:xfrm>
            <a:custGeom>
              <a:avLst/>
              <a:gdLst/>
              <a:ahLst/>
              <a:cxnLst/>
              <a:rect r="r" b="b" t="t" l="l"/>
              <a:pathLst>
                <a:path h="472186" w="402082">
                  <a:moveTo>
                    <a:pt x="0" y="0"/>
                  </a:moveTo>
                  <a:lnTo>
                    <a:pt x="402082" y="0"/>
                  </a:lnTo>
                  <a:lnTo>
                    <a:pt x="402082" y="472186"/>
                  </a:lnTo>
                  <a:lnTo>
                    <a:pt x="0" y="472186"/>
                  </a:lnTo>
                  <a:lnTo>
                    <a:pt x="0" y="0"/>
                  </a:lnTo>
                  <a:close/>
                </a:path>
              </a:pathLst>
            </a:custGeom>
            <a:blipFill>
              <a:blip r:embed="rId19"/>
              <a:stretch>
                <a:fillRect l="0" t="0" r="-3055" b="0"/>
              </a:stretch>
            </a:blipFill>
          </p:spPr>
        </p:sp>
      </p:grpSp>
      <p:grpSp>
        <p:nvGrpSpPr>
          <p:cNvPr name="Group 45" id="45"/>
          <p:cNvGrpSpPr/>
          <p:nvPr/>
        </p:nvGrpSpPr>
        <p:grpSpPr>
          <a:xfrm rot="0">
            <a:off x="5632894" y="7623999"/>
            <a:ext cx="1229678" cy="290512"/>
            <a:chOff x="0" y="0"/>
            <a:chExt cx="1639570" cy="387350"/>
          </a:xfrm>
        </p:grpSpPr>
        <p:sp>
          <p:nvSpPr>
            <p:cNvPr name="Freeform 46" id="46"/>
            <p:cNvSpPr/>
            <p:nvPr/>
          </p:nvSpPr>
          <p:spPr>
            <a:xfrm flipH="false" flipV="false" rot="0">
              <a:off x="0" y="0"/>
              <a:ext cx="1639316" cy="386842"/>
            </a:xfrm>
            <a:custGeom>
              <a:avLst/>
              <a:gdLst/>
              <a:ahLst/>
              <a:cxnLst/>
              <a:rect r="r" b="b" t="t" l="l"/>
              <a:pathLst>
                <a:path h="386842" w="1639316">
                  <a:moveTo>
                    <a:pt x="1449578" y="0"/>
                  </a:moveTo>
                  <a:lnTo>
                    <a:pt x="189738" y="0"/>
                  </a:lnTo>
                  <a:lnTo>
                    <a:pt x="116078" y="14859"/>
                  </a:lnTo>
                  <a:lnTo>
                    <a:pt x="55753" y="55499"/>
                  </a:lnTo>
                  <a:lnTo>
                    <a:pt x="14986" y="115570"/>
                  </a:lnTo>
                  <a:lnTo>
                    <a:pt x="0" y="188976"/>
                  </a:lnTo>
                  <a:lnTo>
                    <a:pt x="0" y="197612"/>
                  </a:lnTo>
                  <a:lnTo>
                    <a:pt x="14986" y="271145"/>
                  </a:lnTo>
                  <a:lnTo>
                    <a:pt x="55753" y="331343"/>
                  </a:lnTo>
                  <a:lnTo>
                    <a:pt x="116078" y="371983"/>
                  </a:lnTo>
                  <a:lnTo>
                    <a:pt x="189738" y="386842"/>
                  </a:lnTo>
                  <a:lnTo>
                    <a:pt x="1449578" y="386842"/>
                  </a:lnTo>
                  <a:lnTo>
                    <a:pt x="1523238" y="371983"/>
                  </a:lnTo>
                  <a:lnTo>
                    <a:pt x="1583563" y="331343"/>
                  </a:lnTo>
                  <a:lnTo>
                    <a:pt x="1624330" y="271145"/>
                  </a:lnTo>
                  <a:lnTo>
                    <a:pt x="1639316" y="197612"/>
                  </a:lnTo>
                  <a:lnTo>
                    <a:pt x="1639316" y="188976"/>
                  </a:lnTo>
                  <a:lnTo>
                    <a:pt x="1624330" y="115570"/>
                  </a:lnTo>
                  <a:lnTo>
                    <a:pt x="1583563" y="55499"/>
                  </a:lnTo>
                  <a:lnTo>
                    <a:pt x="1523238" y="14859"/>
                  </a:lnTo>
                  <a:lnTo>
                    <a:pt x="1449578" y="0"/>
                  </a:lnTo>
                  <a:close/>
                </a:path>
              </a:pathLst>
            </a:custGeom>
            <a:solidFill>
              <a:srgbClr val="FF544F"/>
            </a:solidFill>
            <a:ln w="12700">
              <a:solidFill>
                <a:srgbClr val="000000"/>
              </a:solidFill>
            </a:ln>
          </p:spPr>
        </p:sp>
      </p:grpSp>
      <p:grpSp>
        <p:nvGrpSpPr>
          <p:cNvPr name="Group 47" id="47"/>
          <p:cNvGrpSpPr/>
          <p:nvPr/>
        </p:nvGrpSpPr>
        <p:grpSpPr>
          <a:xfrm rot="0">
            <a:off x="5314950" y="7523415"/>
            <a:ext cx="489585" cy="489585"/>
            <a:chOff x="0" y="0"/>
            <a:chExt cx="652780" cy="652780"/>
          </a:xfrm>
        </p:grpSpPr>
        <p:sp>
          <p:nvSpPr>
            <p:cNvPr name="Freeform 48" id="48"/>
            <p:cNvSpPr/>
            <p:nvPr/>
          </p:nvSpPr>
          <p:spPr>
            <a:xfrm flipH="false" flipV="false" rot="0">
              <a:off x="0" y="0"/>
              <a:ext cx="652145" cy="651891"/>
            </a:xfrm>
            <a:custGeom>
              <a:avLst/>
              <a:gdLst/>
              <a:ahLst/>
              <a:cxnLst/>
              <a:rect r="r" b="b" t="t" l="l"/>
              <a:pathLst>
                <a:path h="651891" w="652145">
                  <a:moveTo>
                    <a:pt x="326136" y="0"/>
                  </a:moveTo>
                  <a:lnTo>
                    <a:pt x="239776" y="11684"/>
                  </a:lnTo>
                  <a:lnTo>
                    <a:pt x="161925" y="44577"/>
                  </a:lnTo>
                  <a:lnTo>
                    <a:pt x="95885" y="95631"/>
                  </a:lnTo>
                  <a:lnTo>
                    <a:pt x="44704" y="161671"/>
                  </a:lnTo>
                  <a:lnTo>
                    <a:pt x="11684" y="239395"/>
                  </a:lnTo>
                  <a:lnTo>
                    <a:pt x="0" y="325882"/>
                  </a:lnTo>
                  <a:lnTo>
                    <a:pt x="11684" y="412877"/>
                  </a:lnTo>
                  <a:lnTo>
                    <a:pt x="44704" y="490855"/>
                  </a:lnTo>
                  <a:lnTo>
                    <a:pt x="95885" y="556768"/>
                  </a:lnTo>
                  <a:lnTo>
                    <a:pt x="161925" y="607568"/>
                  </a:lnTo>
                  <a:lnTo>
                    <a:pt x="239776" y="640334"/>
                  </a:lnTo>
                  <a:lnTo>
                    <a:pt x="326136" y="651891"/>
                  </a:lnTo>
                  <a:lnTo>
                    <a:pt x="413131" y="640334"/>
                  </a:lnTo>
                  <a:lnTo>
                    <a:pt x="491109" y="607568"/>
                  </a:lnTo>
                  <a:lnTo>
                    <a:pt x="557022" y="556768"/>
                  </a:lnTo>
                  <a:lnTo>
                    <a:pt x="607822" y="490855"/>
                  </a:lnTo>
                  <a:lnTo>
                    <a:pt x="640588" y="412877"/>
                  </a:lnTo>
                  <a:lnTo>
                    <a:pt x="652145" y="325882"/>
                  </a:lnTo>
                  <a:lnTo>
                    <a:pt x="640588" y="239522"/>
                  </a:lnTo>
                  <a:lnTo>
                    <a:pt x="607822" y="161798"/>
                  </a:lnTo>
                  <a:lnTo>
                    <a:pt x="557022" y="95758"/>
                  </a:lnTo>
                  <a:lnTo>
                    <a:pt x="491109" y="44704"/>
                  </a:lnTo>
                  <a:lnTo>
                    <a:pt x="413131" y="11684"/>
                  </a:lnTo>
                  <a:lnTo>
                    <a:pt x="326136" y="0"/>
                  </a:lnTo>
                  <a:close/>
                </a:path>
              </a:pathLst>
            </a:custGeom>
            <a:solidFill>
              <a:srgbClr val="095B6E"/>
            </a:solidFill>
            <a:ln w="12700">
              <a:solidFill>
                <a:srgbClr val="000000"/>
              </a:solidFill>
            </a:ln>
          </p:spPr>
        </p:sp>
      </p:grpSp>
      <p:grpSp>
        <p:nvGrpSpPr>
          <p:cNvPr name="Group 49" id="49"/>
          <p:cNvGrpSpPr/>
          <p:nvPr/>
        </p:nvGrpSpPr>
        <p:grpSpPr>
          <a:xfrm rot="0">
            <a:off x="5351716" y="7559991"/>
            <a:ext cx="416243" cy="418147"/>
            <a:chOff x="0" y="0"/>
            <a:chExt cx="554990" cy="557530"/>
          </a:xfrm>
        </p:grpSpPr>
        <p:sp>
          <p:nvSpPr>
            <p:cNvPr name="Freeform 50" id="50"/>
            <p:cNvSpPr/>
            <p:nvPr/>
          </p:nvSpPr>
          <p:spPr>
            <a:xfrm flipH="false" flipV="false" rot="0">
              <a:off x="0" y="0"/>
              <a:ext cx="554355" cy="557530"/>
            </a:xfrm>
            <a:custGeom>
              <a:avLst/>
              <a:gdLst/>
              <a:ahLst/>
              <a:cxnLst/>
              <a:rect r="r" b="b" t="t" l="l"/>
              <a:pathLst>
                <a:path h="557530" w="554355">
                  <a:moveTo>
                    <a:pt x="276352" y="0"/>
                  </a:moveTo>
                  <a:lnTo>
                    <a:pt x="188595" y="14224"/>
                  </a:lnTo>
                  <a:lnTo>
                    <a:pt x="112649" y="53721"/>
                  </a:lnTo>
                  <a:lnTo>
                    <a:pt x="52959" y="114046"/>
                  </a:lnTo>
                  <a:lnTo>
                    <a:pt x="13970" y="190246"/>
                  </a:lnTo>
                  <a:lnTo>
                    <a:pt x="0" y="277876"/>
                  </a:lnTo>
                  <a:lnTo>
                    <a:pt x="13970" y="366268"/>
                  </a:lnTo>
                  <a:lnTo>
                    <a:pt x="52959" y="442976"/>
                  </a:lnTo>
                  <a:lnTo>
                    <a:pt x="112649" y="503555"/>
                  </a:lnTo>
                  <a:lnTo>
                    <a:pt x="188595" y="543306"/>
                  </a:lnTo>
                  <a:lnTo>
                    <a:pt x="276352" y="557530"/>
                  </a:lnTo>
                  <a:lnTo>
                    <a:pt x="364109" y="543306"/>
                  </a:lnTo>
                  <a:lnTo>
                    <a:pt x="440436" y="503555"/>
                  </a:lnTo>
                  <a:lnTo>
                    <a:pt x="500634" y="442976"/>
                  </a:lnTo>
                  <a:lnTo>
                    <a:pt x="540131" y="366268"/>
                  </a:lnTo>
                  <a:lnTo>
                    <a:pt x="554355" y="277876"/>
                  </a:lnTo>
                  <a:lnTo>
                    <a:pt x="540131" y="190246"/>
                  </a:lnTo>
                  <a:lnTo>
                    <a:pt x="500634" y="114046"/>
                  </a:lnTo>
                  <a:lnTo>
                    <a:pt x="440436" y="53848"/>
                  </a:lnTo>
                  <a:lnTo>
                    <a:pt x="364109" y="14351"/>
                  </a:lnTo>
                  <a:lnTo>
                    <a:pt x="276352" y="0"/>
                  </a:lnTo>
                  <a:close/>
                </a:path>
              </a:pathLst>
            </a:custGeom>
            <a:solidFill>
              <a:srgbClr val="FFFFFF"/>
            </a:solidFill>
            <a:ln w="12700">
              <a:solidFill>
                <a:srgbClr val="000000"/>
              </a:solidFill>
            </a:ln>
          </p:spPr>
        </p:sp>
      </p:grpSp>
      <p:sp>
        <p:nvSpPr>
          <p:cNvPr name="Freeform 51" id="51"/>
          <p:cNvSpPr/>
          <p:nvPr/>
        </p:nvSpPr>
        <p:spPr>
          <a:xfrm flipH="false" flipV="false" rot="0">
            <a:off x="5381244" y="7589518"/>
            <a:ext cx="357188" cy="357188"/>
          </a:xfrm>
          <a:custGeom>
            <a:avLst/>
            <a:gdLst/>
            <a:ahLst/>
            <a:cxnLst/>
            <a:rect r="r" b="b" t="t" l="l"/>
            <a:pathLst>
              <a:path h="357188" w="357188">
                <a:moveTo>
                  <a:pt x="0" y="0"/>
                </a:moveTo>
                <a:lnTo>
                  <a:pt x="357188" y="0"/>
                </a:lnTo>
                <a:lnTo>
                  <a:pt x="357188" y="357188"/>
                </a:lnTo>
                <a:lnTo>
                  <a:pt x="0" y="35718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52" id="52"/>
          <p:cNvGrpSpPr/>
          <p:nvPr/>
        </p:nvGrpSpPr>
        <p:grpSpPr>
          <a:xfrm rot="0">
            <a:off x="5484114" y="7637715"/>
            <a:ext cx="203454" cy="141542"/>
            <a:chOff x="0" y="0"/>
            <a:chExt cx="271272" cy="188722"/>
          </a:xfrm>
        </p:grpSpPr>
        <p:sp>
          <p:nvSpPr>
            <p:cNvPr name="Freeform 53" id="53"/>
            <p:cNvSpPr/>
            <p:nvPr/>
          </p:nvSpPr>
          <p:spPr>
            <a:xfrm flipH="false" flipV="false" rot="0">
              <a:off x="0" y="0"/>
              <a:ext cx="271272" cy="188722"/>
            </a:xfrm>
            <a:custGeom>
              <a:avLst/>
              <a:gdLst/>
              <a:ahLst/>
              <a:cxnLst/>
              <a:rect r="r" b="b" t="t" l="l"/>
              <a:pathLst>
                <a:path h="188722" w="271272">
                  <a:moveTo>
                    <a:pt x="0" y="0"/>
                  </a:moveTo>
                  <a:lnTo>
                    <a:pt x="271272" y="0"/>
                  </a:lnTo>
                  <a:lnTo>
                    <a:pt x="271272" y="188722"/>
                  </a:lnTo>
                  <a:lnTo>
                    <a:pt x="0" y="188722"/>
                  </a:lnTo>
                  <a:lnTo>
                    <a:pt x="0" y="0"/>
                  </a:lnTo>
                  <a:close/>
                </a:path>
              </a:pathLst>
            </a:custGeom>
            <a:blipFill>
              <a:blip r:embed="rId22"/>
              <a:stretch>
                <a:fillRect l="0" t="0" r="0" b="-2672"/>
              </a:stretch>
            </a:blipFill>
          </p:spPr>
        </p:sp>
      </p:grpSp>
      <p:grpSp>
        <p:nvGrpSpPr>
          <p:cNvPr name="Group 54" id="54"/>
          <p:cNvGrpSpPr/>
          <p:nvPr/>
        </p:nvGrpSpPr>
        <p:grpSpPr>
          <a:xfrm rot="0">
            <a:off x="6320790" y="7616951"/>
            <a:ext cx="610551" cy="301943"/>
            <a:chOff x="0" y="0"/>
            <a:chExt cx="814068" cy="402590"/>
          </a:xfrm>
        </p:grpSpPr>
        <p:sp>
          <p:nvSpPr>
            <p:cNvPr name="Freeform 55" id="55"/>
            <p:cNvSpPr/>
            <p:nvPr/>
          </p:nvSpPr>
          <p:spPr>
            <a:xfrm flipH="false" flipV="false" rot="0">
              <a:off x="0" y="0"/>
              <a:ext cx="164338" cy="402336"/>
            </a:xfrm>
            <a:custGeom>
              <a:avLst/>
              <a:gdLst/>
              <a:ahLst/>
              <a:cxnLst/>
              <a:rect r="r" b="b" t="t" l="l"/>
              <a:pathLst>
                <a:path h="402336" w="164338">
                  <a:moveTo>
                    <a:pt x="164338" y="11684"/>
                  </a:moveTo>
                  <a:lnTo>
                    <a:pt x="152400" y="0"/>
                  </a:lnTo>
                  <a:lnTo>
                    <a:pt x="10160" y="0"/>
                  </a:lnTo>
                  <a:lnTo>
                    <a:pt x="0" y="11684"/>
                  </a:lnTo>
                  <a:lnTo>
                    <a:pt x="0" y="392176"/>
                  </a:lnTo>
                  <a:lnTo>
                    <a:pt x="10160" y="402336"/>
                  </a:lnTo>
                  <a:lnTo>
                    <a:pt x="152400" y="402336"/>
                  </a:lnTo>
                  <a:lnTo>
                    <a:pt x="164338" y="392176"/>
                  </a:lnTo>
                  <a:lnTo>
                    <a:pt x="164338" y="25400"/>
                  </a:lnTo>
                  <a:lnTo>
                    <a:pt x="164338" y="11684"/>
                  </a:lnTo>
                  <a:close/>
                </a:path>
              </a:pathLst>
            </a:custGeom>
            <a:solidFill>
              <a:srgbClr val="095B6E"/>
            </a:solidFill>
            <a:ln w="12700">
              <a:solidFill>
                <a:srgbClr val="000000"/>
              </a:solidFill>
            </a:ln>
          </p:spPr>
        </p:sp>
        <p:sp>
          <p:nvSpPr>
            <p:cNvPr name="Freeform 56" id="56"/>
            <p:cNvSpPr/>
            <p:nvPr/>
          </p:nvSpPr>
          <p:spPr>
            <a:xfrm flipH="false" flipV="false" rot="0">
              <a:off x="624840" y="179832"/>
              <a:ext cx="188976" cy="42418"/>
            </a:xfrm>
            <a:custGeom>
              <a:avLst/>
              <a:gdLst/>
              <a:ahLst/>
              <a:cxnLst/>
              <a:rect r="r" b="b" t="t" l="l"/>
              <a:pathLst>
                <a:path h="42418" w="188976">
                  <a:moveTo>
                    <a:pt x="188976" y="8382"/>
                  </a:moveTo>
                  <a:lnTo>
                    <a:pt x="180594" y="0"/>
                  </a:lnTo>
                  <a:lnTo>
                    <a:pt x="10160" y="0"/>
                  </a:lnTo>
                  <a:lnTo>
                    <a:pt x="0" y="8382"/>
                  </a:lnTo>
                  <a:lnTo>
                    <a:pt x="0" y="32258"/>
                  </a:lnTo>
                  <a:lnTo>
                    <a:pt x="10160" y="42418"/>
                  </a:lnTo>
                  <a:lnTo>
                    <a:pt x="180594" y="42418"/>
                  </a:lnTo>
                  <a:lnTo>
                    <a:pt x="188976" y="32258"/>
                  </a:lnTo>
                  <a:lnTo>
                    <a:pt x="188976" y="20574"/>
                  </a:lnTo>
                  <a:lnTo>
                    <a:pt x="188976" y="8382"/>
                  </a:lnTo>
                  <a:close/>
                </a:path>
              </a:pathLst>
            </a:custGeom>
            <a:solidFill>
              <a:srgbClr val="095B6E"/>
            </a:solidFill>
            <a:ln w="12700">
              <a:solidFill>
                <a:srgbClr val="000000"/>
              </a:solidFill>
            </a:ln>
          </p:spPr>
        </p:sp>
      </p:grpSp>
      <p:sp>
        <p:nvSpPr>
          <p:cNvPr name="Freeform 57" id="57"/>
          <p:cNvSpPr/>
          <p:nvPr/>
        </p:nvSpPr>
        <p:spPr>
          <a:xfrm flipH="false" flipV="false" rot="0">
            <a:off x="4343590" y="7744966"/>
            <a:ext cx="548640" cy="52388"/>
          </a:xfrm>
          <a:custGeom>
            <a:avLst/>
            <a:gdLst/>
            <a:ahLst/>
            <a:cxnLst/>
            <a:rect r="r" b="b" t="t" l="l"/>
            <a:pathLst>
              <a:path h="52388" w="548640">
                <a:moveTo>
                  <a:pt x="0" y="0"/>
                </a:moveTo>
                <a:lnTo>
                  <a:pt x="548640" y="0"/>
                </a:lnTo>
                <a:lnTo>
                  <a:pt x="548640" y="52388"/>
                </a:lnTo>
                <a:lnTo>
                  <a:pt x="0" y="52388"/>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58" id="58"/>
          <p:cNvSpPr/>
          <p:nvPr/>
        </p:nvSpPr>
        <p:spPr>
          <a:xfrm flipH="false" flipV="false" rot="0">
            <a:off x="5326380" y="1819845"/>
            <a:ext cx="1900238" cy="1404176"/>
          </a:xfrm>
          <a:custGeom>
            <a:avLst/>
            <a:gdLst/>
            <a:ahLst/>
            <a:cxnLst/>
            <a:rect r="r" b="b" t="t" l="l"/>
            <a:pathLst>
              <a:path h="1404176" w="1900238">
                <a:moveTo>
                  <a:pt x="0" y="0"/>
                </a:moveTo>
                <a:lnTo>
                  <a:pt x="1900238" y="0"/>
                </a:lnTo>
                <a:lnTo>
                  <a:pt x="1900238" y="1404176"/>
                </a:lnTo>
                <a:lnTo>
                  <a:pt x="0" y="140417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grpSp>
        <p:nvGrpSpPr>
          <p:cNvPr name="Group 6" id="6"/>
          <p:cNvGrpSpPr/>
          <p:nvPr/>
        </p:nvGrpSpPr>
        <p:grpSpPr>
          <a:xfrm rot="0">
            <a:off x="1399032" y="545211"/>
            <a:ext cx="57150" cy="570736"/>
            <a:chOff x="0" y="0"/>
            <a:chExt cx="76200" cy="760982"/>
          </a:xfrm>
        </p:grpSpPr>
        <p:sp>
          <p:nvSpPr>
            <p:cNvPr name="Freeform 7" id="7"/>
            <p:cNvSpPr/>
            <p:nvPr/>
          </p:nvSpPr>
          <p:spPr>
            <a:xfrm flipH="false" flipV="false" rot="0">
              <a:off x="0" y="0"/>
              <a:ext cx="76200" cy="760984"/>
            </a:xfrm>
            <a:custGeom>
              <a:avLst/>
              <a:gdLst/>
              <a:ahLst/>
              <a:cxnLst/>
              <a:rect r="r" b="b" t="t" l="l"/>
              <a:pathLst>
                <a:path h="760984" w="76200">
                  <a:moveTo>
                    <a:pt x="0" y="0"/>
                  </a:moveTo>
                  <a:lnTo>
                    <a:pt x="76200" y="0"/>
                  </a:lnTo>
                  <a:lnTo>
                    <a:pt x="76200" y="760984"/>
                  </a:lnTo>
                  <a:lnTo>
                    <a:pt x="0" y="760984"/>
                  </a:lnTo>
                  <a:lnTo>
                    <a:pt x="0" y="0"/>
                  </a:lnTo>
                  <a:close/>
                </a:path>
              </a:pathLst>
            </a:custGeom>
            <a:blipFill>
              <a:blip r:embed="rId3"/>
              <a:stretch>
                <a:fillRect l="0" t="0" r="0" b="-133"/>
              </a:stretch>
            </a:blipFill>
          </p:spPr>
        </p:sp>
      </p:grpSp>
      <p:sp>
        <p:nvSpPr>
          <p:cNvPr name="TextBox 8" id="8"/>
          <p:cNvSpPr txBox="true"/>
          <p:nvPr/>
        </p:nvSpPr>
        <p:spPr>
          <a:xfrm rot="0">
            <a:off x="1665618" y="468762"/>
            <a:ext cx="1589484" cy="647700"/>
          </a:xfrm>
          <a:prstGeom prst="rect">
            <a:avLst/>
          </a:prstGeom>
        </p:spPr>
        <p:txBody>
          <a:bodyPr anchor="t" rtlCol="false" tIns="0" lIns="0" bIns="0" rIns="0">
            <a:spAutoFit/>
          </a:bodyPr>
          <a:lstStyle/>
          <a:p>
            <a:pPr algn="l">
              <a:lnSpc>
                <a:spcPts val="4500"/>
              </a:lnSpc>
            </a:pPr>
            <a:r>
              <a:rPr lang="en-US" sz="3750">
                <a:solidFill>
                  <a:srgbClr val="000000"/>
                </a:solidFill>
                <a:latin typeface="Calibri (MS)"/>
                <a:ea typeface="Calibri (MS)"/>
                <a:cs typeface="Calibri (MS)"/>
                <a:sym typeface="Calibri (MS)"/>
              </a:rPr>
              <a:t>Kết luận</a:t>
            </a:r>
          </a:p>
        </p:txBody>
      </p:sp>
      <p:sp>
        <p:nvSpPr>
          <p:cNvPr name="TextBox 9" id="9"/>
          <p:cNvSpPr txBox="true"/>
          <p:nvPr/>
        </p:nvSpPr>
        <p:spPr>
          <a:xfrm rot="0">
            <a:off x="615582" y="474097"/>
            <a:ext cx="540742" cy="723900"/>
          </a:xfrm>
          <a:prstGeom prst="rect">
            <a:avLst/>
          </a:prstGeom>
        </p:spPr>
        <p:txBody>
          <a:bodyPr anchor="t" rtlCol="false" tIns="0" lIns="0" bIns="0" rIns="0">
            <a:spAutoFit/>
          </a:bodyPr>
          <a:lstStyle/>
          <a:p>
            <a:pPr algn="l">
              <a:lnSpc>
                <a:spcPts val="5040"/>
              </a:lnSpc>
            </a:pPr>
            <a:r>
              <a:rPr lang="en-US" b="true" sz="4200">
                <a:solidFill>
                  <a:srgbClr val="000000"/>
                </a:solidFill>
                <a:latin typeface="Calibri (MS) Bold"/>
                <a:ea typeface="Calibri (MS) Bold"/>
                <a:cs typeface="Calibri (MS) Bold"/>
                <a:sym typeface="Calibri (MS) Bold"/>
              </a:rPr>
              <a:t>04</a:t>
            </a:r>
          </a:p>
        </p:txBody>
      </p:sp>
      <p:sp>
        <p:nvSpPr>
          <p:cNvPr name="TextBox 10" id="10"/>
          <p:cNvSpPr txBox="true"/>
          <p:nvPr/>
        </p:nvSpPr>
        <p:spPr>
          <a:xfrm rot="0">
            <a:off x="634632" y="1308086"/>
            <a:ext cx="8652034" cy="1136333"/>
          </a:xfrm>
          <a:prstGeom prst="rect">
            <a:avLst/>
          </a:prstGeom>
        </p:spPr>
        <p:txBody>
          <a:bodyPr anchor="t" rtlCol="false" tIns="0" lIns="0" bIns="0" rIns="0">
            <a:spAutoFit/>
          </a:bodyPr>
          <a:lstStyle/>
          <a:p>
            <a:pPr algn="just">
              <a:lnSpc>
                <a:spcPts val="4252"/>
              </a:lnSpc>
              <a:spcBef>
                <a:spcPct val="0"/>
              </a:spcBef>
            </a:pPr>
            <a:r>
              <a:rPr lang="en-US" b="true" sz="3499">
                <a:solidFill>
                  <a:srgbClr val="000000"/>
                </a:solidFill>
                <a:latin typeface="Calibri (MS) Bold"/>
                <a:ea typeface="Calibri (MS) Bold"/>
                <a:cs typeface="Calibri (MS) Bold"/>
                <a:sym typeface="Calibri (MS) Bold"/>
              </a:rPr>
              <a:t>Kết luận</a:t>
            </a:r>
          </a:p>
          <a:p>
            <a:pPr algn="just">
              <a:lnSpc>
                <a:spcPts val="4252"/>
              </a:lnSpc>
              <a:spcBef>
                <a:spcPct val="0"/>
              </a:spcBef>
            </a:pPr>
          </a:p>
        </p:txBody>
      </p:sp>
      <p:sp>
        <p:nvSpPr>
          <p:cNvPr name="TextBox 11" id="11"/>
          <p:cNvSpPr txBox="true"/>
          <p:nvPr/>
        </p:nvSpPr>
        <p:spPr>
          <a:xfrm rot="0">
            <a:off x="634632" y="2368218"/>
            <a:ext cx="9942493" cy="4613339"/>
          </a:xfrm>
          <a:prstGeom prst="rect">
            <a:avLst/>
          </a:prstGeom>
        </p:spPr>
        <p:txBody>
          <a:bodyPr anchor="t" rtlCol="false" tIns="0" lIns="0" bIns="0" rIns="0">
            <a:spAutoFit/>
          </a:bodyPr>
          <a:lstStyle/>
          <a:p>
            <a:pPr algn="l" marL="712465" indent="-356233" lvl="1">
              <a:lnSpc>
                <a:spcPts val="4009"/>
              </a:lnSpc>
              <a:spcBef>
                <a:spcPct val="0"/>
              </a:spcBef>
              <a:buFont typeface="Arial"/>
              <a:buChar char="•"/>
            </a:pPr>
            <a:r>
              <a:rPr lang="en-US" sz="3299">
                <a:solidFill>
                  <a:srgbClr val="000000"/>
                </a:solidFill>
                <a:latin typeface="Calibri (MS)"/>
                <a:ea typeface="Calibri (MS)"/>
                <a:cs typeface="Calibri (MS)"/>
                <a:sym typeface="Calibri (MS)"/>
              </a:rPr>
              <a:t>Kết quả đạt được</a:t>
            </a:r>
            <a:r>
              <a:rPr lang="en-US" sz="3299">
                <a:solidFill>
                  <a:srgbClr val="000000"/>
                </a:solidFill>
                <a:latin typeface="Calibri (MS)"/>
                <a:ea typeface="Calibri (MS)"/>
                <a:cs typeface="Calibri (MS)"/>
                <a:sym typeface="Calibri (MS)"/>
              </a:rPr>
              <a:t>:</a:t>
            </a:r>
          </a:p>
          <a:p>
            <a:pPr algn="l" marL="1424930" indent="-474977" lvl="2">
              <a:lnSpc>
                <a:spcPts val="4009"/>
              </a:lnSpc>
              <a:spcBef>
                <a:spcPct val="0"/>
              </a:spcBef>
              <a:buFont typeface="Arial"/>
              <a:buChar char="⚬"/>
            </a:pPr>
            <a:r>
              <a:rPr lang="en-US" sz="3299">
                <a:solidFill>
                  <a:srgbClr val="000000"/>
                </a:solidFill>
                <a:latin typeface="Calibri (MS)"/>
                <a:ea typeface="Calibri (MS)"/>
                <a:cs typeface="Calibri (MS)"/>
                <a:sym typeface="Calibri (MS)"/>
              </a:rPr>
              <a:t>Hoàn thiện Transformer from-scratch</a:t>
            </a:r>
          </a:p>
          <a:p>
            <a:pPr algn="l" marL="1424930" indent="-474977" lvl="2">
              <a:lnSpc>
                <a:spcPts val="4009"/>
              </a:lnSpc>
              <a:spcBef>
                <a:spcPct val="0"/>
              </a:spcBef>
              <a:buFont typeface="Arial"/>
              <a:buChar char="⚬"/>
            </a:pPr>
            <a:r>
              <a:rPr lang="en-US" sz="3299">
                <a:solidFill>
                  <a:srgbClr val="000000"/>
                </a:solidFill>
                <a:latin typeface="Calibri (MS)"/>
                <a:ea typeface="Calibri (MS)"/>
                <a:cs typeface="Calibri (MS)"/>
                <a:sym typeface="Calibri (MS)"/>
              </a:rPr>
              <a:t>Rút được kết luận khi tăng dataset, giữ nguyên mô hình</a:t>
            </a:r>
          </a:p>
          <a:p>
            <a:pPr algn="l" marL="1424930" indent="-474977" lvl="2">
              <a:lnSpc>
                <a:spcPts val="4009"/>
              </a:lnSpc>
              <a:spcBef>
                <a:spcPct val="0"/>
              </a:spcBef>
              <a:buFont typeface="Arial"/>
              <a:buChar char="⚬"/>
            </a:pPr>
            <a:r>
              <a:rPr lang="en-US" sz="3299">
                <a:solidFill>
                  <a:srgbClr val="000000"/>
                </a:solidFill>
                <a:latin typeface="Calibri (MS)"/>
                <a:ea typeface="Calibri (MS)"/>
                <a:cs typeface="Calibri (MS)"/>
                <a:sym typeface="Calibri (MS)"/>
              </a:rPr>
              <a:t>So sánh được các phương pháp attention, các thuật toán decode</a:t>
            </a:r>
          </a:p>
          <a:p>
            <a:pPr algn="l" marL="1424930" indent="-474977" lvl="2">
              <a:lnSpc>
                <a:spcPts val="4009"/>
              </a:lnSpc>
              <a:buFont typeface="Arial"/>
              <a:buChar char="⚬"/>
            </a:pPr>
            <a:r>
              <a:rPr lang="en-US" sz="3299">
                <a:solidFill>
                  <a:srgbClr val="000000"/>
                </a:solidFill>
                <a:latin typeface="Calibri (MS)"/>
                <a:ea typeface="Calibri (MS)"/>
                <a:cs typeface="Calibri (MS)"/>
                <a:sym typeface="Calibri (MS)"/>
              </a:rPr>
              <a:t>Hoàn thiện VLSP Shared Task với 46.57 điểm BLEU</a:t>
            </a:r>
          </a:p>
          <a:p>
            <a:pPr algn="l" marL="1424930" indent="-474977" lvl="2">
              <a:lnSpc>
                <a:spcPts val="4009"/>
              </a:lnSpc>
              <a:buFont typeface="Arial"/>
              <a:buChar char="⚬"/>
            </a:pPr>
            <a:r>
              <a:rPr lang="en-US" sz="3299">
                <a:solidFill>
                  <a:srgbClr val="000000"/>
                </a:solidFill>
                <a:latin typeface="Calibri (MS)"/>
                <a:ea typeface="Calibri (MS)"/>
                <a:cs typeface="Calibri (MS)"/>
                <a:sym typeface="Calibri (MS)"/>
              </a:rPr>
              <a:t>Đề xuất </a:t>
            </a:r>
            <a:r>
              <a:rPr lang="en-US" sz="3299">
                <a:solidFill>
                  <a:srgbClr val="000000"/>
                </a:solidFill>
                <a:latin typeface="Calibri (MS)"/>
                <a:ea typeface="Calibri (MS)"/>
                <a:cs typeface="Calibri (MS)"/>
                <a:sym typeface="Calibri (MS)"/>
              </a:rPr>
              <a:t>chiến lược Transfer Learning đa giai đoạn giúp cải thiện từ 1-2 điểm BLEU</a:t>
            </a:r>
          </a:p>
        </p:txBody>
      </p:sp>
      <p:sp>
        <p:nvSpPr>
          <p:cNvPr name="Freeform 12" id="12"/>
          <p:cNvSpPr/>
          <p:nvPr/>
        </p:nvSpPr>
        <p:spPr>
          <a:xfrm flipH="false" flipV="false" rot="0">
            <a:off x="11673040" y="1470212"/>
            <a:ext cx="5101442" cy="7346576"/>
          </a:xfrm>
          <a:custGeom>
            <a:avLst/>
            <a:gdLst/>
            <a:ahLst/>
            <a:cxnLst/>
            <a:rect r="r" b="b" t="t" l="l"/>
            <a:pathLst>
              <a:path h="7346576" w="5101442">
                <a:moveTo>
                  <a:pt x="0" y="0"/>
                </a:moveTo>
                <a:lnTo>
                  <a:pt x="5101442" y="0"/>
                </a:lnTo>
                <a:lnTo>
                  <a:pt x="5101442" y="7346576"/>
                </a:lnTo>
                <a:lnTo>
                  <a:pt x="0" y="7346576"/>
                </a:lnTo>
                <a:lnTo>
                  <a:pt x="0" y="0"/>
                </a:lnTo>
                <a:close/>
              </a:path>
            </a:pathLst>
          </a:custGeom>
          <a:blipFill>
            <a:blip r:embed="rId4"/>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01015" y="233355"/>
            <a:ext cx="973467" cy="973467"/>
            <a:chOff x="0" y="0"/>
            <a:chExt cx="1297956" cy="1297956"/>
          </a:xfrm>
        </p:grpSpPr>
        <p:sp>
          <p:nvSpPr>
            <p:cNvPr name="Freeform 3" id="3"/>
            <p:cNvSpPr/>
            <p:nvPr/>
          </p:nvSpPr>
          <p:spPr>
            <a:xfrm flipH="false" flipV="false" rot="0">
              <a:off x="0" y="0"/>
              <a:ext cx="1297940" cy="1297940"/>
            </a:xfrm>
            <a:custGeom>
              <a:avLst/>
              <a:gdLst/>
              <a:ahLst/>
              <a:cxnLst/>
              <a:rect r="r" b="b" t="t" l="l"/>
              <a:pathLst>
                <a:path h="1297940" w="1297940">
                  <a:moveTo>
                    <a:pt x="0" y="0"/>
                  </a:moveTo>
                  <a:lnTo>
                    <a:pt x="1297940" y="0"/>
                  </a:lnTo>
                  <a:lnTo>
                    <a:pt x="1297940" y="1297940"/>
                  </a:lnTo>
                  <a:lnTo>
                    <a:pt x="0" y="1297940"/>
                  </a:lnTo>
                  <a:lnTo>
                    <a:pt x="0" y="0"/>
                  </a:lnTo>
                  <a:close/>
                </a:path>
              </a:pathLst>
            </a:custGeom>
            <a:blipFill>
              <a:blip r:embed="rId2"/>
              <a:stretch>
                <a:fillRect l="0" t="0" r="-1" b="-1"/>
              </a:stretch>
            </a:blipFill>
          </p:spPr>
        </p:sp>
      </p:grpSp>
      <p:grpSp>
        <p:nvGrpSpPr>
          <p:cNvPr name="Group 4" id="4"/>
          <p:cNvGrpSpPr/>
          <p:nvPr/>
        </p:nvGrpSpPr>
        <p:grpSpPr>
          <a:xfrm rot="0">
            <a:off x="0" y="9740646"/>
            <a:ext cx="18288000" cy="548640"/>
            <a:chOff x="0" y="0"/>
            <a:chExt cx="24384000" cy="731520"/>
          </a:xfrm>
        </p:grpSpPr>
        <p:sp>
          <p:nvSpPr>
            <p:cNvPr name="Freeform 5" id="5"/>
            <p:cNvSpPr/>
            <p:nvPr/>
          </p:nvSpPr>
          <p:spPr>
            <a:xfrm flipH="false" flipV="false" rot="0">
              <a:off x="0" y="0"/>
              <a:ext cx="24384000" cy="731520"/>
            </a:xfrm>
            <a:custGeom>
              <a:avLst/>
              <a:gdLst/>
              <a:ahLst/>
              <a:cxnLst/>
              <a:rect r="r" b="b" t="t" l="l"/>
              <a:pathLst>
                <a:path h="731520" w="24384000">
                  <a:moveTo>
                    <a:pt x="24384000" y="0"/>
                  </a:moveTo>
                  <a:lnTo>
                    <a:pt x="0" y="0"/>
                  </a:lnTo>
                  <a:lnTo>
                    <a:pt x="0" y="731520"/>
                  </a:lnTo>
                  <a:lnTo>
                    <a:pt x="24384000" y="731520"/>
                  </a:lnTo>
                  <a:lnTo>
                    <a:pt x="24384000" y="0"/>
                  </a:lnTo>
                  <a:close/>
                </a:path>
              </a:pathLst>
            </a:custGeom>
            <a:solidFill>
              <a:srgbClr val="00346F"/>
            </a:solidFill>
            <a:ln w="12700">
              <a:solidFill>
                <a:srgbClr val="000000"/>
              </a:solidFill>
            </a:ln>
          </p:spPr>
        </p:sp>
      </p:grpSp>
      <p:sp>
        <p:nvSpPr>
          <p:cNvPr name="TextBox 6" id="6"/>
          <p:cNvSpPr txBox="true"/>
          <p:nvPr/>
        </p:nvSpPr>
        <p:spPr>
          <a:xfrm rot="0">
            <a:off x="17559146" y="9821874"/>
            <a:ext cx="422910" cy="390525"/>
          </a:xfrm>
          <a:prstGeom prst="rect">
            <a:avLst/>
          </a:prstGeom>
        </p:spPr>
        <p:txBody>
          <a:bodyPr anchor="t" rtlCol="false" tIns="0" lIns="0" bIns="0" rIns="0">
            <a:spAutoFit/>
          </a:bodyPr>
          <a:lstStyle/>
          <a:p>
            <a:pPr algn="l">
              <a:lnSpc>
                <a:spcPts val="2916"/>
              </a:lnSpc>
            </a:pPr>
            <a:r>
              <a:rPr lang="en-US" b="true" sz="2400">
                <a:solidFill>
                  <a:srgbClr val="FFFFFF"/>
                </a:solidFill>
                <a:latin typeface="Calibri (MS) Bold"/>
                <a:ea typeface="Calibri (MS) Bold"/>
                <a:cs typeface="Calibri (MS) Bold"/>
                <a:sym typeface="Calibri (MS) Bold"/>
              </a:rPr>
              <a:t>5</a:t>
            </a:r>
          </a:p>
        </p:txBody>
      </p:sp>
      <p:sp>
        <p:nvSpPr>
          <p:cNvPr name="TextBox 7" id="7"/>
          <p:cNvSpPr txBox="true"/>
          <p:nvPr/>
        </p:nvSpPr>
        <p:spPr>
          <a:xfrm rot="-144762">
            <a:off x="6438667" y="3034955"/>
            <a:ext cx="9896227" cy="3355773"/>
          </a:xfrm>
          <a:prstGeom prst="rect">
            <a:avLst/>
          </a:prstGeom>
        </p:spPr>
        <p:txBody>
          <a:bodyPr anchor="t" rtlCol="false" tIns="0" lIns="0" bIns="0" rIns="0">
            <a:spAutoFit/>
          </a:bodyPr>
          <a:lstStyle/>
          <a:p>
            <a:pPr algn="l" marL="0" indent="0" lvl="0">
              <a:lnSpc>
                <a:spcPts val="12799"/>
              </a:lnSpc>
              <a:spcBef>
                <a:spcPct val="0"/>
              </a:spcBef>
            </a:pPr>
            <a:r>
              <a:rPr lang="en-US" b="true" sz="10666">
                <a:solidFill>
                  <a:srgbClr val="003EA8"/>
                </a:solidFill>
                <a:latin typeface="Telegraf Bold"/>
                <a:ea typeface="Telegraf Bold"/>
                <a:cs typeface="Telegraf Bold"/>
                <a:sym typeface="Telegraf Bold"/>
              </a:rPr>
              <a:t>Thank you for your listening</a:t>
            </a:r>
          </a:p>
        </p:txBody>
      </p:sp>
      <p:sp>
        <p:nvSpPr>
          <p:cNvPr name="Freeform 8" id="8"/>
          <p:cNvSpPr/>
          <p:nvPr/>
        </p:nvSpPr>
        <p:spPr>
          <a:xfrm flipH="false" flipV="false" rot="0">
            <a:off x="2640929" y="2440053"/>
            <a:ext cx="1762840" cy="5756212"/>
          </a:xfrm>
          <a:custGeom>
            <a:avLst/>
            <a:gdLst/>
            <a:ahLst/>
            <a:cxnLst/>
            <a:rect r="r" b="b" t="t" l="l"/>
            <a:pathLst>
              <a:path h="5756212" w="1762840">
                <a:moveTo>
                  <a:pt x="0" y="0"/>
                </a:moveTo>
                <a:lnTo>
                  <a:pt x="1762840" y="0"/>
                </a:lnTo>
                <a:lnTo>
                  <a:pt x="1762840" y="5756212"/>
                </a:lnTo>
                <a:lnTo>
                  <a:pt x="0" y="5756212"/>
                </a:lnTo>
                <a:lnTo>
                  <a:pt x="0" y="0"/>
                </a:lnTo>
                <a:close/>
              </a:path>
            </a:pathLst>
          </a:custGeom>
          <a:blipFill>
            <a:blip r:embed="rId3"/>
            <a:stretch>
              <a:fillRect l="0" t="0" r="0" b="0"/>
            </a:stretch>
          </a:blipFill>
        </p:spPr>
      </p:sp>
      <p:sp>
        <p:nvSpPr>
          <p:cNvPr name="Freeform 9" id="9"/>
          <p:cNvSpPr/>
          <p:nvPr/>
        </p:nvSpPr>
        <p:spPr>
          <a:xfrm flipH="false" flipV="false" rot="0">
            <a:off x="14763700" y="6673743"/>
            <a:ext cx="1637441" cy="1643417"/>
          </a:xfrm>
          <a:custGeom>
            <a:avLst/>
            <a:gdLst/>
            <a:ahLst/>
            <a:cxnLst/>
            <a:rect r="r" b="b" t="t" l="l"/>
            <a:pathLst>
              <a:path h="1643417" w="1637441">
                <a:moveTo>
                  <a:pt x="0" y="0"/>
                </a:moveTo>
                <a:lnTo>
                  <a:pt x="1637441" y="0"/>
                </a:lnTo>
                <a:lnTo>
                  <a:pt x="1637441" y="1643418"/>
                </a:lnTo>
                <a:lnTo>
                  <a:pt x="0" y="16434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DAG7jzJ5nVY</dc:identifier>
  <dcterms:modified xsi:type="dcterms:W3CDTF">2011-08-01T06:04:30Z</dcterms:modified>
  <cp:revision>1</cp:revision>
  <dc:title>VNU UET</dc:title>
</cp:coreProperties>
</file>